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Gate</c:v>
                </c:pt>
              </c:strCache>
            </c:strRef>
          </c:tx>
          <c:dPt>
            <c:idx val="0"/>
            <c:spPr>
              <a:solidFill>
                <a:srgbClr val="1C7C7A"/>
              </a:solidFill>
              <a:ln>
                <a:solidFill>
                  <a:srgbClr val="FFFDF8"/>
                </a:solidFill>
              </a:ln>
            </c:spPr>
          </c:dPt>
          <c:dPt>
            <c:idx val="1"/>
            <c:spPr>
              <a:solidFill>
                <a:srgbClr val="E0D5BE"/>
              </a:solidFill>
              <a:ln>
                <a:solidFill>
                  <a:srgbClr val="FFFDF8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Met</c:v>
                </c:pt>
                <c:pt idx="1">
                  <c:v>Missing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Gate</c:v>
                </c:pt>
              </c:strCache>
            </c:strRef>
          </c:tx>
          <c:dPt>
            <c:idx val="0"/>
            <c:spPr>
              <a:solidFill>
                <a:srgbClr val="9C7225"/>
              </a:solidFill>
              <a:ln>
                <a:solidFill>
                  <a:srgbClr val="FFFDF8"/>
                </a:solidFill>
              </a:ln>
            </c:spPr>
          </c:dPt>
          <c:dPt>
            <c:idx val="1"/>
            <c:spPr>
              <a:solidFill>
                <a:srgbClr val="E0D5BE"/>
              </a:solidFill>
              <a:ln>
                <a:solidFill>
                  <a:srgbClr val="FFFDF8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Met</c:v>
                </c:pt>
                <c:pt idx="1">
                  <c:v>Missing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val>
        </c:ser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Testimonials mentioning the theme</c:v>
                </c:pt>
              </c:strCache>
            </c:strRef>
          </c:tx>
          <c:spPr>
            <a:solidFill>
              <a:srgbClr val="1C7C7A"/>
            </a:solidFill>
          </c:spPr>
          <c:cat>
            <c:strRef>
              <c:f>Sheet1!$A$2:$A$6</c:f>
              <c:strCache>
                <c:ptCount val="5"/>
                <c:pt idx="0">
                  <c:v>Freshness &amp; natural ingredients</c:v>
                </c:pt>
                <c:pt idx="1">
                  <c:v>Taste &amp; flavour</c:v>
                </c:pt>
                <c:pt idx="2">
                  <c:v>Energy &amp; wellbeing</c:v>
                </c:pt>
                <c:pt idx="3">
                  <c:v>Quality &amp; trust</c:v>
                </c:pt>
                <c:pt idx="4">
                  <c:v>Convenience &amp; delivery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14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D5B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4233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Idea, city, target customer and evidence status are as supplied in the research facts.</a:t>
            </a:r>
          </a:p>
          <a:p/>
          <a:p>
            <a:r>
              <a:t>Validated slide text:</a:t>
            </a:r>
          </a:p>
          <a:p>
            <a:r>
              <a:t>- Cold-pressed juice subscription in Pune.</a:t>
            </a:r>
          </a:p>
          <a:p>
            <a:r>
              <a:t>- Target customers: gym-goers aged 20-35.</a:t>
            </a:r>
          </a:p>
          <a:p>
            <a:r>
              <a:t>- Research evidence status: partial; report failed acceptance.</a:t>
            </a:r>
          </a:p>
          <a:p/>
          <a:p>
            <a:r>
              <a:t>Visual detail:</a:t>
            </a:r>
          </a:p>
          <a:p>
            <a:r>
              <a:t>- Journey: target customer, observed market, inferred gap, recommended response</a:t>
            </a:r>
          </a:p>
          <a:p>
            <a:r>
              <a:t>- Research mode: Hierarchical</a:t>
            </a:r>
          </a:p>
          <a:p>
            <a:r>
              <a:t>- Validated deck title: Idea &amp; Market</a:t>
            </a:r>
          </a:p>
          <a:p>
            <a:r>
              <a:t>- Run: 20261014-201109-cold-pressed-juice-subscriptio-c0fe</a:t>
            </a:r>
          </a:p>
          <a:p/>
          <a:p>
            <a:r>
              <a:t>Sources:</a:t>
            </a:r>
          </a:p>
          <a:p>
            <a:r>
              <a:t>Report: idea</a:t>
            </a:r>
          </a:p>
          <a:p/>
          <a:p>
            <a:r>
              <a:t>Labels: PARTIAL EVIDENCE: the source report failed acceptance; Evidence: 2 competitor(s) researched, 0 verified price(s)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Earth Organic Juices offer details are reported from search results; its Facebook page could not be retrieved. Prices are not verified. Channels are as stated in the research facts.</a:t>
            </a:r>
          </a:p>
          <a:p/>
          <a:p>
            <a:r>
              <a:t>Validated slide text:</a:t>
            </a:r>
          </a:p>
          <a:p>
            <a:r>
              <a:t>- iBites: Cold-pressed juices, wellness shots and smoothies, pressed after ordering; its surfaced daily plan says the same juice each morning.</a:t>
            </a:r>
          </a:p>
          <a:p>
            <a:r>
              <a:t>- iBites: Price unknown (not verified); website/menu and WhatsApp ordering.</a:t>
            </a:r>
          </a:p>
          <a:p>
            <a:r>
              <a:t>- Earth Organic Juices: Search results describe cold-pressed juices, weekly subscriptions, early-morning delivery and a three-day trial.</a:t>
            </a:r>
          </a:p>
          <a:p>
            <a:r>
              <a:t>- Earth Organic Juices: Price unknown (not verified); Instagram and WhatsApp advertised in a search result.</a:t>
            </a:r>
          </a:p>
          <a:p/>
          <a:p>
            <a:r>
              <a:t>Visual detail:</a:t>
            </a:r>
          </a:p>
          <a:p>
            <a:r>
              <a:t>- Evidence footprint: filled dot = present in the saved research</a:t>
            </a:r>
          </a:p>
          <a:p>
            <a:r>
              <a:t>- Validated deck title: Competitor Landscape</a:t>
            </a:r>
          </a:p>
          <a:p>
            <a:r>
              <a:t>- Run: 20261014-201109-cold-pressed-juice-subscriptio-c0fe</a:t>
            </a:r>
          </a:p>
          <a:p>
            <a:r>
              <a:t>- Full text of items shortened on the slide:</a:t>
            </a:r>
          </a:p>
          <a:p>
            <a:r>
              <a:t>-   Unknown: A price is mentioned on the cold-pressed juice page as starting at ₹25, but no unit or pack size is stated</a:t>
            </a:r>
          </a:p>
          <a:p>
            <a:r>
              <a:t>-   Unknown: A search-result snippet advertises ₹297 for a three-day trial, but the underlying Facebook page could not be retrieved, so price is unverified</a:t>
            </a:r>
          </a:p>
          <a:p/>
          <a:p>
            <a:r>
              <a:t>Sources:</a:t>
            </a:r>
          </a:p>
          <a:p>
            <a:r>
              <a:t>https://ibites.in/pune/online-juice-delivery</a:t>
            </a:r>
          </a:p>
          <a:p>
            <a:r>
              <a:t>https://ibites.in/pune/cold-pressed-juice</a:t>
            </a:r>
          </a:p>
          <a:p>
            <a:r>
              <a:t>https://www.instagram.com/earthorganicjuice/</a:t>
            </a:r>
          </a:p>
          <a:p>
            <a:r>
              <a:t>https://www.facebook.com/Earthorganicjuices/posts/fresh-cold-pressed-juice-at-your-door-before-7-amtry-our-3-day-trial-for-297-del/1406172155030581/</a:t>
            </a:r>
          </a:p>
          <a:p/>
          <a:p>
            <a:r>
              <a:t>Labels: PARTIAL EVIDENCE: the source report failed acceptance; Price unknown / not verified: iBites, Earth Organic Juices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available customer findings are praise from company websites, not verified complaints. Earth Organic Juices' Facebook post could not be read; Instagram content was not readable.</a:t>
            </a:r>
          </a:p>
          <a:p/>
          <a:p>
            <a:r>
              <a:t>Validated slide text:</a:t>
            </a:r>
          </a:p>
          <a:p>
            <a:r>
              <a:t>- iBites: No verifiable customer complaints were retrieved; independent review or ratings-page sentiment is unknown.</a:t>
            </a:r>
          </a:p>
          <a:p>
            <a:r>
              <a:t>- Earth Organic Juices: No verifiable customer complaints were retrieved; independent sentiment is unknown, and Instagram content was not readable.</a:t>
            </a:r>
          </a:p>
          <a:p/>
          <a:p>
            <a:r>
              <a:t>Visual detail:</a:t>
            </a:r>
          </a:p>
          <a:p>
            <a:r>
              <a:t>- 6 further testimonial(s) are in the saved report</a:t>
            </a:r>
          </a:p>
          <a:p>
            <a:r>
              <a:t>- Validated deck title: Customer Pain Points</a:t>
            </a:r>
          </a:p>
          <a:p>
            <a:r>
              <a:t>- Run: 20261014-201109-cold-pressed-juice-subscriptio-c0fe</a:t>
            </a:r>
          </a:p>
          <a:p/>
          <a:p>
            <a:r>
              <a:t>Sources:</a:t>
            </a:r>
          </a:p>
          <a:p>
            <a:r>
              <a:t>https://ibites.in/</a:t>
            </a:r>
          </a:p>
          <a:p>
            <a:r>
              <a:t>https://earthorganicjuices.com/</a:t>
            </a:r>
          </a:p>
          <a:p>
            <a:r>
              <a:t>https://www.instagram.com/earthorganicjuice/</a:t>
            </a:r>
          </a:p>
          <a:p>
            <a:r>
              <a:t>https://www.facebook.com/Earthorganicjuices/posts/fresh-cold-pressed-juice-at-your-door-before-7-amtry-our-3-day-trial-for-297-del/1406172155030581/</a:t>
            </a:r>
          </a:p>
          <a:p/>
          <a:p>
            <a:r>
              <a:t>Labels: PARTIAL EVIDENCE: the source report failed acceptance; Customer comments are attributed per source; unverified where noted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report's stated opportunity based on available evidence; it does not establish that no competitor offers these features.</a:t>
            </a:r>
          </a:p>
          <a:p/>
          <a:p>
            <a:r>
              <a:t>Validated slide text:</a:t>
            </a:r>
          </a:p>
          <a:p>
            <a:r>
              <a:t>- Research-visible opportunity, not a claim of exclusivity: clearly state the per-juice price and pack size.</a:t>
            </a:r>
          </a:p>
          <a:p>
            <a:r>
              <a:t>- Make weekly choice or rotation terms explicit; iBites' surfaced daily plan describes the same juice each morning.</a:t>
            </a:r>
          </a:p>
          <a:p>
            <a:r>
              <a:t>- Earth Organic Juices' weekly-plan variety terms are unknown.</a:t>
            </a:r>
          </a:p>
          <a:p/>
          <a:p>
            <a:r>
              <a:t>Visual detail:</a:t>
            </a:r>
          </a:p>
          <a:p>
            <a:r>
              <a:t>- Framework: observed evidence, inferred gap, proposed solution, differentiation</a:t>
            </a:r>
          </a:p>
          <a:p>
            <a:r>
              <a:t>- Validated deck title: Market Gap</a:t>
            </a:r>
          </a:p>
          <a:p>
            <a:r>
              <a:t>- Run: 20261014-201109-cold-pressed-juice-subscriptio-c0fe</a:t>
            </a:r>
          </a:p>
          <a:p>
            <a:r>
              <a:t>- Full text of items shortened on the slide:</a:t>
            </a:r>
          </a:p>
          <a:p>
            <a:r>
              <a:t>-   iBites: Describes Pune delivery, including Baner, Kothrud, Viman Nagar, Hinjawadi and Pune Camp</a:t>
            </a:r>
          </a:p>
          <a:p>
            <a:r>
              <a:t>-   Earth Organic Juices: Supplied search results describe Pune and PCMC delivery, cold-pressed juices, weekly subscriptions and early-morning delivery</a:t>
            </a:r>
          </a:p>
          <a:p>
            <a:r>
              <a:t>-   A seven-day Pune cold-pressed juice subscription with one juice per day, a clearly disclosed per-juice price and pack size</a:t>
            </a:r>
          </a:p>
          <a:p/>
          <a:p>
            <a:r>
              <a:t>Sources:</a:t>
            </a:r>
          </a:p>
          <a:p>
            <a:r>
              <a:t>Strategy: recommendation</a:t>
            </a:r>
          </a:p>
          <a:p>
            <a:r>
              <a:t>https://ibites.in/pune/online-juice-delivery</a:t>
            </a:r>
          </a:p>
          <a:p>
            <a:r>
              <a:t>https://www.instagram.com/earthorganicjuice/</a:t>
            </a:r>
          </a:p>
          <a:p/>
          <a:p>
            <a:r>
              <a:t>Labels: PARTIAL EVIDENCE: the source report failed acceptance; Assumption: the gap is an inference from this research, not a market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positioning and price are recommendations in the report. The proposed price is not a verified market price; serving size and delivery terms remain to be specified.</a:t>
            </a:r>
          </a:p>
          <a:p/>
          <a:p>
            <a:r>
              <a:t>Validated slide text:</a:t>
            </a:r>
          </a:p>
          <a:p>
            <a:r>
              <a:t>- Recommendation: “A Pune cold-pressed juice subscription with clear per-juice pricing and a week of choice or planned variety.”</a:t>
            </a:r>
          </a:p>
          <a:p>
            <a:r>
              <a:t>- Recommended price: ₹699 for a seven-day plan of one juice per day (about ₹100 per juice); this is a recommendation, not a verified price.</a:t>
            </a:r>
          </a:p>
          <a:p>
            <a:r>
              <a:t>- Specify serving size and delivery terms before sale; confirm serviceable areas before advertising them.</a:t>
            </a:r>
          </a:p>
          <a:p/>
          <a:p>
            <a:r>
              <a:t>Visual detail:</a:t>
            </a:r>
          </a:p>
          <a:p>
            <a:r>
              <a:t>- Launch stages shown: 4</a:t>
            </a:r>
          </a:p>
          <a:p>
            <a:r>
              <a:t>- Validated deck title: Positioning &amp; Price</a:t>
            </a:r>
          </a:p>
          <a:p>
            <a:r>
              <a:t>- Run: 20261014-201109-cold-pressed-juice-subscriptio-c0fe</a:t>
            </a:r>
          </a:p>
          <a:p>
            <a:r>
              <a:t>- Full text of items shortened on the slide:</a:t>
            </a:r>
          </a:p>
          <a:p>
            <a:r>
              <a:t>-   Prepare an offer page with price, serving size, schedule, choice/rotation and service area</a:t>
            </a:r>
          </a:p>
          <a:p>
            <a:r>
              <a:t>-   track orders, repeat intent, delivery reliability and reported feedback</a:t>
            </a:r>
          </a:p>
          <a:p>
            <a:r>
              <a:t>-   Specify serving size and delivery terms before sale; confirm serviceable areas before advertising them</a:t>
            </a:r>
          </a:p>
          <a:p/>
          <a:p>
            <a:r>
              <a:t>Sources:</a:t>
            </a:r>
          </a:p>
          <a:p>
            <a:r>
              <a:t>Strategy: recommendation</a:t>
            </a:r>
          </a:p>
          <a:p/>
          <a:p>
            <a:r>
              <a:t>Labels: PARTIAL EVIDENCE: the source report failed acceptance; Recommendation (not a verified market price): ₹699 for a seven-day plan of one juice per day (about ₹100 per juice); proposed price only, with serving size and delivery terms to be specified before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proposed actions from the report's launch plan, not claims about completed research or existing operations.</a:t>
            </a:r>
          </a:p>
          <a:p/>
          <a:p>
            <a:r>
              <a:t>Validated slide text:</a:t>
            </a:r>
          </a:p>
          <a:p>
            <a:r>
              <a:t>- Week 1: Confirm feasibility, service areas, serving size and delivery terms; decide choice or rotation; validate the proposed ₹699 test price.</a:t>
            </a:r>
          </a:p>
          <a:p>
            <a:r>
              <a:t>- Week 2: Prepare an offer page with price, serving size, schedule, choice/rotation and service area; invite a small test group and adjust from feedback.</a:t>
            </a:r>
          </a:p>
          <a:p>
            <a:r>
              <a:t>- Week 3: Run a limited pilot with consenting customers in confirmed areas; track orders, repeat intent, delivery reliability and reported feedback.</a:t>
            </a:r>
          </a:p>
          <a:p>
            <a:r>
              <a:t>- Week 4: Review pilot and test-price response; revise the offer based on results and feasibility; expand promotion only where coverage and terms are confirmed.</a:t>
            </a:r>
          </a:p>
          <a:p/>
          <a:p>
            <a:r>
              <a:t>Visual detail:</a:t>
            </a:r>
          </a:p>
          <a:p>
            <a:r>
              <a:t>- Checkpoints are the plan's validate / track / review actions, by week</a:t>
            </a:r>
          </a:p>
          <a:p>
            <a:r>
              <a:t>- Validated deck title: 30-Day Launch Plan</a:t>
            </a:r>
          </a:p>
          <a:p>
            <a:r>
              <a:t>- Run: 20261014-201109-cold-pressed-juice-subscriptio-c0fe</a:t>
            </a:r>
          </a:p>
          <a:p>
            <a:r>
              <a:t>- Full text of items shortened on the slide:</a:t>
            </a:r>
          </a:p>
          <a:p>
            <a:r>
              <a:t>-   ₹699 is a proposed test price, not a researched market price; no competitor price was verified</a:t>
            </a:r>
          </a:p>
          <a:p/>
          <a:p>
            <a:r>
              <a:t>Sources:</a:t>
            </a:r>
          </a:p>
          <a:p>
            <a:r>
              <a:t>Report: launch plan</a:t>
            </a:r>
          </a:p>
          <a:p/>
          <a:p>
            <a:r>
              <a:t>Labels: PARTIAL EVIDENCE: the source report failed acceptance; Recommended actions, not completed or verified 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block"/>
          <p:cNvSpPr/>
          <p:nvPr/>
        </p:nvSpPr>
        <p:spPr>
          <a:xfrm>
            <a:off x="411480" y="182880"/>
            <a:ext cx="2743200" cy="640080"/>
          </a:xfrm>
          <a:prstGeom prst="roundRect">
            <a:avLst>
              <a:gd name="adj" fmla="val 11428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 logo tile"/>
          <p:cNvSpPr/>
          <p:nvPr/>
        </p:nvSpPr>
        <p:spPr>
          <a:xfrm>
            <a:off x="502920" y="256032"/>
            <a:ext cx="493776" cy="493776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S logo" descr="LaunchScout L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3" y="306324"/>
            <a:ext cx="436109" cy="393192"/>
          </a:xfrm>
          <a:prstGeom prst="rect">
            <a:avLst/>
          </a:prstGeom>
        </p:spPr>
      </p:pic>
      <p:sp>
        <p:nvSpPr>
          <p:cNvPr id="5" name="Brand name"/>
          <p:cNvSpPr txBox="1"/>
          <p:nvPr/>
        </p:nvSpPr>
        <p:spPr>
          <a:xfrm>
            <a:off x="1124712" y="182880"/>
            <a:ext cx="1965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LaunchScout</a:t>
            </a:r>
          </a:p>
        </p:txBody>
      </p:sp>
      <p:sp>
        <p:nvSpPr>
          <p:cNvPr id="6" name="Brand tagline"/>
          <p:cNvSpPr txBox="1"/>
          <p:nvPr/>
        </p:nvSpPr>
        <p:spPr>
          <a:xfrm>
            <a:off x="1124712" y="512064"/>
            <a:ext cx="19659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FD6CF"/>
                </a:solidFill>
                <a:latin typeface="Calibri"/>
              </a:rPr>
              <a:t>Competitor Research Crew</a:t>
            </a:r>
          </a:p>
        </p:txBody>
      </p:sp>
      <p:sp>
        <p:nvSpPr>
          <p:cNvPr id="7" name="Evidence status"/>
          <p:cNvSpPr/>
          <p:nvPr/>
        </p:nvSpPr>
        <p:spPr>
          <a:xfrm>
            <a:off x="9924999" y="338328"/>
            <a:ext cx="1855216" cy="310896"/>
          </a:xfrm>
          <a:prstGeom prst="roundRect">
            <a:avLst>
              <a:gd name="adj" fmla="val 50000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PARTIAL EVIDENCE</a:t>
            </a:r>
          </a:p>
        </p:txBody>
      </p:sp>
      <p:sp>
        <p:nvSpPr>
          <p:cNvPr id="8" name="Slide index"/>
          <p:cNvSpPr txBox="1"/>
          <p:nvPr/>
        </p:nvSpPr>
        <p:spPr>
          <a:xfrm>
            <a:off x="3429000" y="155448"/>
            <a:ext cx="77724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9C7225"/>
                </a:solidFill>
                <a:latin typeface="Georgia"/>
              </a:rPr>
              <a:t>01.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4206240" y="155448"/>
            <a:ext cx="5490159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7B1E3A"/>
                </a:solidFill>
                <a:latin typeface="Georgia"/>
              </a:rPr>
              <a:t>Problem &amp; Opportunity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4206240" y="576072"/>
            <a:ext cx="549015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77A"/>
                </a:solidFill>
                <a:latin typeface="Calibri"/>
              </a:rPr>
              <a:t>Who the research is for, what the market shows and where an opportunity may lie</a:t>
            </a:r>
          </a:p>
        </p:txBody>
      </p:sp>
      <p:sp>
        <p:nvSpPr>
          <p:cNvPr id="11" name="Labels"/>
          <p:cNvSpPr/>
          <p:nvPr/>
        </p:nvSpPr>
        <p:spPr>
          <a:xfrm>
            <a:off x="411480" y="987552"/>
            <a:ext cx="11368735" cy="332232"/>
          </a:xfrm>
          <a:prstGeom prst="roundRect">
            <a:avLst>
              <a:gd name="adj" fmla="val 22018"/>
            </a:avLst>
          </a:prstGeom>
          <a:solidFill>
            <a:srgbClr val="F3E3E7"/>
          </a:solidFill>
          <a:ln w="12700">
            <a:solidFill>
              <a:srgbClr val="7B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PARTIAL EVIDENCE: the source report failed acceptance   ·   Evidence: 2 competitor(s) researched, 0 verified price(s)</a:t>
            </a:r>
          </a:p>
        </p:txBody>
      </p:sp>
      <p:sp>
        <p:nvSpPr>
          <p:cNvPr id="12" name="Sources"/>
          <p:cNvSpPr txBox="1"/>
          <p:nvPr/>
        </p:nvSpPr>
        <p:spPr>
          <a:xfrm>
            <a:off x="411480" y="6089904"/>
            <a:ext cx="1136873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Sources: Report: idea</a:t>
            </a:r>
          </a:p>
        </p:txBody>
      </p:sp>
      <p:sp>
        <p:nvSpPr>
          <p:cNvPr id="13" name="Opportunity card"/>
          <p:cNvSpPr/>
          <p:nvPr/>
        </p:nvSpPr>
        <p:spPr>
          <a:xfrm>
            <a:off x="411480" y="1429512"/>
            <a:ext cx="4206240" cy="4605528"/>
          </a:xfrm>
          <a:prstGeom prst="roundRect">
            <a:avLst>
              <a:gd name="adj" fmla="val 1739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cent"/>
          <p:cNvSpPr/>
          <p:nvPr/>
        </p:nvSpPr>
        <p:spPr>
          <a:xfrm>
            <a:off x="521208" y="1658112"/>
            <a:ext cx="64008" cy="4148328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ading: The opportunity"/>
          <p:cNvSpPr txBox="1"/>
          <p:nvPr/>
        </p:nvSpPr>
        <p:spPr>
          <a:xfrm>
            <a:off x="731520" y="1575816"/>
            <a:ext cx="365759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THE OPPORTUNITY</a:t>
            </a:r>
          </a:p>
        </p:txBody>
      </p:sp>
      <p:sp>
        <p:nvSpPr>
          <p:cNvPr id="16" name="Business idea"/>
          <p:cNvSpPr txBox="1"/>
          <p:nvPr/>
        </p:nvSpPr>
        <p:spPr>
          <a:xfrm>
            <a:off x="731520" y="1905000"/>
            <a:ext cx="3566159" cy="18602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4233F"/>
                </a:solidFill>
                <a:latin typeface="Georgia"/>
              </a:rPr>
              <a:t>Cold-pressed juice subscription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7C7A"/>
                </a:solidFill>
                <a:latin typeface="Calibri"/>
              </a:rPr>
              <a:t>for gym-goers aged 20-35 in Pune</a:t>
            </a:r>
          </a:p>
        </p:txBody>
      </p:sp>
      <p:sp>
        <p:nvSpPr>
          <p:cNvPr id="17" name="Divider"/>
          <p:cNvSpPr/>
          <p:nvPr/>
        </p:nvSpPr>
        <p:spPr>
          <a:xfrm>
            <a:off x="731520" y="3948176"/>
            <a:ext cx="3566159" cy="13716"/>
          </a:xfrm>
          <a:prstGeom prst="rect">
            <a:avLst/>
          </a:prstGeom>
          <a:solidFill>
            <a:srgbClr val="E0D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ing: Research summary"/>
          <p:cNvSpPr txBox="1"/>
          <p:nvPr/>
        </p:nvSpPr>
        <p:spPr>
          <a:xfrm>
            <a:off x="731520" y="4057904"/>
            <a:ext cx="356615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A"/>
                </a:solidFill>
                <a:latin typeface="Calibri"/>
              </a:rPr>
              <a:t>RESEARCH SUMMARY</a:t>
            </a:r>
          </a:p>
        </p:txBody>
      </p:sp>
      <p:sp>
        <p:nvSpPr>
          <p:cNvPr id="19" name="Research summary"/>
          <p:cNvSpPr txBox="1"/>
          <p:nvPr/>
        </p:nvSpPr>
        <p:spPr>
          <a:xfrm>
            <a:off x="731520" y="4368800"/>
            <a:ext cx="3566159" cy="1538223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3200" indent="-203200">
              <a:spcAft>
                <a:spcPts val="500"/>
              </a:spcAft>
              <a:buChar char="•"/>
            </a:pPr>
            <a:r>
              <a:rPr sz="1350" b="0" i="0">
                <a:solidFill>
                  <a:srgbClr val="14233F"/>
                </a:solidFill>
                <a:latin typeface="Calibri"/>
              </a:rPr>
              <a:t>Cold-pressed juice subscription in Pune.</a:t>
            </a:r>
          </a:p>
          <a:p>
            <a:pPr algn="l" marL="203200" indent="-203200">
              <a:spcAft>
                <a:spcPts val="500"/>
              </a:spcAft>
              <a:buChar char="•"/>
            </a:pPr>
            <a:r>
              <a:rPr sz="1350" b="0" i="0">
                <a:solidFill>
                  <a:srgbClr val="14233F"/>
                </a:solidFill>
                <a:latin typeface="Calibri"/>
              </a:rPr>
              <a:t>Target customers: gym-goers aged 20-35.</a:t>
            </a:r>
          </a:p>
          <a:p>
            <a:pPr algn="l" marL="203200" indent="-203200">
              <a:spcAft>
                <a:spcPts val="500"/>
              </a:spcAft>
              <a:buChar char="•"/>
            </a:pPr>
            <a:r>
              <a:rPr sz="1350" b="0" i="0">
                <a:solidFill>
                  <a:srgbClr val="14233F"/>
                </a:solidFill>
                <a:latin typeface="Calibri"/>
              </a:rPr>
              <a:t>Research evidence status: partial; report failed acceptance.</a:t>
            </a:r>
          </a:p>
        </p:txBody>
      </p:sp>
      <p:sp>
        <p:nvSpPr>
          <p:cNvPr id="20" name="Journey line"/>
          <p:cNvSpPr/>
          <p:nvPr/>
        </p:nvSpPr>
        <p:spPr>
          <a:xfrm>
            <a:off x="5084064" y="2005203"/>
            <a:ext cx="36576" cy="3454146"/>
          </a:xfrm>
          <a:prstGeom prst="rect">
            <a:avLst/>
          </a:prstGeom>
          <a:solidFill>
            <a:srgbClr val="E0D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Journey 1 icon"/>
          <p:cNvSpPr/>
          <p:nvPr/>
        </p:nvSpPr>
        <p:spPr>
          <a:xfrm>
            <a:off x="4782312" y="1685163"/>
            <a:ext cx="640080" cy="640080"/>
          </a:xfrm>
          <a:prstGeom prst="ellipse">
            <a:avLst/>
          </a:prstGeom>
          <a:solidFill>
            <a:srgbClr val="1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Journey 1 head"/>
          <p:cNvSpPr/>
          <p:nvPr/>
        </p:nvSpPr>
        <p:spPr>
          <a:xfrm>
            <a:off x="5037575" y="1857984"/>
            <a:ext cx="129552" cy="1295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Journey 1 body"/>
          <p:cNvSpPr/>
          <p:nvPr/>
        </p:nvSpPr>
        <p:spPr>
          <a:xfrm>
            <a:off x="4978688" y="2011091"/>
            <a:ext cx="247326" cy="141329"/>
          </a:xfrm>
          <a:prstGeom prst="round2Same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Journey text 1"/>
          <p:cNvSpPr txBox="1"/>
          <p:nvPr/>
        </p:nvSpPr>
        <p:spPr>
          <a:xfrm>
            <a:off x="5586983" y="1502664"/>
            <a:ext cx="3108959" cy="100507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C7C7A"/>
                </a:solidFill>
                <a:latin typeface="Calibri"/>
              </a:rPr>
              <a:t>TARGET CUSTOMER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233F"/>
                </a:solidFill>
                <a:latin typeface="Calibri"/>
              </a:rPr>
              <a:t>gym-goers aged 20-35 in Pune</a:t>
            </a:r>
          </a:p>
        </p:txBody>
      </p:sp>
      <p:sp>
        <p:nvSpPr>
          <p:cNvPr id="25" name="Journey 2 icon"/>
          <p:cNvSpPr/>
          <p:nvPr/>
        </p:nvSpPr>
        <p:spPr>
          <a:xfrm>
            <a:off x="4782312" y="2836545"/>
            <a:ext cx="640080" cy="640080"/>
          </a:xfrm>
          <a:prstGeom prst="ellipse">
            <a:avLst/>
          </a:prstGeom>
          <a:solidFill>
            <a:srgbClr val="34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Journey 2 bar0"/>
          <p:cNvSpPr/>
          <p:nvPr/>
        </p:nvSpPr>
        <p:spPr>
          <a:xfrm>
            <a:off x="4955133" y="3171306"/>
            <a:ext cx="76553" cy="132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Journey 2 bar1"/>
          <p:cNvSpPr/>
          <p:nvPr/>
        </p:nvSpPr>
        <p:spPr>
          <a:xfrm>
            <a:off x="5061130" y="3082975"/>
            <a:ext cx="76553" cy="2208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Journey 2 bar2"/>
          <p:cNvSpPr/>
          <p:nvPr/>
        </p:nvSpPr>
        <p:spPr>
          <a:xfrm>
            <a:off x="5167128" y="3009366"/>
            <a:ext cx="76553" cy="294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Journey text 2"/>
          <p:cNvSpPr txBox="1"/>
          <p:nvPr/>
        </p:nvSpPr>
        <p:spPr>
          <a:xfrm>
            <a:off x="5586983" y="2654046"/>
            <a:ext cx="3108959" cy="100507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4699A"/>
                </a:solidFill>
                <a:latin typeface="Calibri"/>
              </a:rPr>
              <a:t>OBSERVED IN THE MARKET · VERIFIED PAGES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233F"/>
                </a:solidFill>
                <a:latin typeface="Calibri"/>
              </a:rPr>
              <a:t>2 competitors researched, 2 with public evidence URLs; channels seen: Instagram, Website ordering/menu, WhatsApp (advertised in search result)</a:t>
            </a:r>
          </a:p>
        </p:txBody>
      </p:sp>
      <p:sp>
        <p:nvSpPr>
          <p:cNvPr id="30" name="Journey 3 icon"/>
          <p:cNvSpPr/>
          <p:nvPr/>
        </p:nvSpPr>
        <p:spPr>
          <a:xfrm>
            <a:off x="4782312" y="3987927"/>
            <a:ext cx="640080" cy="640080"/>
          </a:xfrm>
          <a:prstGeom prst="ellipse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Journey 3 ring"/>
          <p:cNvSpPr/>
          <p:nvPr/>
        </p:nvSpPr>
        <p:spPr>
          <a:xfrm>
            <a:off x="4955133" y="4160748"/>
            <a:ext cx="294436" cy="294436"/>
          </a:xfrm>
          <a:prstGeom prst="don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Journey 3 dot"/>
          <p:cNvSpPr/>
          <p:nvPr/>
        </p:nvSpPr>
        <p:spPr>
          <a:xfrm>
            <a:off x="5055242" y="4260857"/>
            <a:ext cx="94219" cy="942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Journey text 3"/>
          <p:cNvSpPr txBox="1"/>
          <p:nvPr/>
        </p:nvSpPr>
        <p:spPr>
          <a:xfrm>
            <a:off x="5586983" y="3805428"/>
            <a:ext cx="3108959" cy="100507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7B1E3A"/>
                </a:solidFill>
                <a:latin typeface="Calibri"/>
              </a:rPr>
              <a:t>RESEARCH-VISIBLE GAP · INFERENCE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233F"/>
                </a:solidFill>
                <a:latin typeface="Calibri"/>
              </a:rPr>
              <a:t>Research-visible opportunity, not a claim of exclusivity: clearly state the per-juice price and pack size</a:t>
            </a:r>
          </a:p>
        </p:txBody>
      </p:sp>
      <p:sp>
        <p:nvSpPr>
          <p:cNvPr id="34" name="Journey 4 icon"/>
          <p:cNvSpPr/>
          <p:nvPr/>
        </p:nvSpPr>
        <p:spPr>
          <a:xfrm>
            <a:off x="4782312" y="5139309"/>
            <a:ext cx="640080" cy="640080"/>
          </a:xfrm>
          <a:prstGeom prst="ellipse">
            <a:avLst/>
          </a:prstGeom>
          <a:solidFill>
            <a:srgbClr val="9C7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Journey 4 star"/>
          <p:cNvSpPr/>
          <p:nvPr/>
        </p:nvSpPr>
        <p:spPr>
          <a:xfrm>
            <a:off x="4955133" y="5312130"/>
            <a:ext cx="294436" cy="294436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Journey text 4"/>
          <p:cNvSpPr txBox="1"/>
          <p:nvPr/>
        </p:nvSpPr>
        <p:spPr>
          <a:xfrm>
            <a:off x="5586983" y="4956810"/>
            <a:ext cx="3108959" cy="100507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9C7225"/>
                </a:solidFill>
                <a:latin typeface="Calibri"/>
              </a:rPr>
              <a:t>RECOMMENDED RESPONSE · RECOMMENDATION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233F"/>
                </a:solidFill>
                <a:latin typeface="Calibri"/>
              </a:rPr>
              <a:t>A Pune cold-pressed juice subscription with clear per-juice pricing and a week of choice or planned variety</a:t>
            </a:r>
          </a:p>
        </p:txBody>
      </p:sp>
      <p:sp>
        <p:nvSpPr>
          <p:cNvPr id="37" name="Scope card"/>
          <p:cNvSpPr/>
          <p:nvPr/>
        </p:nvSpPr>
        <p:spPr>
          <a:xfrm>
            <a:off x="8878824" y="1429512"/>
            <a:ext cx="2901391" cy="4605528"/>
          </a:xfrm>
          <a:prstGeom prst="roundRect">
            <a:avLst>
              <a:gd name="adj" fmla="val 2521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ading: Research scope &amp; status"/>
          <p:cNvSpPr txBox="1"/>
          <p:nvPr/>
        </p:nvSpPr>
        <p:spPr>
          <a:xfrm>
            <a:off x="9061703" y="1575816"/>
            <a:ext cx="2535631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C7C7A"/>
                </a:solidFill>
                <a:latin typeface="Calibri"/>
              </a:rPr>
              <a:t>RESEARCH SCOPE &amp; STATUS</a:t>
            </a:r>
          </a:p>
        </p:txBody>
      </p:sp>
      <p:graphicFrame>
        <p:nvGraphicFramePr>
          <p:cNvPr id="39" name="Gauge chart: competitors"/>
          <p:cNvGraphicFramePr>
            <a:graphicFrameLocks noGrp="1"/>
          </p:cNvGraphicFramePr>
          <p:nvPr/>
        </p:nvGraphicFramePr>
        <p:xfrm>
          <a:off x="9159087" y="1932432"/>
          <a:ext cx="1078992" cy="10789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0" name="Gauge value: competitors"/>
          <p:cNvSpPr txBox="1"/>
          <p:nvPr/>
        </p:nvSpPr>
        <p:spPr>
          <a:xfrm>
            <a:off x="9341967" y="2270759"/>
            <a:ext cx="71323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4233F"/>
                </a:solidFill>
                <a:latin typeface="Georgia"/>
              </a:rPr>
              <a:t>2/3</a:t>
            </a:r>
          </a:p>
        </p:txBody>
      </p:sp>
      <p:sp>
        <p:nvSpPr>
          <p:cNvPr id="41" name="Gauge label: competitors"/>
          <p:cNvSpPr txBox="1"/>
          <p:nvPr/>
        </p:nvSpPr>
        <p:spPr>
          <a:xfrm>
            <a:off x="9067647" y="3047999"/>
            <a:ext cx="1261872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B677A"/>
                </a:solidFill>
                <a:latin typeface="Calibri"/>
              </a:rPr>
              <a:t>Competitors with evidence</a:t>
            </a:r>
          </a:p>
        </p:txBody>
      </p:sp>
      <p:graphicFrame>
        <p:nvGraphicFramePr>
          <p:cNvPr id="42" name="Gauge chart: prices"/>
          <p:cNvGraphicFramePr>
            <a:graphicFrameLocks noGrp="1"/>
          </p:cNvGraphicFramePr>
          <p:nvPr/>
        </p:nvGraphicFramePr>
        <p:xfrm>
          <a:off x="10420959" y="1932432"/>
          <a:ext cx="1078992" cy="107899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3" name="Gauge value: prices"/>
          <p:cNvSpPr txBox="1"/>
          <p:nvPr/>
        </p:nvSpPr>
        <p:spPr>
          <a:xfrm>
            <a:off x="10603839" y="2270759"/>
            <a:ext cx="71323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4233F"/>
                </a:solidFill>
                <a:latin typeface="Georgia"/>
              </a:rPr>
              <a:t>0/3</a:t>
            </a:r>
          </a:p>
        </p:txBody>
      </p:sp>
      <p:sp>
        <p:nvSpPr>
          <p:cNvPr id="44" name="Gauge label: prices"/>
          <p:cNvSpPr txBox="1"/>
          <p:nvPr/>
        </p:nvSpPr>
        <p:spPr>
          <a:xfrm>
            <a:off x="10329519" y="3047999"/>
            <a:ext cx="1261872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B677A"/>
                </a:solidFill>
                <a:latin typeface="Calibri"/>
              </a:rPr>
              <a:t>Verified competitor prices</a:t>
            </a:r>
          </a:p>
        </p:txBody>
      </p:sp>
      <p:sp>
        <p:nvSpPr>
          <p:cNvPr id="45" name="Fact: Sources reviewed"/>
          <p:cNvSpPr txBox="1"/>
          <p:nvPr/>
        </p:nvSpPr>
        <p:spPr>
          <a:xfrm>
            <a:off x="9061703" y="3614928"/>
            <a:ext cx="2535631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B677A"/>
                </a:solidFill>
                <a:latin typeface="Calibri"/>
              </a:rPr>
              <a:t>SOURCES REVIEWED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33F"/>
                </a:solidFill>
                <a:latin typeface="Calibri"/>
              </a:rPr>
              <a:t>59</a:t>
            </a:r>
          </a:p>
        </p:txBody>
      </p:sp>
      <p:sp>
        <p:nvSpPr>
          <p:cNvPr id="46" name="Fact: Report status"/>
          <p:cNvSpPr txBox="1"/>
          <p:nvPr/>
        </p:nvSpPr>
        <p:spPr>
          <a:xfrm>
            <a:off x="9061703" y="4072128"/>
            <a:ext cx="2535631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B677A"/>
                </a:solidFill>
                <a:latin typeface="Calibri"/>
              </a:rPr>
              <a:t>REPORT STATUS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33F"/>
                </a:solidFill>
                <a:latin typeface="Calibri"/>
              </a:rPr>
              <a:t>Partial acceptance</a:t>
            </a:r>
          </a:p>
        </p:txBody>
      </p:sp>
      <p:sp>
        <p:nvSpPr>
          <p:cNvPr id="47" name="Acceptance gaps"/>
          <p:cNvSpPr txBox="1"/>
          <p:nvPr/>
        </p:nvSpPr>
        <p:spPr>
          <a:xfrm>
            <a:off x="9061703" y="4565904"/>
            <a:ext cx="2535631" cy="13959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77A"/>
                </a:solidFill>
                <a:latin typeface="Calibri"/>
              </a:rPr>
              <a:t>WHY PARTIAL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only 2 competitor(s) have a name, URL and evidence URL (3 required)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only 0 competitor(s) have a verified price with evidence (3 required)</a:t>
            </a:r>
          </a:p>
        </p:txBody>
      </p:sp>
      <p:cxnSp>
        <p:nvCxnSpPr>
          <p:cNvPr id="48" name="Footer rule"/>
          <p:cNvCxnSpPr/>
          <p:nvPr/>
        </p:nvCxnSpPr>
        <p:spPr>
          <a:xfrm>
            <a:off x="411480" y="6437376"/>
            <a:ext cx="11368735" cy="0"/>
          </a:xfrm>
          <a:prstGeom prst="line">
            <a:avLst/>
          </a:prstGeom>
          <a:ln w="12700">
            <a:solidFill>
              <a:srgbClr val="E0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ooter"/>
          <p:cNvSpPr txBox="1"/>
          <p:nvPr/>
        </p:nvSpPr>
        <p:spPr>
          <a:xfrm>
            <a:off x="411480" y="6473952"/>
            <a:ext cx="10271455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LaunchScout | Problem &amp; Opportunity | Cold-pressed juice subscription, Pune | Partial evidence | run 20261014-201109-c0fe</a:t>
            </a:r>
          </a:p>
        </p:txBody>
      </p:sp>
      <p:sp>
        <p:nvSpPr>
          <p:cNvPr id="50" name="Slide number"/>
          <p:cNvSpPr txBox="1"/>
          <p:nvPr/>
        </p:nvSpPr>
        <p:spPr>
          <a:xfrm>
            <a:off x="10774375" y="6464808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block"/>
          <p:cNvSpPr/>
          <p:nvPr/>
        </p:nvSpPr>
        <p:spPr>
          <a:xfrm>
            <a:off x="411480" y="182880"/>
            <a:ext cx="2743200" cy="640080"/>
          </a:xfrm>
          <a:prstGeom prst="roundRect">
            <a:avLst>
              <a:gd name="adj" fmla="val 11428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 logo tile"/>
          <p:cNvSpPr/>
          <p:nvPr/>
        </p:nvSpPr>
        <p:spPr>
          <a:xfrm>
            <a:off x="502920" y="256032"/>
            <a:ext cx="493776" cy="493776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S logo" descr="LaunchScout L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3" y="306324"/>
            <a:ext cx="436109" cy="393192"/>
          </a:xfrm>
          <a:prstGeom prst="rect">
            <a:avLst/>
          </a:prstGeom>
        </p:spPr>
      </p:pic>
      <p:sp>
        <p:nvSpPr>
          <p:cNvPr id="5" name="Brand name"/>
          <p:cNvSpPr txBox="1"/>
          <p:nvPr/>
        </p:nvSpPr>
        <p:spPr>
          <a:xfrm>
            <a:off x="1124712" y="182880"/>
            <a:ext cx="1965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LaunchScout</a:t>
            </a:r>
          </a:p>
        </p:txBody>
      </p:sp>
      <p:sp>
        <p:nvSpPr>
          <p:cNvPr id="6" name="Brand tagline"/>
          <p:cNvSpPr txBox="1"/>
          <p:nvPr/>
        </p:nvSpPr>
        <p:spPr>
          <a:xfrm>
            <a:off x="1124712" y="512064"/>
            <a:ext cx="19659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FD6CF"/>
                </a:solidFill>
                <a:latin typeface="Calibri"/>
              </a:rPr>
              <a:t>Competitor Research Crew</a:t>
            </a:r>
          </a:p>
        </p:txBody>
      </p:sp>
      <p:sp>
        <p:nvSpPr>
          <p:cNvPr id="7" name="Evidence status"/>
          <p:cNvSpPr/>
          <p:nvPr/>
        </p:nvSpPr>
        <p:spPr>
          <a:xfrm>
            <a:off x="9924999" y="338328"/>
            <a:ext cx="1855216" cy="310896"/>
          </a:xfrm>
          <a:prstGeom prst="roundRect">
            <a:avLst>
              <a:gd name="adj" fmla="val 50000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PARTIAL EVIDENCE</a:t>
            </a:r>
          </a:p>
        </p:txBody>
      </p:sp>
      <p:sp>
        <p:nvSpPr>
          <p:cNvPr id="8" name="Slide index"/>
          <p:cNvSpPr txBox="1"/>
          <p:nvPr/>
        </p:nvSpPr>
        <p:spPr>
          <a:xfrm>
            <a:off x="3429000" y="155448"/>
            <a:ext cx="77724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9C7225"/>
                </a:solidFill>
                <a:latin typeface="Georgia"/>
              </a:rPr>
              <a:t>02.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4206240" y="155448"/>
            <a:ext cx="5490159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7B1E3A"/>
                </a:solidFill>
                <a:latin typeface="Georgia"/>
              </a:rPr>
              <a:t>Market Landscape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4206240" y="576072"/>
            <a:ext cx="549015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77A"/>
                </a:solidFill>
                <a:latin typeface="Calibri"/>
              </a:rPr>
              <a:t>Researched competitors, their offers and channels, and the evidence behind them</a:t>
            </a:r>
          </a:p>
        </p:txBody>
      </p:sp>
      <p:sp>
        <p:nvSpPr>
          <p:cNvPr id="11" name="Labels"/>
          <p:cNvSpPr/>
          <p:nvPr/>
        </p:nvSpPr>
        <p:spPr>
          <a:xfrm>
            <a:off x="411480" y="987552"/>
            <a:ext cx="11368735" cy="332232"/>
          </a:xfrm>
          <a:prstGeom prst="roundRect">
            <a:avLst>
              <a:gd name="adj" fmla="val 22018"/>
            </a:avLst>
          </a:prstGeom>
          <a:solidFill>
            <a:srgbClr val="F3E3E7"/>
          </a:solidFill>
          <a:ln w="12700">
            <a:solidFill>
              <a:srgbClr val="7B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PARTIAL EVIDENCE: the source report failed acceptance   ·   Price unknown / not verified: iBites, Earth Organic Juices</a:t>
            </a:r>
          </a:p>
        </p:txBody>
      </p:sp>
      <p:sp>
        <p:nvSpPr>
          <p:cNvPr id="12" name="Sources"/>
          <p:cNvSpPr txBox="1"/>
          <p:nvPr/>
        </p:nvSpPr>
        <p:spPr>
          <a:xfrm>
            <a:off x="411480" y="6089904"/>
            <a:ext cx="1136873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Sources: ibites.in · instagram.com · facebook.com</a:t>
            </a:r>
          </a:p>
        </p:txBody>
      </p:sp>
      <p:sp>
        <p:nvSpPr>
          <p:cNvPr id="13" name="Competitor: iBites"/>
          <p:cNvSpPr/>
          <p:nvPr/>
        </p:nvSpPr>
        <p:spPr>
          <a:xfrm>
            <a:off x="411480" y="1429512"/>
            <a:ext cx="6858000" cy="2220468"/>
          </a:xfrm>
          <a:prstGeom prst="roundRect">
            <a:avLst>
              <a:gd name="adj" fmla="val 3294"/>
            </a:avLst>
          </a:prstGeom>
          <a:solidFill>
            <a:srgbClr val="DD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onogram: iBites"/>
          <p:cNvSpPr/>
          <p:nvPr/>
        </p:nvSpPr>
        <p:spPr>
          <a:xfrm>
            <a:off x="594360" y="1575816"/>
            <a:ext cx="731520" cy="731520"/>
          </a:xfrm>
          <a:prstGeom prst="ellipse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I</a:t>
            </a:r>
          </a:p>
        </p:txBody>
      </p:sp>
      <p:sp>
        <p:nvSpPr>
          <p:cNvPr id="15" name="Price: iBites"/>
          <p:cNvSpPr/>
          <p:nvPr/>
        </p:nvSpPr>
        <p:spPr>
          <a:xfrm>
            <a:off x="5503799" y="1612392"/>
            <a:ext cx="158280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PRICE UNKNOWN</a:t>
            </a:r>
          </a:p>
        </p:txBody>
      </p:sp>
      <p:sp>
        <p:nvSpPr>
          <p:cNvPr id="16" name="Name: iBites"/>
          <p:cNvSpPr txBox="1"/>
          <p:nvPr/>
        </p:nvSpPr>
        <p:spPr>
          <a:xfrm>
            <a:off x="1508760" y="1557528"/>
            <a:ext cx="3766438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F"/>
                </a:solidFill>
                <a:latin typeface="Georgia"/>
              </a:rPr>
              <a:t>iBites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A"/>
                </a:solidFill>
                <a:latin typeface="Calibri"/>
              </a:rPr>
              <a:t>ibites.in</a:t>
            </a:r>
          </a:p>
        </p:txBody>
      </p:sp>
      <p:sp>
        <p:nvSpPr>
          <p:cNvPr id="17" name="Offer: iBites"/>
          <p:cNvSpPr txBox="1"/>
          <p:nvPr/>
        </p:nvSpPr>
        <p:spPr>
          <a:xfrm>
            <a:off x="640080" y="2343912"/>
            <a:ext cx="6400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233F"/>
                </a:solidFill>
                <a:latin typeface="Calibri"/>
              </a:rPr>
              <a:t>Cold-pressed juices, wellness shots and smoothies, pressed after ordering; the page says a daily subscription is available, with the same juice delivered each morning</a:t>
            </a:r>
          </a:p>
        </p:txBody>
      </p:sp>
      <p:sp>
        <p:nvSpPr>
          <p:cNvPr id="18" name="Channel iBites: Website ordering/menu"/>
          <p:cNvSpPr/>
          <p:nvPr/>
        </p:nvSpPr>
        <p:spPr>
          <a:xfrm>
            <a:off x="640080" y="2983992"/>
            <a:ext cx="222256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C7C7A"/>
                </a:solidFill>
                <a:latin typeface="Calibri"/>
              </a:rPr>
              <a:t>Website ordering/menu</a:t>
            </a:r>
          </a:p>
        </p:txBody>
      </p:sp>
      <p:sp>
        <p:nvSpPr>
          <p:cNvPr id="19" name="Channel iBites: WhatsApp ordering"/>
          <p:cNvSpPr/>
          <p:nvPr/>
        </p:nvSpPr>
        <p:spPr>
          <a:xfrm>
            <a:off x="2954083" y="2983992"/>
            <a:ext cx="187585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C7C7A"/>
                </a:solidFill>
                <a:latin typeface="Calibri"/>
              </a:rPr>
              <a:t>WhatsApp ordering</a:t>
            </a:r>
          </a:p>
        </p:txBody>
      </p:sp>
      <p:sp>
        <p:nvSpPr>
          <p:cNvPr id="20" name="Sources count: iBites"/>
          <p:cNvSpPr txBox="1"/>
          <p:nvPr/>
        </p:nvSpPr>
        <p:spPr>
          <a:xfrm>
            <a:off x="5257800" y="2965704"/>
            <a:ext cx="1828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677A"/>
                </a:solidFill>
                <a:latin typeface="Calibri"/>
              </a:rPr>
              <a:t>2 source URL(s)</a:t>
            </a:r>
          </a:p>
        </p:txBody>
      </p:sp>
      <p:sp>
        <p:nvSpPr>
          <p:cNvPr id="21" name="Unknown: iBites"/>
          <p:cNvSpPr txBox="1"/>
          <p:nvPr/>
        </p:nvSpPr>
        <p:spPr>
          <a:xfrm>
            <a:off x="640080" y="3349752"/>
            <a:ext cx="6400800" cy="2270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A"/>
                </a:solidFill>
                <a:latin typeface="Calibri"/>
              </a:rPr>
              <a:t>Unknown: A price is mentioned on the cold-pressed juice page as starting at ₹25</a:t>
            </a:r>
          </a:p>
        </p:txBody>
      </p:sp>
      <p:sp>
        <p:nvSpPr>
          <p:cNvPr id="22" name="Competitor: Earth Organic Juices"/>
          <p:cNvSpPr/>
          <p:nvPr/>
        </p:nvSpPr>
        <p:spPr>
          <a:xfrm>
            <a:off x="411480" y="3814572"/>
            <a:ext cx="6858000" cy="2220468"/>
          </a:xfrm>
          <a:prstGeom prst="roundRect">
            <a:avLst>
              <a:gd name="adj" fmla="val 3294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onogram: Earth Organic Juices"/>
          <p:cNvSpPr/>
          <p:nvPr/>
        </p:nvSpPr>
        <p:spPr>
          <a:xfrm>
            <a:off x="594360" y="3960876"/>
            <a:ext cx="731520" cy="731520"/>
          </a:xfrm>
          <a:prstGeom prst="ellipse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EO</a:t>
            </a:r>
          </a:p>
        </p:txBody>
      </p:sp>
      <p:sp>
        <p:nvSpPr>
          <p:cNvPr id="24" name="Price: Earth Organic Juices"/>
          <p:cNvSpPr/>
          <p:nvPr/>
        </p:nvSpPr>
        <p:spPr>
          <a:xfrm>
            <a:off x="5503799" y="3997452"/>
            <a:ext cx="158280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PRICE UNKNOWN</a:t>
            </a:r>
          </a:p>
        </p:txBody>
      </p:sp>
      <p:sp>
        <p:nvSpPr>
          <p:cNvPr id="25" name="Name: Earth Organic Juices"/>
          <p:cNvSpPr txBox="1"/>
          <p:nvPr/>
        </p:nvSpPr>
        <p:spPr>
          <a:xfrm>
            <a:off x="1508760" y="3942588"/>
            <a:ext cx="3766438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F"/>
                </a:solidFill>
                <a:latin typeface="Georgia"/>
              </a:rPr>
              <a:t>Earth Organic Juices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A"/>
                </a:solidFill>
                <a:latin typeface="Calibri"/>
              </a:rPr>
              <a:t>instagram.com</a:t>
            </a:r>
          </a:p>
        </p:txBody>
      </p:sp>
      <p:sp>
        <p:nvSpPr>
          <p:cNvPr id="26" name="Offer: Earth Organic Juices"/>
          <p:cNvSpPr txBox="1"/>
          <p:nvPr/>
        </p:nvSpPr>
        <p:spPr>
          <a:xfrm>
            <a:off x="640080" y="4728972"/>
            <a:ext cx="64008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4233F"/>
                </a:solidFill>
                <a:latin typeface="Calibri"/>
              </a:rPr>
              <a:t>Search result describes cold-pressed juices and weekly subscriptions; another public result advertises early-morning delivery and a three-day trial</a:t>
            </a:r>
          </a:p>
        </p:txBody>
      </p:sp>
      <p:sp>
        <p:nvSpPr>
          <p:cNvPr id="27" name="Channel Earth Organic Juices: Instagram"/>
          <p:cNvSpPr/>
          <p:nvPr/>
        </p:nvSpPr>
        <p:spPr>
          <a:xfrm>
            <a:off x="640080" y="5369052"/>
            <a:ext cx="118243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C7C7A"/>
                </a:solidFill>
                <a:latin typeface="Calibri"/>
              </a:rPr>
              <a:t>Instagram</a:t>
            </a:r>
          </a:p>
        </p:txBody>
      </p:sp>
      <p:sp>
        <p:nvSpPr>
          <p:cNvPr id="28" name="Channel Earth Organic Juices: WhatsApp"/>
          <p:cNvSpPr/>
          <p:nvPr/>
        </p:nvSpPr>
        <p:spPr>
          <a:xfrm>
            <a:off x="1913953" y="5369052"/>
            <a:ext cx="10957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C7C7A"/>
                </a:solidFill>
                <a:latin typeface="Calibri"/>
              </a:rPr>
              <a:t>WhatsApp</a:t>
            </a:r>
          </a:p>
        </p:txBody>
      </p:sp>
      <p:sp>
        <p:nvSpPr>
          <p:cNvPr id="29" name="Sources count: Earth Organic Juices"/>
          <p:cNvSpPr txBox="1"/>
          <p:nvPr/>
        </p:nvSpPr>
        <p:spPr>
          <a:xfrm>
            <a:off x="5257800" y="5350764"/>
            <a:ext cx="1828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B677A"/>
                </a:solidFill>
                <a:latin typeface="Calibri"/>
              </a:rPr>
              <a:t>2 source URL(s)</a:t>
            </a:r>
          </a:p>
        </p:txBody>
      </p:sp>
      <p:sp>
        <p:nvSpPr>
          <p:cNvPr id="30" name="Unknown: Earth Organic Juices"/>
          <p:cNvSpPr txBox="1"/>
          <p:nvPr/>
        </p:nvSpPr>
        <p:spPr>
          <a:xfrm>
            <a:off x="640080" y="5734812"/>
            <a:ext cx="6400800" cy="2270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A"/>
                </a:solidFill>
                <a:latin typeface="Calibri"/>
              </a:rPr>
              <a:t>Unknown: A search-result snippet advertises ₹297 for a three-day trial</a:t>
            </a:r>
          </a:p>
        </p:txBody>
      </p:sp>
      <p:sp>
        <p:nvSpPr>
          <p:cNvPr id="31" name="Coverage grid card"/>
          <p:cNvSpPr/>
          <p:nvPr/>
        </p:nvSpPr>
        <p:spPr>
          <a:xfrm>
            <a:off x="7434072" y="1429512"/>
            <a:ext cx="4346143" cy="2862072"/>
          </a:xfrm>
          <a:prstGeom prst="roundRect">
            <a:avLst>
              <a:gd name="adj" fmla="val 2555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ading: Evidence footprint"/>
          <p:cNvSpPr txBox="1"/>
          <p:nvPr/>
        </p:nvSpPr>
        <p:spPr>
          <a:xfrm>
            <a:off x="7616952" y="1557528"/>
            <a:ext cx="398038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C7C7A"/>
                </a:solidFill>
                <a:latin typeface="Calibri"/>
              </a:rPr>
              <a:t>EVIDENCE FOOTPRINT</a:t>
            </a:r>
          </a:p>
        </p:txBody>
      </p:sp>
      <p:sp>
        <p:nvSpPr>
          <p:cNvPr id="33" name="Grid column: iBites"/>
          <p:cNvSpPr txBox="1"/>
          <p:nvPr/>
        </p:nvSpPr>
        <p:spPr>
          <a:xfrm>
            <a:off x="9491472" y="1886712"/>
            <a:ext cx="10986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B677A"/>
                </a:solidFill>
                <a:latin typeface="Calibri"/>
              </a:rPr>
              <a:t>iBites</a:t>
            </a:r>
          </a:p>
        </p:txBody>
      </p:sp>
      <p:sp>
        <p:nvSpPr>
          <p:cNvPr id="34" name="Grid column: Earth Organic Juices"/>
          <p:cNvSpPr txBox="1"/>
          <p:nvPr/>
        </p:nvSpPr>
        <p:spPr>
          <a:xfrm>
            <a:off x="10590123" y="1886712"/>
            <a:ext cx="10986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B677A"/>
                </a:solidFill>
                <a:latin typeface="Calibri"/>
              </a:rPr>
              <a:t>Earth</a:t>
            </a:r>
          </a:p>
        </p:txBody>
      </p:sp>
      <p:sp>
        <p:nvSpPr>
          <p:cNvPr id="35" name="Grid row: Instagram"/>
          <p:cNvSpPr txBox="1"/>
          <p:nvPr/>
        </p:nvSpPr>
        <p:spPr>
          <a:xfrm>
            <a:off x="7616952" y="2142744"/>
            <a:ext cx="1874519" cy="2651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4233F"/>
                </a:solidFill>
                <a:latin typeface="Calibri"/>
              </a:rPr>
              <a:t>Instagram</a:t>
            </a:r>
          </a:p>
        </p:txBody>
      </p:sp>
      <p:sp>
        <p:nvSpPr>
          <p:cNvPr id="36" name="Grid absent: Instagram / iBites"/>
          <p:cNvSpPr/>
          <p:nvPr/>
        </p:nvSpPr>
        <p:spPr>
          <a:xfrm>
            <a:off x="9949357" y="2183892"/>
            <a:ext cx="182880" cy="182880"/>
          </a:xfrm>
          <a:prstGeom prst="ellipse">
            <a:avLst/>
          </a:prstGeom>
          <a:solidFill>
            <a:srgbClr val="FFFDF8"/>
          </a:solidFill>
          <a:ln w="15875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 present: Instagram / Earth Organic Juices"/>
          <p:cNvSpPr/>
          <p:nvPr/>
        </p:nvSpPr>
        <p:spPr>
          <a:xfrm>
            <a:off x="11048009" y="2183892"/>
            <a:ext cx="182880" cy="182880"/>
          </a:xfrm>
          <a:prstGeom prst="ellipse">
            <a:avLst/>
          </a:prstGeom>
          <a:solidFill>
            <a:srgbClr val="1C7C7A"/>
          </a:solidFill>
          <a:ln w="15875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 row: Website ordering/menu"/>
          <p:cNvSpPr txBox="1"/>
          <p:nvPr/>
        </p:nvSpPr>
        <p:spPr>
          <a:xfrm>
            <a:off x="7616952" y="2444496"/>
            <a:ext cx="1874519" cy="2651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4233F"/>
                </a:solidFill>
                <a:latin typeface="Calibri"/>
              </a:rPr>
              <a:t>Website ordering/menu</a:t>
            </a:r>
          </a:p>
        </p:txBody>
      </p:sp>
      <p:sp>
        <p:nvSpPr>
          <p:cNvPr id="39" name="Grid present: Website ordering/menu / iBites"/>
          <p:cNvSpPr/>
          <p:nvPr/>
        </p:nvSpPr>
        <p:spPr>
          <a:xfrm>
            <a:off x="9949357" y="2485644"/>
            <a:ext cx="182880" cy="182880"/>
          </a:xfrm>
          <a:prstGeom prst="ellipse">
            <a:avLst/>
          </a:prstGeom>
          <a:solidFill>
            <a:srgbClr val="1C7C7A"/>
          </a:solidFill>
          <a:ln w="15875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 absent: Website ordering/menu / Earth Organic Juices"/>
          <p:cNvSpPr/>
          <p:nvPr/>
        </p:nvSpPr>
        <p:spPr>
          <a:xfrm>
            <a:off x="11048009" y="2485644"/>
            <a:ext cx="182880" cy="182880"/>
          </a:xfrm>
          <a:prstGeom prst="ellipse">
            <a:avLst/>
          </a:prstGeom>
          <a:solidFill>
            <a:srgbClr val="FFFDF8"/>
          </a:solidFill>
          <a:ln w="15875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 row: WhatsApp"/>
          <p:cNvSpPr txBox="1"/>
          <p:nvPr/>
        </p:nvSpPr>
        <p:spPr>
          <a:xfrm>
            <a:off x="7616952" y="2746248"/>
            <a:ext cx="1874519" cy="2651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4233F"/>
                </a:solidFill>
                <a:latin typeface="Calibri"/>
              </a:rPr>
              <a:t>WhatsApp</a:t>
            </a:r>
          </a:p>
        </p:txBody>
      </p:sp>
      <p:sp>
        <p:nvSpPr>
          <p:cNvPr id="42" name="Grid absent: WhatsApp / iBites"/>
          <p:cNvSpPr/>
          <p:nvPr/>
        </p:nvSpPr>
        <p:spPr>
          <a:xfrm>
            <a:off x="9949357" y="2787396"/>
            <a:ext cx="182880" cy="182880"/>
          </a:xfrm>
          <a:prstGeom prst="ellipse">
            <a:avLst/>
          </a:prstGeom>
          <a:solidFill>
            <a:srgbClr val="FFFDF8"/>
          </a:solidFill>
          <a:ln w="15875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 present: WhatsApp / Earth Organic Juices"/>
          <p:cNvSpPr/>
          <p:nvPr/>
        </p:nvSpPr>
        <p:spPr>
          <a:xfrm>
            <a:off x="11048009" y="2787396"/>
            <a:ext cx="182880" cy="182880"/>
          </a:xfrm>
          <a:prstGeom prst="ellipse">
            <a:avLst/>
          </a:prstGeom>
          <a:solidFill>
            <a:srgbClr val="1C7C7A"/>
          </a:solidFill>
          <a:ln w="15875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 row: WhatsApp ordering"/>
          <p:cNvSpPr txBox="1"/>
          <p:nvPr/>
        </p:nvSpPr>
        <p:spPr>
          <a:xfrm>
            <a:off x="7616952" y="3048000"/>
            <a:ext cx="1874519" cy="2651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4233F"/>
                </a:solidFill>
                <a:latin typeface="Calibri"/>
              </a:rPr>
              <a:t>WhatsApp ordering</a:t>
            </a:r>
          </a:p>
        </p:txBody>
      </p:sp>
      <p:sp>
        <p:nvSpPr>
          <p:cNvPr id="45" name="Grid present: WhatsApp ordering / iBites"/>
          <p:cNvSpPr/>
          <p:nvPr/>
        </p:nvSpPr>
        <p:spPr>
          <a:xfrm>
            <a:off x="9949357" y="3089148"/>
            <a:ext cx="182880" cy="182880"/>
          </a:xfrm>
          <a:prstGeom prst="ellipse">
            <a:avLst/>
          </a:prstGeom>
          <a:solidFill>
            <a:srgbClr val="1C7C7A"/>
          </a:solidFill>
          <a:ln w="15875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 absent: WhatsApp ordering / Earth Organic Juices"/>
          <p:cNvSpPr/>
          <p:nvPr/>
        </p:nvSpPr>
        <p:spPr>
          <a:xfrm>
            <a:off x="11048009" y="3089148"/>
            <a:ext cx="182880" cy="182880"/>
          </a:xfrm>
          <a:prstGeom prst="ellipse">
            <a:avLst/>
          </a:prstGeom>
          <a:solidFill>
            <a:srgbClr val="FFFDF8"/>
          </a:solidFill>
          <a:ln w="15875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 row: Price verified"/>
          <p:cNvSpPr txBox="1"/>
          <p:nvPr/>
        </p:nvSpPr>
        <p:spPr>
          <a:xfrm>
            <a:off x="7616952" y="3349752"/>
            <a:ext cx="1874519" cy="2651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4233F"/>
                </a:solidFill>
                <a:latin typeface="Calibri"/>
              </a:rPr>
              <a:t>Price verified</a:t>
            </a:r>
          </a:p>
        </p:txBody>
      </p:sp>
      <p:sp>
        <p:nvSpPr>
          <p:cNvPr id="48" name="Grid absent: Price verified / iBites"/>
          <p:cNvSpPr/>
          <p:nvPr/>
        </p:nvSpPr>
        <p:spPr>
          <a:xfrm>
            <a:off x="9949357" y="3390900"/>
            <a:ext cx="182880" cy="182880"/>
          </a:xfrm>
          <a:prstGeom prst="ellipse">
            <a:avLst/>
          </a:prstGeom>
          <a:solidFill>
            <a:srgbClr val="FFFDF8"/>
          </a:solidFill>
          <a:ln w="15875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 absent: Price verified / Earth Organic Juices"/>
          <p:cNvSpPr/>
          <p:nvPr/>
        </p:nvSpPr>
        <p:spPr>
          <a:xfrm>
            <a:off x="11048009" y="3390900"/>
            <a:ext cx="182880" cy="182880"/>
          </a:xfrm>
          <a:prstGeom prst="ellipse">
            <a:avLst/>
          </a:prstGeom>
          <a:solidFill>
            <a:srgbClr val="FFFDF8"/>
          </a:solidFill>
          <a:ln w="15875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 row: Offer page cited"/>
          <p:cNvSpPr txBox="1"/>
          <p:nvPr/>
        </p:nvSpPr>
        <p:spPr>
          <a:xfrm>
            <a:off x="7616952" y="3651504"/>
            <a:ext cx="1874519" cy="2651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4233F"/>
                </a:solidFill>
                <a:latin typeface="Calibri"/>
              </a:rPr>
              <a:t>Offer page cited</a:t>
            </a:r>
          </a:p>
        </p:txBody>
      </p:sp>
      <p:sp>
        <p:nvSpPr>
          <p:cNvPr id="51" name="Grid present: Offer page cited / iBites"/>
          <p:cNvSpPr/>
          <p:nvPr/>
        </p:nvSpPr>
        <p:spPr>
          <a:xfrm>
            <a:off x="9949357" y="3692652"/>
            <a:ext cx="182880" cy="182880"/>
          </a:xfrm>
          <a:prstGeom prst="ellipse">
            <a:avLst/>
          </a:prstGeom>
          <a:solidFill>
            <a:srgbClr val="1C7C7A"/>
          </a:solidFill>
          <a:ln w="15875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 present: Offer page cited / Earth Organic Juices"/>
          <p:cNvSpPr/>
          <p:nvPr/>
        </p:nvSpPr>
        <p:spPr>
          <a:xfrm>
            <a:off x="11048009" y="3692652"/>
            <a:ext cx="182880" cy="182880"/>
          </a:xfrm>
          <a:prstGeom prst="ellipse">
            <a:avLst/>
          </a:prstGeom>
          <a:solidFill>
            <a:srgbClr val="1C7C7A"/>
          </a:solidFill>
          <a:ln w="15875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 row: Testimonials retrieved"/>
          <p:cNvSpPr txBox="1"/>
          <p:nvPr/>
        </p:nvSpPr>
        <p:spPr>
          <a:xfrm>
            <a:off x="7616952" y="3953256"/>
            <a:ext cx="1874519" cy="2651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4233F"/>
                </a:solidFill>
                <a:latin typeface="Calibri"/>
              </a:rPr>
              <a:t>Testimonials retrieved</a:t>
            </a:r>
          </a:p>
        </p:txBody>
      </p:sp>
      <p:sp>
        <p:nvSpPr>
          <p:cNvPr id="54" name="Grid present: Testimonials retrieved / iBites"/>
          <p:cNvSpPr/>
          <p:nvPr/>
        </p:nvSpPr>
        <p:spPr>
          <a:xfrm>
            <a:off x="9949357" y="3994404"/>
            <a:ext cx="182880" cy="182880"/>
          </a:xfrm>
          <a:prstGeom prst="ellipse">
            <a:avLst/>
          </a:prstGeom>
          <a:solidFill>
            <a:srgbClr val="1C7C7A"/>
          </a:solidFill>
          <a:ln w="15875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 present: Testimonials retrieved / Earth Organic Juices"/>
          <p:cNvSpPr/>
          <p:nvPr/>
        </p:nvSpPr>
        <p:spPr>
          <a:xfrm>
            <a:off x="11048009" y="3994404"/>
            <a:ext cx="182880" cy="182880"/>
          </a:xfrm>
          <a:prstGeom prst="ellipse">
            <a:avLst/>
          </a:prstGeom>
          <a:solidFill>
            <a:srgbClr val="1C7C7A"/>
          </a:solidFill>
          <a:ln w="15875">
            <a:solidFill>
              <a:srgbClr val="1C7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indings card"/>
          <p:cNvSpPr/>
          <p:nvPr/>
        </p:nvSpPr>
        <p:spPr>
          <a:xfrm>
            <a:off x="7434072" y="4456176"/>
            <a:ext cx="4346143" cy="1578864"/>
          </a:xfrm>
          <a:prstGeom prst="roundRect">
            <a:avLst>
              <a:gd name="adj" fmla="val 4633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Heading: Key findings"/>
          <p:cNvSpPr txBox="1"/>
          <p:nvPr/>
        </p:nvSpPr>
        <p:spPr>
          <a:xfrm>
            <a:off x="7616952" y="4584191"/>
            <a:ext cx="398038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KEY FINDINGS</a:t>
            </a:r>
          </a:p>
        </p:txBody>
      </p:sp>
      <p:sp>
        <p:nvSpPr>
          <p:cNvPr id="58" name="Findings"/>
          <p:cNvSpPr txBox="1"/>
          <p:nvPr/>
        </p:nvSpPr>
        <p:spPr>
          <a:xfrm>
            <a:off x="7616952" y="4876800"/>
            <a:ext cx="3980383" cy="1066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3200" indent="-203200">
              <a:spcAft>
                <a:spcPts val="400"/>
              </a:spcAft>
              <a:buChar char="•"/>
            </a:pPr>
            <a:r>
              <a:rPr sz="1150" b="0" i="0">
                <a:solidFill>
                  <a:srgbClr val="14233F"/>
                </a:solidFill>
                <a:latin typeface="Calibri"/>
              </a:rPr>
              <a:t>iBites: Cold-pressed juices, wellness shots and smoothies, pressed after ordering</a:t>
            </a:r>
          </a:p>
          <a:p>
            <a:pPr algn="l" marL="203200" indent="-203200">
              <a:spcAft>
                <a:spcPts val="400"/>
              </a:spcAft>
              <a:buChar char="•"/>
            </a:pPr>
            <a:r>
              <a:rPr sz="1150" b="0" i="0">
                <a:solidFill>
                  <a:srgbClr val="14233F"/>
                </a:solidFill>
                <a:latin typeface="Calibri"/>
              </a:rPr>
              <a:t>Earth Organic Juices: Search results describe cold-pressed juices, weekly subscriptions</a:t>
            </a:r>
          </a:p>
        </p:txBody>
      </p:sp>
      <p:cxnSp>
        <p:nvCxnSpPr>
          <p:cNvPr id="59" name="Footer rule"/>
          <p:cNvCxnSpPr/>
          <p:nvPr/>
        </p:nvCxnSpPr>
        <p:spPr>
          <a:xfrm>
            <a:off x="411480" y="6437376"/>
            <a:ext cx="11368735" cy="0"/>
          </a:xfrm>
          <a:prstGeom prst="line">
            <a:avLst/>
          </a:prstGeom>
          <a:ln w="12700">
            <a:solidFill>
              <a:srgbClr val="E0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ooter"/>
          <p:cNvSpPr txBox="1"/>
          <p:nvPr/>
        </p:nvSpPr>
        <p:spPr>
          <a:xfrm>
            <a:off x="411480" y="6473952"/>
            <a:ext cx="10271455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LaunchScout | Market Landscape | Cold-pressed juice subscription, Pune | Partial evidence | run 20261014-201109-c0fe</a:t>
            </a:r>
          </a:p>
        </p:txBody>
      </p:sp>
      <p:sp>
        <p:nvSpPr>
          <p:cNvPr id="61" name="Slide number"/>
          <p:cNvSpPr txBox="1"/>
          <p:nvPr/>
        </p:nvSpPr>
        <p:spPr>
          <a:xfrm>
            <a:off x="10774375" y="6464808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block"/>
          <p:cNvSpPr/>
          <p:nvPr/>
        </p:nvSpPr>
        <p:spPr>
          <a:xfrm>
            <a:off x="411480" y="182880"/>
            <a:ext cx="2743200" cy="640080"/>
          </a:xfrm>
          <a:prstGeom prst="roundRect">
            <a:avLst>
              <a:gd name="adj" fmla="val 11428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 logo tile"/>
          <p:cNvSpPr/>
          <p:nvPr/>
        </p:nvSpPr>
        <p:spPr>
          <a:xfrm>
            <a:off x="502920" y="256032"/>
            <a:ext cx="493776" cy="493776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S logo" descr="LaunchScout L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3" y="306324"/>
            <a:ext cx="436109" cy="393192"/>
          </a:xfrm>
          <a:prstGeom prst="rect">
            <a:avLst/>
          </a:prstGeom>
        </p:spPr>
      </p:pic>
      <p:sp>
        <p:nvSpPr>
          <p:cNvPr id="5" name="Brand name"/>
          <p:cNvSpPr txBox="1"/>
          <p:nvPr/>
        </p:nvSpPr>
        <p:spPr>
          <a:xfrm>
            <a:off x="1124712" y="182880"/>
            <a:ext cx="1965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LaunchScout</a:t>
            </a:r>
          </a:p>
        </p:txBody>
      </p:sp>
      <p:sp>
        <p:nvSpPr>
          <p:cNvPr id="6" name="Brand tagline"/>
          <p:cNvSpPr txBox="1"/>
          <p:nvPr/>
        </p:nvSpPr>
        <p:spPr>
          <a:xfrm>
            <a:off x="1124712" y="512064"/>
            <a:ext cx="19659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FD6CF"/>
                </a:solidFill>
                <a:latin typeface="Calibri"/>
              </a:rPr>
              <a:t>Competitor Research Crew</a:t>
            </a:r>
          </a:p>
        </p:txBody>
      </p:sp>
      <p:sp>
        <p:nvSpPr>
          <p:cNvPr id="7" name="Evidence status"/>
          <p:cNvSpPr/>
          <p:nvPr/>
        </p:nvSpPr>
        <p:spPr>
          <a:xfrm>
            <a:off x="9924999" y="338328"/>
            <a:ext cx="1855216" cy="310896"/>
          </a:xfrm>
          <a:prstGeom prst="roundRect">
            <a:avLst>
              <a:gd name="adj" fmla="val 50000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PARTIAL EVIDENCE</a:t>
            </a:r>
          </a:p>
        </p:txBody>
      </p:sp>
      <p:sp>
        <p:nvSpPr>
          <p:cNvPr id="8" name="Slide index"/>
          <p:cNvSpPr txBox="1"/>
          <p:nvPr/>
        </p:nvSpPr>
        <p:spPr>
          <a:xfrm>
            <a:off x="3429000" y="155448"/>
            <a:ext cx="77724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9C7225"/>
                </a:solidFill>
                <a:latin typeface="Georgia"/>
              </a:rPr>
              <a:t>03.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4206240" y="155448"/>
            <a:ext cx="5490159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7B1E3A"/>
                </a:solidFill>
                <a:latin typeface="Georgia"/>
              </a:rPr>
              <a:t>Customer Insights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4206240" y="576072"/>
            <a:ext cx="549015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77A"/>
                </a:solidFill>
                <a:latin typeface="Calibri"/>
              </a:rPr>
              <a:t>What retrieved customer feedback says, and what it cannot tell us</a:t>
            </a:r>
          </a:p>
        </p:txBody>
      </p:sp>
      <p:sp>
        <p:nvSpPr>
          <p:cNvPr id="11" name="Labels"/>
          <p:cNvSpPr/>
          <p:nvPr/>
        </p:nvSpPr>
        <p:spPr>
          <a:xfrm>
            <a:off x="411480" y="987552"/>
            <a:ext cx="11368735" cy="332232"/>
          </a:xfrm>
          <a:prstGeom prst="roundRect">
            <a:avLst>
              <a:gd name="adj" fmla="val 22018"/>
            </a:avLst>
          </a:prstGeom>
          <a:solidFill>
            <a:srgbClr val="F3E3E7"/>
          </a:solidFill>
          <a:ln w="12700">
            <a:solidFill>
              <a:srgbClr val="7B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PARTIAL EVIDENCE: the source report failed acceptance   ·   Customer comments are attributed per source; unverified where noted</a:t>
            </a:r>
          </a:p>
        </p:txBody>
      </p:sp>
      <p:sp>
        <p:nvSpPr>
          <p:cNvPr id="12" name="Sources"/>
          <p:cNvSpPr txBox="1"/>
          <p:nvPr/>
        </p:nvSpPr>
        <p:spPr>
          <a:xfrm>
            <a:off x="411480" y="6089904"/>
            <a:ext cx="1136873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Sources: ibites.in · earthorganicjuices.com · instagram.com · facebook.com</a:t>
            </a:r>
          </a:p>
        </p:txBody>
      </p:sp>
      <p:sp>
        <p:nvSpPr>
          <p:cNvPr id="13" name="Themes card"/>
          <p:cNvSpPr/>
          <p:nvPr/>
        </p:nvSpPr>
        <p:spPr>
          <a:xfrm>
            <a:off x="411480" y="1429512"/>
            <a:ext cx="4023360" cy="4605528"/>
          </a:xfrm>
          <a:prstGeom prst="roundRect">
            <a:avLst>
              <a:gd name="adj" fmla="val 1818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ading: What the testimonials mention"/>
          <p:cNvSpPr txBox="1"/>
          <p:nvPr/>
        </p:nvSpPr>
        <p:spPr>
          <a:xfrm>
            <a:off x="594360" y="1575816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C7C7A"/>
                </a:solidFill>
                <a:latin typeface="Calibri"/>
              </a:rPr>
              <a:t>WHAT THE TESTIMONIALS MENTION</a:t>
            </a:r>
          </a:p>
        </p:txBody>
      </p:sp>
      <p:graphicFrame>
        <p:nvGraphicFramePr>
          <p:cNvPr id="15" name="Chart: Testimonial themes"/>
          <p:cNvGraphicFramePr>
            <a:graphicFrameLocks noGrp="1"/>
          </p:cNvGraphicFramePr>
          <p:nvPr/>
        </p:nvGraphicFramePr>
        <p:xfrm>
          <a:off x="502920" y="1886712"/>
          <a:ext cx="3840480" cy="32339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Chart caveat"/>
          <p:cNvSpPr txBox="1"/>
          <p:nvPr/>
        </p:nvSpPr>
        <p:spPr>
          <a:xfrm>
            <a:off x="594360" y="5212080"/>
            <a:ext cx="3657600" cy="713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77A"/>
                </a:solidFill>
                <a:latin typeface="Calibri"/>
              </a:rPr>
              <a:t>Keyword mentions across 8 retrieved testimonials. Theme counts are not independent customer survey results or sentiment scores.</a:t>
            </a:r>
          </a:p>
        </p:txBody>
      </p:sp>
      <p:sp>
        <p:nvSpPr>
          <p:cNvPr id="17" name="Quote card 1"/>
          <p:cNvSpPr/>
          <p:nvPr/>
        </p:nvSpPr>
        <p:spPr>
          <a:xfrm>
            <a:off x="4599432" y="1429512"/>
            <a:ext cx="4206240" cy="2220468"/>
          </a:xfrm>
          <a:prstGeom prst="roundRect">
            <a:avLst>
              <a:gd name="adj" fmla="val 3294"/>
            </a:avLst>
          </a:prstGeom>
          <a:solidFill>
            <a:srgbClr val="D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Quote 1 icon"/>
          <p:cNvSpPr/>
          <p:nvPr/>
        </p:nvSpPr>
        <p:spPr>
          <a:xfrm>
            <a:off x="4782312" y="1612392"/>
            <a:ext cx="502920" cy="502920"/>
          </a:xfrm>
          <a:prstGeom prst="ellipse">
            <a:avLst/>
          </a:prstGeom>
          <a:solidFill>
            <a:srgbClr val="1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uote 1 bubble"/>
          <p:cNvSpPr/>
          <p:nvPr/>
        </p:nvSpPr>
        <p:spPr>
          <a:xfrm>
            <a:off x="4918100" y="1748180"/>
            <a:ext cx="231343" cy="189701"/>
          </a:xfrm>
          <a:prstGeom prst="wedgeRoundRectCallo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Quote: iBites"/>
          <p:cNvSpPr txBox="1"/>
          <p:nvPr/>
        </p:nvSpPr>
        <p:spPr>
          <a:xfrm>
            <a:off x="5422392" y="1557528"/>
            <a:ext cx="3200399" cy="123291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4233F"/>
                </a:solidFill>
                <a:latin typeface="Calibri"/>
              </a:rPr>
              <a:t>“The flavor is incredibly refreshing and blends perfectly”</a:t>
            </a:r>
          </a:p>
        </p:txBody>
      </p:sp>
      <p:sp>
        <p:nvSpPr>
          <p:cNvPr id="21" name="Attribution: iBites"/>
          <p:cNvSpPr txBox="1"/>
          <p:nvPr/>
        </p:nvSpPr>
        <p:spPr>
          <a:xfrm>
            <a:off x="5422392" y="2900172"/>
            <a:ext cx="3200399" cy="6766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33F"/>
                </a:solidFill>
                <a:latin typeface="Calibri"/>
              </a:rPr>
              <a:t>iBites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Priya S · quoted on ibites.in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Not independently verified</a:t>
            </a:r>
          </a:p>
        </p:txBody>
      </p:sp>
      <p:sp>
        <p:nvSpPr>
          <p:cNvPr id="22" name="Quote card 2"/>
          <p:cNvSpPr/>
          <p:nvPr/>
        </p:nvSpPr>
        <p:spPr>
          <a:xfrm>
            <a:off x="4599432" y="3814572"/>
            <a:ext cx="4206240" cy="2220468"/>
          </a:xfrm>
          <a:prstGeom prst="roundRect">
            <a:avLst>
              <a:gd name="adj" fmla="val 3294"/>
            </a:avLst>
          </a:prstGeom>
          <a:solidFill>
            <a:srgbClr val="DD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Quote 2 icon"/>
          <p:cNvSpPr/>
          <p:nvPr/>
        </p:nvSpPr>
        <p:spPr>
          <a:xfrm>
            <a:off x="4782312" y="3997452"/>
            <a:ext cx="502920" cy="502920"/>
          </a:xfrm>
          <a:prstGeom prst="ellipse">
            <a:avLst/>
          </a:prstGeom>
          <a:solidFill>
            <a:srgbClr val="1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Quote 2 bubble"/>
          <p:cNvSpPr/>
          <p:nvPr/>
        </p:nvSpPr>
        <p:spPr>
          <a:xfrm>
            <a:off x="4918100" y="4133240"/>
            <a:ext cx="231343" cy="189701"/>
          </a:xfrm>
          <a:prstGeom prst="wedgeRoundRectCallo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Quote: Earth Organic Juices"/>
          <p:cNvSpPr txBox="1"/>
          <p:nvPr/>
        </p:nvSpPr>
        <p:spPr>
          <a:xfrm>
            <a:off x="5422392" y="3942588"/>
            <a:ext cx="3200399" cy="123291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4233F"/>
                </a:solidFill>
                <a:latin typeface="Calibri"/>
              </a:rPr>
              <a:t>“The flavor was incredibly fresh and natural, with the perfect balance of sweetness and tartness”</a:t>
            </a:r>
          </a:p>
        </p:txBody>
      </p:sp>
      <p:sp>
        <p:nvSpPr>
          <p:cNvPr id="26" name="Attribution: Earth Organic Juices"/>
          <p:cNvSpPr txBox="1"/>
          <p:nvPr/>
        </p:nvSpPr>
        <p:spPr>
          <a:xfrm>
            <a:off x="5422392" y="5285232"/>
            <a:ext cx="3200399" cy="6766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33F"/>
                </a:solidFill>
                <a:latin typeface="Calibri"/>
              </a:rPr>
              <a:t>Earth Organic Juices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Preeti Dhanve · quoted on earthorganicjuices.com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Not independently verified</a:t>
            </a:r>
          </a:p>
        </p:txBody>
      </p:sp>
      <p:sp>
        <p:nvSpPr>
          <p:cNvPr id="27" name="Evidence tile 1"/>
          <p:cNvSpPr/>
          <p:nvPr/>
        </p:nvSpPr>
        <p:spPr>
          <a:xfrm>
            <a:off x="8970263" y="1429512"/>
            <a:ext cx="2809951" cy="86868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ccent"/>
          <p:cNvSpPr/>
          <p:nvPr/>
        </p:nvSpPr>
        <p:spPr>
          <a:xfrm>
            <a:off x="8970263" y="1429512"/>
            <a:ext cx="82296" cy="868680"/>
          </a:xfrm>
          <a:prstGeom prst="rect">
            <a:avLst/>
          </a:prstGeom>
          <a:solidFill>
            <a:srgbClr val="1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ile value 1"/>
          <p:cNvSpPr txBox="1"/>
          <p:nvPr/>
        </p:nvSpPr>
        <p:spPr>
          <a:xfrm>
            <a:off x="9198863" y="1484376"/>
            <a:ext cx="731520" cy="7589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C7C7A"/>
                </a:solidFill>
                <a:latin typeface="Georgia"/>
              </a:rPr>
              <a:t>8</a:t>
            </a:r>
          </a:p>
        </p:txBody>
      </p:sp>
      <p:sp>
        <p:nvSpPr>
          <p:cNvPr id="30" name="Tile label 1"/>
          <p:cNvSpPr txBox="1"/>
          <p:nvPr/>
        </p:nvSpPr>
        <p:spPr>
          <a:xfrm>
            <a:off x="10021824" y="1484376"/>
            <a:ext cx="1621231" cy="7589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233F"/>
                </a:solidFill>
                <a:latin typeface="Calibri"/>
              </a:rPr>
              <a:t>Praise retrieved</a:t>
            </a:r>
          </a:p>
        </p:txBody>
      </p:sp>
      <p:sp>
        <p:nvSpPr>
          <p:cNvPr id="31" name="Evidence tile 2"/>
          <p:cNvSpPr/>
          <p:nvPr/>
        </p:nvSpPr>
        <p:spPr>
          <a:xfrm>
            <a:off x="8970263" y="2407920"/>
            <a:ext cx="2809951" cy="86868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ccent"/>
          <p:cNvSpPr/>
          <p:nvPr/>
        </p:nvSpPr>
        <p:spPr>
          <a:xfrm>
            <a:off x="8970263" y="2407920"/>
            <a:ext cx="82296" cy="86868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ile value 2"/>
          <p:cNvSpPr txBox="1"/>
          <p:nvPr/>
        </p:nvSpPr>
        <p:spPr>
          <a:xfrm>
            <a:off x="9198863" y="2462784"/>
            <a:ext cx="731520" cy="7589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7B1E3A"/>
                </a:solidFill>
                <a:latin typeface="Georgia"/>
              </a:rPr>
              <a:t>0</a:t>
            </a:r>
          </a:p>
        </p:txBody>
      </p:sp>
      <p:sp>
        <p:nvSpPr>
          <p:cNvPr id="34" name="Tile label 2"/>
          <p:cNvSpPr txBox="1"/>
          <p:nvPr/>
        </p:nvSpPr>
        <p:spPr>
          <a:xfrm>
            <a:off x="10021824" y="2462784"/>
            <a:ext cx="1621231" cy="7589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233F"/>
                </a:solidFill>
                <a:latin typeface="Calibri"/>
              </a:rPr>
              <a:t>Complaints retrieved</a:t>
            </a:r>
          </a:p>
        </p:txBody>
      </p:sp>
      <p:sp>
        <p:nvSpPr>
          <p:cNvPr id="35" name="Complaint caveat"/>
          <p:cNvSpPr/>
          <p:nvPr/>
        </p:nvSpPr>
        <p:spPr>
          <a:xfrm>
            <a:off x="8970263" y="3386328"/>
            <a:ext cx="2809951" cy="768096"/>
          </a:xfrm>
          <a:prstGeom prst="roundRect">
            <a:avLst>
              <a:gd name="adj" fmla="val 9523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33F"/>
                </a:solidFill>
                <a:latin typeface="Calibri"/>
              </a:rPr>
              <a:t>No complaints were retrieved. That is not evidence that customers have none.</a:t>
            </a:r>
          </a:p>
        </p:txBody>
      </p:sp>
      <p:sp>
        <p:nvSpPr>
          <p:cNvPr id="36" name="Heading: Limits of the data"/>
          <p:cNvSpPr txBox="1"/>
          <p:nvPr/>
        </p:nvSpPr>
        <p:spPr>
          <a:xfrm>
            <a:off x="8970263" y="4291584"/>
            <a:ext cx="2809951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A"/>
                </a:solidFill>
                <a:latin typeface="Calibri"/>
              </a:rPr>
              <a:t>LIMITS OF THE DATA</a:t>
            </a:r>
          </a:p>
        </p:txBody>
      </p:sp>
      <p:sp>
        <p:nvSpPr>
          <p:cNvPr id="37" name="Limitations"/>
          <p:cNvSpPr txBox="1"/>
          <p:nvPr/>
        </p:nvSpPr>
        <p:spPr>
          <a:xfrm>
            <a:off x="8970263" y="4584192"/>
            <a:ext cx="2809951" cy="1432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3200" indent="-203200">
              <a:spcAft>
                <a:spcPts val="400"/>
              </a:spcAft>
              <a:buChar char="•"/>
            </a:pPr>
            <a:r>
              <a:rPr sz="1150" b="0" i="0">
                <a:solidFill>
                  <a:srgbClr val="14233F"/>
                </a:solidFill>
                <a:latin typeface="Calibri"/>
              </a:rPr>
              <a:t>No verifiable customer complaints were retrieved for either competitor</a:t>
            </a:r>
          </a:p>
          <a:p>
            <a:pPr algn="l" marL="203200" indent="-203200">
              <a:spcAft>
                <a:spcPts val="400"/>
              </a:spcAft>
              <a:buChar char="•"/>
            </a:pPr>
            <a:r>
              <a:rPr sz="1150" b="0" i="0">
                <a:solidFill>
                  <a:srgbClr val="14233F"/>
                </a:solidFill>
                <a:latin typeface="Calibri"/>
              </a:rPr>
              <a:t>iBites praise found in this research is on the company’s own website</a:t>
            </a:r>
          </a:p>
          <a:p>
            <a:pPr algn="l" marL="203200" indent="-203200">
              <a:spcAft>
                <a:spcPts val="400"/>
              </a:spcAft>
              <a:buChar char="•"/>
            </a:pPr>
            <a:r>
              <a:rPr sz="1150" b="0" i="0">
                <a:solidFill>
                  <a:srgbClr val="14233F"/>
                </a:solidFill>
                <a:latin typeface="Calibri"/>
              </a:rPr>
              <a:t>Earth Organic Juices praise found in this research is on the company’s own website</a:t>
            </a:r>
          </a:p>
        </p:txBody>
      </p:sp>
      <p:cxnSp>
        <p:nvCxnSpPr>
          <p:cNvPr id="38" name="Footer rule"/>
          <p:cNvCxnSpPr/>
          <p:nvPr/>
        </p:nvCxnSpPr>
        <p:spPr>
          <a:xfrm>
            <a:off x="411480" y="6437376"/>
            <a:ext cx="11368735" cy="0"/>
          </a:xfrm>
          <a:prstGeom prst="line">
            <a:avLst/>
          </a:prstGeom>
          <a:ln w="12700">
            <a:solidFill>
              <a:srgbClr val="E0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ooter"/>
          <p:cNvSpPr txBox="1"/>
          <p:nvPr/>
        </p:nvSpPr>
        <p:spPr>
          <a:xfrm>
            <a:off x="411480" y="6473952"/>
            <a:ext cx="10271455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LaunchScout | Customer Insights | Cold-pressed juice subscription, Pune | Partial evidence | run 20261014-201109-c0fe</a:t>
            </a:r>
          </a:p>
        </p:txBody>
      </p:sp>
      <p:sp>
        <p:nvSpPr>
          <p:cNvPr id="40" name="Slide number"/>
          <p:cNvSpPr txBox="1"/>
          <p:nvPr/>
        </p:nvSpPr>
        <p:spPr>
          <a:xfrm>
            <a:off x="10774375" y="6464808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block"/>
          <p:cNvSpPr/>
          <p:nvPr/>
        </p:nvSpPr>
        <p:spPr>
          <a:xfrm>
            <a:off x="411480" y="182880"/>
            <a:ext cx="2743200" cy="640080"/>
          </a:xfrm>
          <a:prstGeom prst="roundRect">
            <a:avLst>
              <a:gd name="adj" fmla="val 11428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 logo tile"/>
          <p:cNvSpPr/>
          <p:nvPr/>
        </p:nvSpPr>
        <p:spPr>
          <a:xfrm>
            <a:off x="502920" y="256032"/>
            <a:ext cx="493776" cy="493776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S logo" descr="LaunchScout L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3" y="306324"/>
            <a:ext cx="436109" cy="393192"/>
          </a:xfrm>
          <a:prstGeom prst="rect">
            <a:avLst/>
          </a:prstGeom>
        </p:spPr>
      </p:pic>
      <p:sp>
        <p:nvSpPr>
          <p:cNvPr id="5" name="Brand name"/>
          <p:cNvSpPr txBox="1"/>
          <p:nvPr/>
        </p:nvSpPr>
        <p:spPr>
          <a:xfrm>
            <a:off x="1124712" y="182880"/>
            <a:ext cx="1965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LaunchScout</a:t>
            </a:r>
          </a:p>
        </p:txBody>
      </p:sp>
      <p:sp>
        <p:nvSpPr>
          <p:cNvPr id="6" name="Brand tagline"/>
          <p:cNvSpPr txBox="1"/>
          <p:nvPr/>
        </p:nvSpPr>
        <p:spPr>
          <a:xfrm>
            <a:off x="1124712" y="512064"/>
            <a:ext cx="19659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FD6CF"/>
                </a:solidFill>
                <a:latin typeface="Calibri"/>
              </a:rPr>
              <a:t>Competitor Research Crew</a:t>
            </a:r>
          </a:p>
        </p:txBody>
      </p:sp>
      <p:sp>
        <p:nvSpPr>
          <p:cNvPr id="7" name="Evidence status"/>
          <p:cNvSpPr/>
          <p:nvPr/>
        </p:nvSpPr>
        <p:spPr>
          <a:xfrm>
            <a:off x="9924999" y="338328"/>
            <a:ext cx="1855216" cy="310896"/>
          </a:xfrm>
          <a:prstGeom prst="roundRect">
            <a:avLst>
              <a:gd name="adj" fmla="val 50000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PARTIAL EVIDENCE</a:t>
            </a:r>
          </a:p>
        </p:txBody>
      </p:sp>
      <p:sp>
        <p:nvSpPr>
          <p:cNvPr id="8" name="Slide index"/>
          <p:cNvSpPr txBox="1"/>
          <p:nvPr/>
        </p:nvSpPr>
        <p:spPr>
          <a:xfrm>
            <a:off x="3429000" y="155448"/>
            <a:ext cx="77724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9C7225"/>
                </a:solidFill>
                <a:latin typeface="Georgia"/>
              </a:rPr>
              <a:t>04.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4206240" y="155448"/>
            <a:ext cx="5490159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7B1E3A"/>
                </a:solidFill>
                <a:latin typeface="Georgia"/>
              </a:rPr>
              <a:t>Solution &amp; Differentiation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4206240" y="576072"/>
            <a:ext cx="549015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77A"/>
                </a:solidFill>
                <a:latin typeface="Calibri"/>
              </a:rPr>
              <a:t>From observed evidence to a recommended, differentiated offer</a:t>
            </a:r>
          </a:p>
        </p:txBody>
      </p:sp>
      <p:sp>
        <p:nvSpPr>
          <p:cNvPr id="11" name="Labels"/>
          <p:cNvSpPr/>
          <p:nvPr/>
        </p:nvSpPr>
        <p:spPr>
          <a:xfrm>
            <a:off x="411480" y="987552"/>
            <a:ext cx="11368735" cy="332232"/>
          </a:xfrm>
          <a:prstGeom prst="roundRect">
            <a:avLst>
              <a:gd name="adj" fmla="val 22018"/>
            </a:avLst>
          </a:prstGeom>
          <a:solidFill>
            <a:srgbClr val="F3E3E7"/>
          </a:solidFill>
          <a:ln w="12700">
            <a:solidFill>
              <a:srgbClr val="7B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PARTIAL EVIDENCE: the source report failed acceptance   ·   Assumption: the gap is an inference from this research, not a market size</a:t>
            </a:r>
          </a:p>
        </p:txBody>
      </p:sp>
      <p:sp>
        <p:nvSpPr>
          <p:cNvPr id="12" name="Sources"/>
          <p:cNvSpPr txBox="1"/>
          <p:nvPr/>
        </p:nvSpPr>
        <p:spPr>
          <a:xfrm>
            <a:off x="411480" y="6089904"/>
            <a:ext cx="1136873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Sources: Strategy: recommendation · ibites.in · instagram.com</a:t>
            </a:r>
          </a:p>
        </p:txBody>
      </p:sp>
      <p:sp>
        <p:nvSpPr>
          <p:cNvPr id="13" name="Value proposition"/>
          <p:cNvSpPr/>
          <p:nvPr/>
        </p:nvSpPr>
        <p:spPr>
          <a:xfrm>
            <a:off x="411480" y="1429512"/>
            <a:ext cx="11368735" cy="841248"/>
          </a:xfrm>
          <a:prstGeom prst="roundRect">
            <a:avLst>
              <a:gd name="adj" fmla="val 8695"/>
            </a:avLst>
          </a:prstGeom>
          <a:solidFill>
            <a:srgbClr val="F3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sitioning tag"/>
          <p:cNvSpPr/>
          <p:nvPr/>
        </p:nvSpPr>
        <p:spPr>
          <a:xfrm>
            <a:off x="640080" y="1694688"/>
            <a:ext cx="167360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B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RECOMMENDATION</a:t>
            </a:r>
          </a:p>
        </p:txBody>
      </p:sp>
      <p:sp>
        <p:nvSpPr>
          <p:cNvPr id="15" name="Value proposition text"/>
          <p:cNvSpPr txBox="1"/>
          <p:nvPr/>
        </p:nvSpPr>
        <p:spPr>
          <a:xfrm>
            <a:off x="2588006" y="1484376"/>
            <a:ext cx="8963609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1">
                <a:solidFill>
                  <a:srgbClr val="14233F"/>
                </a:solidFill>
                <a:latin typeface="Georgia"/>
              </a:rPr>
              <a:t>A Pune cold-pressed juice subscription with clear per-juice pricing and a week of choice or planned variety.</a:t>
            </a:r>
          </a:p>
        </p:txBody>
      </p:sp>
      <p:sp>
        <p:nvSpPr>
          <p:cNvPr id="16" name="Stage 1"/>
          <p:cNvSpPr/>
          <p:nvPr/>
        </p:nvSpPr>
        <p:spPr>
          <a:xfrm>
            <a:off x="411480" y="2453640"/>
            <a:ext cx="2595295" cy="2438400"/>
          </a:xfrm>
          <a:prstGeom prst="roundRect">
            <a:avLst>
              <a:gd name="adj" fmla="val 3000"/>
            </a:avLst>
          </a:prstGeom>
          <a:solidFill>
            <a:srgbClr val="D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icon"/>
          <p:cNvSpPr/>
          <p:nvPr/>
        </p:nvSpPr>
        <p:spPr>
          <a:xfrm>
            <a:off x="576072" y="2599944"/>
            <a:ext cx="512064" cy="512064"/>
          </a:xfrm>
          <a:prstGeom prst="ellipse">
            <a:avLst/>
          </a:prstGeom>
          <a:solidFill>
            <a:srgbClr val="1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bar0"/>
          <p:cNvSpPr/>
          <p:nvPr/>
        </p:nvSpPr>
        <p:spPr>
          <a:xfrm>
            <a:off x="714329" y="2867753"/>
            <a:ext cx="61242" cy="105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ge 1 bar1"/>
          <p:cNvSpPr/>
          <p:nvPr/>
        </p:nvSpPr>
        <p:spPr>
          <a:xfrm>
            <a:off x="799127" y="2797088"/>
            <a:ext cx="61242" cy="1766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bar2"/>
          <p:cNvSpPr/>
          <p:nvPr/>
        </p:nvSpPr>
        <p:spPr>
          <a:xfrm>
            <a:off x="883924" y="2738201"/>
            <a:ext cx="61242" cy="2355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1 tag"/>
          <p:cNvSpPr txBox="1"/>
          <p:nvPr/>
        </p:nvSpPr>
        <p:spPr>
          <a:xfrm>
            <a:off x="1188720" y="2636520"/>
            <a:ext cx="168089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7C7A"/>
                </a:solidFill>
                <a:latin typeface="Calibri"/>
              </a:rPr>
              <a:t>OBSERVED · PUBLIC PAGES</a:t>
            </a:r>
          </a:p>
        </p:txBody>
      </p:sp>
      <p:sp>
        <p:nvSpPr>
          <p:cNvPr id="22" name="Stage 1 title"/>
          <p:cNvSpPr txBox="1"/>
          <p:nvPr/>
        </p:nvSpPr>
        <p:spPr>
          <a:xfrm>
            <a:off x="576072" y="3185160"/>
            <a:ext cx="2266111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33F"/>
                </a:solidFill>
                <a:latin typeface="Georgia"/>
              </a:rPr>
              <a:t>Market evidence</a:t>
            </a:r>
          </a:p>
        </p:txBody>
      </p:sp>
      <p:sp>
        <p:nvSpPr>
          <p:cNvPr id="23" name="Stage 1 text"/>
          <p:cNvSpPr txBox="1"/>
          <p:nvPr/>
        </p:nvSpPr>
        <p:spPr>
          <a:xfrm>
            <a:off x="576072" y="3624072"/>
            <a:ext cx="2266111" cy="1176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3200" indent="-203200">
              <a:spcAft>
                <a:spcPts val="5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iBites: Describes Pune delivery, including Baner, Kothrud, Viman Nagar</a:t>
            </a:r>
          </a:p>
          <a:p>
            <a:pPr algn="l" marL="203200" indent="-203200">
              <a:spcAft>
                <a:spcPts val="5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Earth Organic Juices: Supplied search results describe Pune and PCMC delivery</a:t>
            </a:r>
          </a:p>
        </p:txBody>
      </p:sp>
      <p:cxnSp>
        <p:nvCxnSpPr>
          <p:cNvPr id="24" name="Flow arrow 1"/>
          <p:cNvCxnSpPr/>
          <p:nvPr/>
        </p:nvCxnSpPr>
        <p:spPr>
          <a:xfrm>
            <a:off x="3034207" y="3672840"/>
            <a:ext cx="274320" cy="0"/>
          </a:xfrm>
          <a:prstGeom prst="line">
            <a:avLst/>
          </a:prstGeom>
          <a:ln w="38100">
            <a:solidFill>
              <a:srgbClr val="1C7C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age 2"/>
          <p:cNvSpPr/>
          <p:nvPr/>
        </p:nvSpPr>
        <p:spPr>
          <a:xfrm>
            <a:off x="3335959" y="2453640"/>
            <a:ext cx="2595295" cy="2438400"/>
          </a:xfrm>
          <a:prstGeom prst="roundRect">
            <a:avLst>
              <a:gd name="adj" fmla="val 3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2 icon"/>
          <p:cNvSpPr/>
          <p:nvPr/>
        </p:nvSpPr>
        <p:spPr>
          <a:xfrm>
            <a:off x="3500551" y="2599944"/>
            <a:ext cx="512064" cy="512064"/>
          </a:xfrm>
          <a:prstGeom prst="ellipse">
            <a:avLst/>
          </a:prstGeom>
          <a:solidFill>
            <a:srgbClr val="9C7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2 ring"/>
          <p:cNvSpPr/>
          <p:nvPr/>
        </p:nvSpPr>
        <p:spPr>
          <a:xfrm>
            <a:off x="3638809" y="2738201"/>
            <a:ext cx="235549" cy="235549"/>
          </a:xfrm>
          <a:prstGeom prst="don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2 dot"/>
          <p:cNvSpPr/>
          <p:nvPr/>
        </p:nvSpPr>
        <p:spPr>
          <a:xfrm>
            <a:off x="3718895" y="2818288"/>
            <a:ext cx="75375" cy="7537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age 2 tag"/>
          <p:cNvSpPr txBox="1"/>
          <p:nvPr/>
        </p:nvSpPr>
        <p:spPr>
          <a:xfrm>
            <a:off x="4113199" y="2636520"/>
            <a:ext cx="168089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C7225"/>
                </a:solidFill>
                <a:latin typeface="Calibri"/>
              </a:rPr>
              <a:t>INFERENCE</a:t>
            </a:r>
          </a:p>
        </p:txBody>
      </p:sp>
      <p:sp>
        <p:nvSpPr>
          <p:cNvPr id="30" name="Stage 2 title"/>
          <p:cNvSpPr txBox="1"/>
          <p:nvPr/>
        </p:nvSpPr>
        <p:spPr>
          <a:xfrm>
            <a:off x="3500551" y="3185160"/>
            <a:ext cx="2266111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33F"/>
                </a:solidFill>
                <a:latin typeface="Georgia"/>
              </a:rPr>
              <a:t>Research-visible gap</a:t>
            </a:r>
          </a:p>
        </p:txBody>
      </p:sp>
      <p:sp>
        <p:nvSpPr>
          <p:cNvPr id="31" name="Stage 2 text"/>
          <p:cNvSpPr txBox="1"/>
          <p:nvPr/>
        </p:nvSpPr>
        <p:spPr>
          <a:xfrm>
            <a:off x="3500551" y="3624072"/>
            <a:ext cx="2266111" cy="1176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3200" indent="-203200">
              <a:spcAft>
                <a:spcPts val="5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Research-visible opportunity, not a claim of exclusivity: clearly state the per-juice price and pack size</a:t>
            </a:r>
          </a:p>
          <a:p>
            <a:pPr algn="l" marL="203200" indent="-203200">
              <a:spcAft>
                <a:spcPts val="5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An inference from this research, not a market size.</a:t>
            </a:r>
          </a:p>
        </p:txBody>
      </p:sp>
      <p:cxnSp>
        <p:nvCxnSpPr>
          <p:cNvPr id="32" name="Flow arrow 2"/>
          <p:cNvCxnSpPr/>
          <p:nvPr/>
        </p:nvCxnSpPr>
        <p:spPr>
          <a:xfrm>
            <a:off x="5958687" y="3672840"/>
            <a:ext cx="274320" cy="0"/>
          </a:xfrm>
          <a:prstGeom prst="line">
            <a:avLst/>
          </a:prstGeom>
          <a:ln w="38100">
            <a:solidFill>
              <a:srgbClr val="9C72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tage 3"/>
          <p:cNvSpPr/>
          <p:nvPr/>
        </p:nvSpPr>
        <p:spPr>
          <a:xfrm>
            <a:off x="6260439" y="2453640"/>
            <a:ext cx="2595295" cy="2438400"/>
          </a:xfrm>
          <a:prstGeom prst="roundRect">
            <a:avLst>
              <a:gd name="adj" fmla="val 3000"/>
            </a:avLst>
          </a:prstGeom>
          <a:solidFill>
            <a:srgbClr val="F3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age 3 icon"/>
          <p:cNvSpPr/>
          <p:nvPr/>
        </p:nvSpPr>
        <p:spPr>
          <a:xfrm>
            <a:off x="6425031" y="2599944"/>
            <a:ext cx="512064" cy="512064"/>
          </a:xfrm>
          <a:prstGeom prst="ellipse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3 star"/>
          <p:cNvSpPr/>
          <p:nvPr/>
        </p:nvSpPr>
        <p:spPr>
          <a:xfrm>
            <a:off x="6563288" y="2738201"/>
            <a:ext cx="235549" cy="235549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age 3 tag"/>
          <p:cNvSpPr txBox="1"/>
          <p:nvPr/>
        </p:nvSpPr>
        <p:spPr>
          <a:xfrm>
            <a:off x="7037679" y="2636520"/>
            <a:ext cx="168089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B1E3A"/>
                </a:solidFill>
                <a:latin typeface="Calibri"/>
              </a:rPr>
              <a:t>RECOMMENDATION</a:t>
            </a:r>
          </a:p>
        </p:txBody>
      </p:sp>
      <p:sp>
        <p:nvSpPr>
          <p:cNvPr id="37" name="Stage 3 title"/>
          <p:cNvSpPr txBox="1"/>
          <p:nvPr/>
        </p:nvSpPr>
        <p:spPr>
          <a:xfrm>
            <a:off x="6425031" y="3185160"/>
            <a:ext cx="2266111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33F"/>
                </a:solidFill>
                <a:latin typeface="Georgia"/>
              </a:rPr>
              <a:t>Proposed solution</a:t>
            </a:r>
          </a:p>
        </p:txBody>
      </p:sp>
      <p:sp>
        <p:nvSpPr>
          <p:cNvPr id="38" name="Stage 3 text"/>
          <p:cNvSpPr txBox="1"/>
          <p:nvPr/>
        </p:nvSpPr>
        <p:spPr>
          <a:xfrm>
            <a:off x="6425031" y="3624072"/>
            <a:ext cx="2266111" cy="1176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3200" indent="-203200">
              <a:spcAft>
                <a:spcPts val="5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A seven-day Pune cold-pressed juice subscription with one juice per day</a:t>
            </a:r>
          </a:p>
          <a:p>
            <a:pPr algn="l" marL="203200" indent="-203200">
              <a:spcAft>
                <a:spcPts val="5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The recommendation addresses a visible information gap in the supplied research</a:t>
            </a:r>
          </a:p>
        </p:txBody>
      </p:sp>
      <p:cxnSp>
        <p:nvCxnSpPr>
          <p:cNvPr id="39" name="Flow arrow 3"/>
          <p:cNvCxnSpPr/>
          <p:nvPr/>
        </p:nvCxnSpPr>
        <p:spPr>
          <a:xfrm>
            <a:off x="8883167" y="3672840"/>
            <a:ext cx="274320" cy="0"/>
          </a:xfrm>
          <a:prstGeom prst="line">
            <a:avLst/>
          </a:prstGeom>
          <a:ln w="38100">
            <a:solidFill>
              <a:srgbClr val="7B1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tage 4"/>
          <p:cNvSpPr/>
          <p:nvPr/>
        </p:nvSpPr>
        <p:spPr>
          <a:xfrm>
            <a:off x="9184919" y="2453640"/>
            <a:ext cx="2595295" cy="2438400"/>
          </a:xfrm>
          <a:prstGeom prst="roundRect">
            <a:avLst>
              <a:gd name="adj" fmla="val 3000"/>
            </a:avLst>
          </a:prstGeom>
          <a:solidFill>
            <a:srgbClr val="DD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tage 4 icon"/>
          <p:cNvSpPr/>
          <p:nvPr/>
        </p:nvSpPr>
        <p:spPr>
          <a:xfrm>
            <a:off x="9349511" y="2599944"/>
            <a:ext cx="512064" cy="512064"/>
          </a:xfrm>
          <a:prstGeom prst="ellipse">
            <a:avLst/>
          </a:prstGeom>
          <a:solidFill>
            <a:srgbClr val="34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tage 4 bolt"/>
          <p:cNvSpPr/>
          <p:nvPr/>
        </p:nvSpPr>
        <p:spPr>
          <a:xfrm>
            <a:off x="9487768" y="2738201"/>
            <a:ext cx="235549" cy="235549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age 4 tag"/>
          <p:cNvSpPr txBox="1"/>
          <p:nvPr/>
        </p:nvSpPr>
        <p:spPr>
          <a:xfrm>
            <a:off x="9962159" y="2636520"/>
            <a:ext cx="168089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699A"/>
                </a:solidFill>
                <a:latin typeface="Calibri"/>
              </a:rPr>
              <a:t>RECOMMENDATION</a:t>
            </a:r>
          </a:p>
        </p:txBody>
      </p:sp>
      <p:sp>
        <p:nvSpPr>
          <p:cNvPr id="44" name="Stage 4 title"/>
          <p:cNvSpPr txBox="1"/>
          <p:nvPr/>
        </p:nvSpPr>
        <p:spPr>
          <a:xfrm>
            <a:off x="9349511" y="3185160"/>
            <a:ext cx="2266111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33F"/>
                </a:solidFill>
                <a:latin typeface="Georgia"/>
              </a:rPr>
              <a:t>How we differentiate</a:t>
            </a:r>
          </a:p>
        </p:txBody>
      </p:sp>
      <p:sp>
        <p:nvSpPr>
          <p:cNvPr id="45" name="Stage 4 text"/>
          <p:cNvSpPr txBox="1"/>
          <p:nvPr/>
        </p:nvSpPr>
        <p:spPr>
          <a:xfrm>
            <a:off x="9349511" y="3624072"/>
            <a:ext cx="2266111" cy="1176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3200" indent="-203200">
              <a:spcAft>
                <a:spcPts val="500"/>
              </a:spcAft>
              <a:buChar char="•"/>
            </a:pPr>
            <a:r>
              <a:rPr sz="1200" b="0" i="0">
                <a:solidFill>
                  <a:srgbClr val="14233F"/>
                </a:solidFill>
                <a:latin typeface="Calibri"/>
              </a:rPr>
              <a:t>Make weekly choice or rotation terms explicit</a:t>
            </a:r>
          </a:p>
          <a:p>
            <a:pPr algn="l" marL="203200" indent="-203200">
              <a:spcAft>
                <a:spcPts val="500"/>
              </a:spcAft>
              <a:buChar char="•"/>
            </a:pPr>
            <a:r>
              <a:rPr sz="1200" b="0" i="0">
                <a:solidFill>
                  <a:srgbClr val="14233F"/>
                </a:solidFill>
                <a:latin typeface="Calibri"/>
              </a:rPr>
              <a:t>Earth Organic Juices' weekly-plan variety terms are unknown</a:t>
            </a:r>
          </a:p>
        </p:txBody>
      </p:sp>
      <p:sp>
        <p:nvSpPr>
          <p:cNvPr id="46" name="Unknowns strip"/>
          <p:cNvSpPr/>
          <p:nvPr/>
        </p:nvSpPr>
        <p:spPr>
          <a:xfrm>
            <a:off x="411480" y="5029200"/>
            <a:ext cx="11368735" cy="1005840"/>
          </a:xfrm>
          <a:prstGeom prst="roundRect">
            <a:avLst>
              <a:gd name="adj" fmla="val 7272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Unknowns heading"/>
          <p:cNvSpPr txBox="1"/>
          <p:nvPr/>
        </p:nvSpPr>
        <p:spPr>
          <a:xfrm>
            <a:off x="594360" y="5102352"/>
            <a:ext cx="1554480" cy="8595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B677A"/>
                </a:solidFill>
                <a:latin typeface="Calibri"/>
              </a:rPr>
              <a:t>STILL UNKNOWN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not assumed</a:t>
            </a:r>
          </a:p>
        </p:txBody>
      </p:sp>
      <p:sp>
        <p:nvSpPr>
          <p:cNvPr id="48" name="Unknown: iBites: Unit price and pack size NOT VERIFIED"/>
          <p:cNvSpPr/>
          <p:nvPr/>
        </p:nvSpPr>
        <p:spPr>
          <a:xfrm>
            <a:off x="2240280" y="5157216"/>
            <a:ext cx="4609947" cy="292608"/>
          </a:xfrm>
          <a:prstGeom prst="roundRect">
            <a:avLst>
              <a:gd name="adj" fmla="val 25000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9C7225"/>
                </a:solidFill>
                <a:latin typeface="Calibri"/>
              </a:rPr>
              <a:t>iBites: Unit price and pack size NOT VERIFIED</a:t>
            </a:r>
          </a:p>
        </p:txBody>
      </p:sp>
      <p:sp>
        <p:nvSpPr>
          <p:cNvPr id="49" name="Unknown: Earth Organic Juices: Unit price and pack size NOT VERIFIED"/>
          <p:cNvSpPr/>
          <p:nvPr/>
        </p:nvSpPr>
        <p:spPr>
          <a:xfrm>
            <a:off x="6987387" y="5157216"/>
            <a:ext cx="4609947" cy="292608"/>
          </a:xfrm>
          <a:prstGeom prst="roundRect">
            <a:avLst>
              <a:gd name="adj" fmla="val 25000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9C7225"/>
                </a:solidFill>
                <a:latin typeface="Calibri"/>
              </a:rPr>
              <a:t>Earth Organic Juices: Unit price and pack size NOT VERIFIED</a:t>
            </a:r>
          </a:p>
        </p:txBody>
      </p:sp>
      <p:sp>
        <p:nvSpPr>
          <p:cNvPr id="50" name="Unknown: Earth Organic Juices: Weekly-plan variety terms UNKNOWN"/>
          <p:cNvSpPr/>
          <p:nvPr/>
        </p:nvSpPr>
        <p:spPr>
          <a:xfrm>
            <a:off x="2240280" y="5522976"/>
            <a:ext cx="4609947" cy="292608"/>
          </a:xfrm>
          <a:prstGeom prst="roundRect">
            <a:avLst>
              <a:gd name="adj" fmla="val 25000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9C7225"/>
                </a:solidFill>
                <a:latin typeface="Calibri"/>
              </a:rPr>
              <a:t>Earth Organic Juices: Weekly-plan variety terms UNKNOWN</a:t>
            </a:r>
          </a:p>
        </p:txBody>
      </p:sp>
      <p:cxnSp>
        <p:nvCxnSpPr>
          <p:cNvPr id="51" name="Footer rule"/>
          <p:cNvCxnSpPr/>
          <p:nvPr/>
        </p:nvCxnSpPr>
        <p:spPr>
          <a:xfrm>
            <a:off x="411480" y="6437376"/>
            <a:ext cx="11368735" cy="0"/>
          </a:xfrm>
          <a:prstGeom prst="line">
            <a:avLst/>
          </a:prstGeom>
          <a:ln w="12700">
            <a:solidFill>
              <a:srgbClr val="E0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ooter"/>
          <p:cNvSpPr txBox="1"/>
          <p:nvPr/>
        </p:nvSpPr>
        <p:spPr>
          <a:xfrm>
            <a:off x="411480" y="6473952"/>
            <a:ext cx="10271455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LaunchScout | Solution &amp; Differentiation | Cold-pressed juice subscription, Pune | Partial evidence | run 20261014-201109-c0fe</a:t>
            </a:r>
          </a:p>
        </p:txBody>
      </p:sp>
      <p:sp>
        <p:nvSpPr>
          <p:cNvPr id="53" name="Slide number"/>
          <p:cNvSpPr txBox="1"/>
          <p:nvPr/>
        </p:nvSpPr>
        <p:spPr>
          <a:xfrm>
            <a:off x="10774375" y="6464808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block"/>
          <p:cNvSpPr/>
          <p:nvPr/>
        </p:nvSpPr>
        <p:spPr>
          <a:xfrm>
            <a:off x="411480" y="182880"/>
            <a:ext cx="2743200" cy="640080"/>
          </a:xfrm>
          <a:prstGeom prst="roundRect">
            <a:avLst>
              <a:gd name="adj" fmla="val 11428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 logo tile"/>
          <p:cNvSpPr/>
          <p:nvPr/>
        </p:nvSpPr>
        <p:spPr>
          <a:xfrm>
            <a:off x="502920" y="256032"/>
            <a:ext cx="493776" cy="493776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S logo" descr="LaunchScout L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3" y="306324"/>
            <a:ext cx="436109" cy="393192"/>
          </a:xfrm>
          <a:prstGeom prst="rect">
            <a:avLst/>
          </a:prstGeom>
        </p:spPr>
      </p:pic>
      <p:sp>
        <p:nvSpPr>
          <p:cNvPr id="5" name="Brand name"/>
          <p:cNvSpPr txBox="1"/>
          <p:nvPr/>
        </p:nvSpPr>
        <p:spPr>
          <a:xfrm>
            <a:off x="1124712" y="182880"/>
            <a:ext cx="1965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LaunchScout</a:t>
            </a:r>
          </a:p>
        </p:txBody>
      </p:sp>
      <p:sp>
        <p:nvSpPr>
          <p:cNvPr id="6" name="Brand tagline"/>
          <p:cNvSpPr txBox="1"/>
          <p:nvPr/>
        </p:nvSpPr>
        <p:spPr>
          <a:xfrm>
            <a:off x="1124712" y="512064"/>
            <a:ext cx="19659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FD6CF"/>
                </a:solidFill>
                <a:latin typeface="Calibri"/>
              </a:rPr>
              <a:t>Competitor Research Crew</a:t>
            </a:r>
          </a:p>
        </p:txBody>
      </p:sp>
      <p:sp>
        <p:nvSpPr>
          <p:cNvPr id="7" name="Evidence status"/>
          <p:cNvSpPr/>
          <p:nvPr/>
        </p:nvSpPr>
        <p:spPr>
          <a:xfrm>
            <a:off x="9924999" y="338328"/>
            <a:ext cx="1855216" cy="310896"/>
          </a:xfrm>
          <a:prstGeom prst="roundRect">
            <a:avLst>
              <a:gd name="adj" fmla="val 50000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PARTIAL EVIDENCE</a:t>
            </a:r>
          </a:p>
        </p:txBody>
      </p:sp>
      <p:sp>
        <p:nvSpPr>
          <p:cNvPr id="8" name="Slide index"/>
          <p:cNvSpPr txBox="1"/>
          <p:nvPr/>
        </p:nvSpPr>
        <p:spPr>
          <a:xfrm>
            <a:off x="3429000" y="155448"/>
            <a:ext cx="77724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9C7225"/>
                </a:solidFill>
                <a:latin typeface="Georgia"/>
              </a:rPr>
              <a:t>05.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4206240" y="155448"/>
            <a:ext cx="5490159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7B1E3A"/>
                </a:solidFill>
                <a:latin typeface="Georgia"/>
              </a:rPr>
              <a:t>Go-to-Market Strategy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4206240" y="576072"/>
            <a:ext cx="549015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77A"/>
                </a:solidFill>
                <a:latin typeface="Calibri"/>
              </a:rPr>
              <a:t>Recommended positioning and a phased launch, apart from observed channels</a:t>
            </a:r>
          </a:p>
        </p:txBody>
      </p:sp>
      <p:sp>
        <p:nvSpPr>
          <p:cNvPr id="11" name="Labels"/>
          <p:cNvSpPr/>
          <p:nvPr/>
        </p:nvSpPr>
        <p:spPr>
          <a:xfrm>
            <a:off x="411480" y="987552"/>
            <a:ext cx="11368735" cy="499871"/>
          </a:xfrm>
          <a:prstGeom prst="roundRect">
            <a:avLst>
              <a:gd name="adj" fmla="val 14634"/>
            </a:avLst>
          </a:prstGeom>
          <a:solidFill>
            <a:srgbClr val="F3E3E7"/>
          </a:solidFill>
          <a:ln w="12700">
            <a:solidFill>
              <a:srgbClr val="7B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PARTIAL EVIDENCE: the source report failed acceptance   ·   Recommendation (not a verified market price): ₹699 for a seven-day plan of one juice per day (about ₹100 per juice); proposed price only, with serving size and delivery terms to be specified before sale.</a:t>
            </a:r>
          </a:p>
        </p:txBody>
      </p:sp>
      <p:sp>
        <p:nvSpPr>
          <p:cNvPr id="12" name="Sources"/>
          <p:cNvSpPr txBox="1"/>
          <p:nvPr/>
        </p:nvSpPr>
        <p:spPr>
          <a:xfrm>
            <a:off x="411480" y="6089904"/>
            <a:ext cx="1136873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Sources: Strategy: recommendation</a:t>
            </a:r>
          </a:p>
        </p:txBody>
      </p:sp>
      <p:sp>
        <p:nvSpPr>
          <p:cNvPr id="13" name="Segment card"/>
          <p:cNvSpPr/>
          <p:nvPr/>
        </p:nvSpPr>
        <p:spPr>
          <a:xfrm>
            <a:off x="411480" y="1597152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gment icon"/>
          <p:cNvSpPr/>
          <p:nvPr/>
        </p:nvSpPr>
        <p:spPr>
          <a:xfrm>
            <a:off x="612648" y="1871471"/>
            <a:ext cx="731520" cy="731520"/>
          </a:xfrm>
          <a:prstGeom prst="ellipse">
            <a:avLst/>
          </a:prstGeom>
          <a:solidFill>
            <a:srgbClr val="1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gment head"/>
          <p:cNvSpPr/>
          <p:nvPr/>
        </p:nvSpPr>
        <p:spPr>
          <a:xfrm>
            <a:off x="904378" y="2068982"/>
            <a:ext cx="148059" cy="14805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gment body"/>
          <p:cNvSpPr/>
          <p:nvPr/>
        </p:nvSpPr>
        <p:spPr>
          <a:xfrm>
            <a:off x="837078" y="2243961"/>
            <a:ext cx="282659" cy="161519"/>
          </a:xfrm>
          <a:prstGeom prst="round2Same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ing: Target segment"/>
          <p:cNvSpPr txBox="1"/>
          <p:nvPr/>
        </p:nvSpPr>
        <p:spPr>
          <a:xfrm>
            <a:off x="1527048" y="1725168"/>
            <a:ext cx="3108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C7C7A"/>
                </a:solidFill>
                <a:latin typeface="Calibri"/>
              </a:rPr>
              <a:t>TARGET SEGMENT</a:t>
            </a:r>
          </a:p>
        </p:txBody>
      </p:sp>
      <p:sp>
        <p:nvSpPr>
          <p:cNvPr id="18" name="Segment"/>
          <p:cNvSpPr txBox="1"/>
          <p:nvPr/>
        </p:nvSpPr>
        <p:spPr>
          <a:xfrm>
            <a:off x="1527048" y="1999487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4233F"/>
                </a:solidFill>
                <a:latin typeface="Georgia"/>
              </a:rPr>
              <a:t>gym-goers aged 20-35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A"/>
                </a:solidFill>
                <a:latin typeface="Calibri"/>
              </a:rPr>
              <a:t>in Pune</a:t>
            </a:r>
          </a:p>
        </p:txBody>
      </p:sp>
      <p:sp>
        <p:nvSpPr>
          <p:cNvPr id="19" name="Positioning card"/>
          <p:cNvSpPr/>
          <p:nvPr/>
        </p:nvSpPr>
        <p:spPr>
          <a:xfrm>
            <a:off x="4965192" y="1597152"/>
            <a:ext cx="6815023" cy="1143000"/>
          </a:xfrm>
          <a:prstGeom prst="roundRect">
            <a:avLst>
              <a:gd name="adj" fmla="val 6400"/>
            </a:avLst>
          </a:prstGeom>
          <a:solidFill>
            <a:srgbClr val="F3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sitioning recommendation tag"/>
          <p:cNvSpPr/>
          <p:nvPr/>
        </p:nvSpPr>
        <p:spPr>
          <a:xfrm>
            <a:off x="5193792" y="1761743"/>
            <a:ext cx="23959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B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7B1E3A"/>
                </a:solidFill>
                <a:latin typeface="Calibri"/>
              </a:rPr>
              <a:t>RECOMMENDED POSITIONING</a:t>
            </a:r>
          </a:p>
        </p:txBody>
      </p:sp>
      <p:sp>
        <p:nvSpPr>
          <p:cNvPr id="21" name="Positioning"/>
          <p:cNvSpPr txBox="1"/>
          <p:nvPr/>
        </p:nvSpPr>
        <p:spPr>
          <a:xfrm>
            <a:off x="5193792" y="2100072"/>
            <a:ext cx="6357823" cy="5760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1">
                <a:solidFill>
                  <a:srgbClr val="14233F"/>
                </a:solidFill>
                <a:latin typeface="Georgia"/>
              </a:rPr>
              <a:t>A Pune cold-pressed juice subscription with clear per-juice pricing and a week of choice or planned variety.</a:t>
            </a:r>
          </a:p>
        </p:txBody>
      </p:sp>
      <p:sp>
        <p:nvSpPr>
          <p:cNvPr id="22" name="Journey card"/>
          <p:cNvSpPr/>
          <p:nvPr/>
        </p:nvSpPr>
        <p:spPr>
          <a:xfrm>
            <a:off x="411480" y="2877312"/>
            <a:ext cx="11368735" cy="1923288"/>
          </a:xfrm>
          <a:prstGeom prst="roundRect">
            <a:avLst>
              <a:gd name="adj" fmla="val 3803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ading: Launch journey · recommended actions"/>
          <p:cNvSpPr txBox="1"/>
          <p:nvPr/>
        </p:nvSpPr>
        <p:spPr>
          <a:xfrm>
            <a:off x="640080" y="298704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C7C7A"/>
                </a:solidFill>
                <a:latin typeface="Calibri"/>
              </a:rPr>
              <a:t>LAUNCH JOURNEY · RECOMMENDED ACTIONS</a:t>
            </a:r>
          </a:p>
        </p:txBody>
      </p:sp>
      <p:sp>
        <p:nvSpPr>
          <p:cNvPr id="24" name="Journey path"/>
          <p:cNvSpPr/>
          <p:nvPr/>
        </p:nvSpPr>
        <p:spPr>
          <a:xfrm>
            <a:off x="822960" y="3572255"/>
            <a:ext cx="10545775" cy="45720"/>
          </a:xfrm>
          <a:prstGeom prst="rect">
            <a:avLst/>
          </a:prstGeom>
          <a:solidFill>
            <a:srgbClr val="E0D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Journey stage 1"/>
          <p:cNvSpPr/>
          <p:nvPr/>
        </p:nvSpPr>
        <p:spPr>
          <a:xfrm>
            <a:off x="731519" y="3334512"/>
            <a:ext cx="512064" cy="512064"/>
          </a:xfrm>
          <a:prstGeom prst="ellipse">
            <a:avLst/>
          </a:prstGeom>
          <a:solidFill>
            <a:srgbClr val="1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26" name="Journey week 1"/>
          <p:cNvSpPr txBox="1"/>
          <p:nvPr/>
        </p:nvSpPr>
        <p:spPr>
          <a:xfrm>
            <a:off x="1353312" y="3444240"/>
            <a:ext cx="181348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C7A"/>
                </a:solidFill>
                <a:latin typeface="Calibri"/>
              </a:rPr>
              <a:t>WEEK 1</a:t>
            </a:r>
          </a:p>
        </p:txBody>
      </p:sp>
      <p:sp>
        <p:nvSpPr>
          <p:cNvPr id="27" name="Journey action 1"/>
          <p:cNvSpPr txBox="1"/>
          <p:nvPr/>
        </p:nvSpPr>
        <p:spPr>
          <a:xfrm>
            <a:off x="731519" y="3992879"/>
            <a:ext cx="2499283" cy="7345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4233F"/>
                </a:solidFill>
                <a:latin typeface="Calibri"/>
              </a:rPr>
              <a:t>Confirm feasibility, service areas, serving size and delivery terms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77A"/>
                </a:solidFill>
                <a:latin typeface="Calibri"/>
              </a:rPr>
              <a:t>decide choice or rotation</a:t>
            </a:r>
          </a:p>
        </p:txBody>
      </p:sp>
      <p:sp>
        <p:nvSpPr>
          <p:cNvPr id="28" name="Journey stage 2"/>
          <p:cNvSpPr/>
          <p:nvPr/>
        </p:nvSpPr>
        <p:spPr>
          <a:xfrm>
            <a:off x="3459403" y="3334512"/>
            <a:ext cx="512064" cy="512064"/>
          </a:xfrm>
          <a:prstGeom prst="ellipse">
            <a:avLst/>
          </a:prstGeom>
          <a:solidFill>
            <a:srgbClr val="34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9" name="Journey week 2"/>
          <p:cNvSpPr txBox="1"/>
          <p:nvPr/>
        </p:nvSpPr>
        <p:spPr>
          <a:xfrm>
            <a:off x="4081195" y="3444240"/>
            <a:ext cx="181348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4699A"/>
                </a:solidFill>
                <a:latin typeface="Calibri"/>
              </a:rPr>
              <a:t>WEEK 2</a:t>
            </a:r>
          </a:p>
        </p:txBody>
      </p:sp>
      <p:sp>
        <p:nvSpPr>
          <p:cNvPr id="30" name="Journey action 2"/>
          <p:cNvSpPr txBox="1"/>
          <p:nvPr/>
        </p:nvSpPr>
        <p:spPr>
          <a:xfrm>
            <a:off x="3459403" y="3992879"/>
            <a:ext cx="2499283" cy="7345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233F"/>
                </a:solidFill>
                <a:latin typeface="Calibri"/>
              </a:rPr>
              <a:t>Prepare an offer page with price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77A"/>
                </a:solidFill>
                <a:latin typeface="Calibri"/>
              </a:rPr>
              <a:t>invite a small test group and adjust from feedback</a:t>
            </a:r>
          </a:p>
        </p:txBody>
      </p:sp>
      <p:sp>
        <p:nvSpPr>
          <p:cNvPr id="31" name="Journey stage 3"/>
          <p:cNvSpPr/>
          <p:nvPr/>
        </p:nvSpPr>
        <p:spPr>
          <a:xfrm>
            <a:off x="6187287" y="3334512"/>
            <a:ext cx="512064" cy="512064"/>
          </a:xfrm>
          <a:prstGeom prst="ellipse">
            <a:avLst/>
          </a:prstGeom>
          <a:solidFill>
            <a:srgbClr val="9C7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2" name="Journey week 3"/>
          <p:cNvSpPr txBox="1"/>
          <p:nvPr/>
        </p:nvSpPr>
        <p:spPr>
          <a:xfrm>
            <a:off x="6809079" y="3444240"/>
            <a:ext cx="181348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C7225"/>
                </a:solidFill>
                <a:latin typeface="Calibri"/>
              </a:rPr>
              <a:t>WEEK 3</a:t>
            </a:r>
          </a:p>
        </p:txBody>
      </p:sp>
      <p:sp>
        <p:nvSpPr>
          <p:cNvPr id="33" name="Journey action 3"/>
          <p:cNvSpPr txBox="1"/>
          <p:nvPr/>
        </p:nvSpPr>
        <p:spPr>
          <a:xfrm>
            <a:off x="6187287" y="3992879"/>
            <a:ext cx="2499283" cy="7345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233F"/>
                </a:solidFill>
                <a:latin typeface="Calibri"/>
              </a:rPr>
              <a:t>Run a limited pilot with consenting customers in confirmed areas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77A"/>
                </a:solidFill>
                <a:latin typeface="Calibri"/>
              </a:rPr>
              <a:t>track orders, repeat intent</a:t>
            </a:r>
          </a:p>
        </p:txBody>
      </p:sp>
      <p:sp>
        <p:nvSpPr>
          <p:cNvPr id="34" name="Journey stage 4"/>
          <p:cNvSpPr/>
          <p:nvPr/>
        </p:nvSpPr>
        <p:spPr>
          <a:xfrm>
            <a:off x="8915171" y="3334512"/>
            <a:ext cx="512064" cy="512064"/>
          </a:xfrm>
          <a:prstGeom prst="ellipse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5" name="Journey week 4"/>
          <p:cNvSpPr txBox="1"/>
          <p:nvPr/>
        </p:nvSpPr>
        <p:spPr>
          <a:xfrm>
            <a:off x="9536963" y="3444240"/>
            <a:ext cx="181348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B1E3A"/>
                </a:solidFill>
                <a:latin typeface="Calibri"/>
              </a:rPr>
              <a:t>WEEK 4</a:t>
            </a:r>
          </a:p>
        </p:txBody>
      </p:sp>
      <p:sp>
        <p:nvSpPr>
          <p:cNvPr id="36" name="Journey action 4"/>
          <p:cNvSpPr txBox="1"/>
          <p:nvPr/>
        </p:nvSpPr>
        <p:spPr>
          <a:xfrm>
            <a:off x="8915171" y="3992879"/>
            <a:ext cx="2499283" cy="7345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233F"/>
                </a:solidFill>
                <a:latin typeface="Calibri"/>
              </a:rPr>
              <a:t>Review pilot and test-price response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77A"/>
                </a:solidFill>
                <a:latin typeface="Calibri"/>
              </a:rPr>
              <a:t>revise the offer based on results and feasibility</a:t>
            </a:r>
          </a:p>
        </p:txBody>
      </p:sp>
      <p:sp>
        <p:nvSpPr>
          <p:cNvPr id="37" name="Observed channels card"/>
          <p:cNvSpPr/>
          <p:nvPr/>
        </p:nvSpPr>
        <p:spPr>
          <a:xfrm>
            <a:off x="411480" y="4937760"/>
            <a:ext cx="5602071" cy="1097280"/>
          </a:xfrm>
          <a:prstGeom prst="roundRect">
            <a:avLst>
              <a:gd name="adj" fmla="val 6666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ading: Channels observed in the market · not a recommendation"/>
          <p:cNvSpPr txBox="1"/>
          <p:nvPr/>
        </p:nvSpPr>
        <p:spPr>
          <a:xfrm>
            <a:off x="594360" y="5029200"/>
            <a:ext cx="5236311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699A"/>
                </a:solidFill>
                <a:latin typeface="Calibri"/>
              </a:rPr>
              <a:t>CHANNELS OBSERVED IN THE MARKET · NOT A RECOMMENDATION</a:t>
            </a:r>
          </a:p>
        </p:txBody>
      </p:sp>
      <p:sp>
        <p:nvSpPr>
          <p:cNvPr id="39" name="Observed channel: Instagram"/>
          <p:cNvSpPr/>
          <p:nvPr/>
        </p:nvSpPr>
        <p:spPr>
          <a:xfrm>
            <a:off x="594360" y="5394960"/>
            <a:ext cx="1182433" cy="274320"/>
          </a:xfrm>
          <a:prstGeom prst="roundRect">
            <a:avLst>
              <a:gd name="adj" fmla="val 50000"/>
            </a:avLst>
          </a:prstGeom>
          <a:solidFill>
            <a:srgbClr val="DDE9F3"/>
          </a:solidFill>
          <a:ln w="12700">
            <a:solidFill>
              <a:srgbClr val="346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34699A"/>
                </a:solidFill>
                <a:latin typeface="Calibri"/>
              </a:rPr>
              <a:t>Instagram</a:t>
            </a:r>
          </a:p>
        </p:txBody>
      </p:sp>
      <p:sp>
        <p:nvSpPr>
          <p:cNvPr id="40" name="Observed channel: Website ordering/menu"/>
          <p:cNvSpPr/>
          <p:nvPr/>
        </p:nvSpPr>
        <p:spPr>
          <a:xfrm>
            <a:off x="1868233" y="5394960"/>
            <a:ext cx="2222563" cy="274320"/>
          </a:xfrm>
          <a:prstGeom prst="roundRect">
            <a:avLst>
              <a:gd name="adj" fmla="val 50000"/>
            </a:avLst>
          </a:prstGeom>
          <a:solidFill>
            <a:srgbClr val="DDE9F3"/>
          </a:solidFill>
          <a:ln w="12700">
            <a:solidFill>
              <a:srgbClr val="346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34699A"/>
                </a:solidFill>
                <a:latin typeface="Calibri"/>
              </a:rPr>
              <a:t>Website ordering/menu</a:t>
            </a:r>
          </a:p>
        </p:txBody>
      </p:sp>
      <p:sp>
        <p:nvSpPr>
          <p:cNvPr id="41" name="Observed channel: WhatsApp"/>
          <p:cNvSpPr/>
          <p:nvPr/>
        </p:nvSpPr>
        <p:spPr>
          <a:xfrm>
            <a:off x="4182237" y="5394960"/>
            <a:ext cx="1095756" cy="274320"/>
          </a:xfrm>
          <a:prstGeom prst="roundRect">
            <a:avLst>
              <a:gd name="adj" fmla="val 50000"/>
            </a:avLst>
          </a:prstGeom>
          <a:solidFill>
            <a:srgbClr val="DDE9F3"/>
          </a:solidFill>
          <a:ln w="12700">
            <a:solidFill>
              <a:srgbClr val="346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34699A"/>
                </a:solidFill>
                <a:latin typeface="Calibri"/>
              </a:rPr>
              <a:t>WhatsApp</a:t>
            </a:r>
          </a:p>
        </p:txBody>
      </p:sp>
      <p:sp>
        <p:nvSpPr>
          <p:cNvPr id="42" name="Dependencies card"/>
          <p:cNvSpPr/>
          <p:nvPr/>
        </p:nvSpPr>
        <p:spPr>
          <a:xfrm>
            <a:off x="6178143" y="4937760"/>
            <a:ext cx="5602071" cy="1097280"/>
          </a:xfrm>
          <a:prstGeom prst="roundRect">
            <a:avLst>
              <a:gd name="adj" fmla="val 6666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Heading: Depends on · before advertising"/>
          <p:cNvSpPr txBox="1"/>
          <p:nvPr/>
        </p:nvSpPr>
        <p:spPr>
          <a:xfrm>
            <a:off x="6361023" y="5029200"/>
            <a:ext cx="5236311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DEPENDS ON · BEFORE ADVERTISING</a:t>
            </a:r>
          </a:p>
        </p:txBody>
      </p:sp>
      <p:sp>
        <p:nvSpPr>
          <p:cNvPr id="44" name="Dependencies"/>
          <p:cNvSpPr txBox="1"/>
          <p:nvPr/>
        </p:nvSpPr>
        <p:spPr>
          <a:xfrm>
            <a:off x="6361023" y="5303520"/>
            <a:ext cx="5236311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3200" indent="-203200">
              <a:spcAft>
                <a:spcPts val="2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Confirm serviceable delivery areas and operational details before advertising them</a:t>
            </a:r>
          </a:p>
          <a:p>
            <a:pPr algn="l" marL="203200" indent="-203200">
              <a:spcAft>
                <a:spcPts val="200"/>
              </a:spcAft>
              <a:buChar char="•"/>
            </a:pPr>
            <a:r>
              <a:rPr sz="1100" b="0" i="0">
                <a:solidFill>
                  <a:srgbClr val="14233F"/>
                </a:solidFill>
                <a:latin typeface="Calibri"/>
              </a:rPr>
              <a:t>Specify serving size and delivery terms before sale</a:t>
            </a:r>
          </a:p>
        </p:txBody>
      </p:sp>
      <p:cxnSp>
        <p:nvCxnSpPr>
          <p:cNvPr id="45" name="Footer rule"/>
          <p:cNvCxnSpPr/>
          <p:nvPr/>
        </p:nvCxnSpPr>
        <p:spPr>
          <a:xfrm>
            <a:off x="411480" y="6437376"/>
            <a:ext cx="11368735" cy="0"/>
          </a:xfrm>
          <a:prstGeom prst="line">
            <a:avLst/>
          </a:prstGeom>
          <a:ln w="12700">
            <a:solidFill>
              <a:srgbClr val="E0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ooter"/>
          <p:cNvSpPr txBox="1"/>
          <p:nvPr/>
        </p:nvSpPr>
        <p:spPr>
          <a:xfrm>
            <a:off x="411480" y="6473952"/>
            <a:ext cx="10271455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LaunchScout | Go-to-Market Strategy | Cold-pressed juice subscription, Pune | Partial evidence | run 20261014-201109-c0fe</a:t>
            </a:r>
          </a:p>
        </p:txBody>
      </p:sp>
      <p:sp>
        <p:nvSpPr>
          <p:cNvPr id="47" name="Slide number"/>
          <p:cNvSpPr txBox="1"/>
          <p:nvPr/>
        </p:nvSpPr>
        <p:spPr>
          <a:xfrm>
            <a:off x="10774375" y="6464808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block"/>
          <p:cNvSpPr/>
          <p:nvPr/>
        </p:nvSpPr>
        <p:spPr>
          <a:xfrm>
            <a:off x="411480" y="182880"/>
            <a:ext cx="2743200" cy="640080"/>
          </a:xfrm>
          <a:prstGeom prst="roundRect">
            <a:avLst>
              <a:gd name="adj" fmla="val 11428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S logo tile"/>
          <p:cNvSpPr/>
          <p:nvPr/>
        </p:nvSpPr>
        <p:spPr>
          <a:xfrm>
            <a:off x="502920" y="256032"/>
            <a:ext cx="493776" cy="493776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S logo" descr="LaunchScout L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3" y="306324"/>
            <a:ext cx="436109" cy="393192"/>
          </a:xfrm>
          <a:prstGeom prst="rect">
            <a:avLst/>
          </a:prstGeom>
        </p:spPr>
      </p:pic>
      <p:sp>
        <p:nvSpPr>
          <p:cNvPr id="5" name="Brand name"/>
          <p:cNvSpPr txBox="1"/>
          <p:nvPr/>
        </p:nvSpPr>
        <p:spPr>
          <a:xfrm>
            <a:off x="1124712" y="182880"/>
            <a:ext cx="1965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LaunchScout</a:t>
            </a:r>
          </a:p>
        </p:txBody>
      </p:sp>
      <p:sp>
        <p:nvSpPr>
          <p:cNvPr id="6" name="Brand tagline"/>
          <p:cNvSpPr txBox="1"/>
          <p:nvPr/>
        </p:nvSpPr>
        <p:spPr>
          <a:xfrm>
            <a:off x="1124712" y="512064"/>
            <a:ext cx="19659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FD6CF"/>
                </a:solidFill>
                <a:latin typeface="Calibri"/>
              </a:rPr>
              <a:t>Competitor Research Crew</a:t>
            </a:r>
          </a:p>
        </p:txBody>
      </p:sp>
      <p:sp>
        <p:nvSpPr>
          <p:cNvPr id="7" name="Evidence status"/>
          <p:cNvSpPr/>
          <p:nvPr/>
        </p:nvSpPr>
        <p:spPr>
          <a:xfrm>
            <a:off x="9924999" y="338328"/>
            <a:ext cx="1855216" cy="310896"/>
          </a:xfrm>
          <a:prstGeom prst="roundRect">
            <a:avLst>
              <a:gd name="adj" fmla="val 50000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PARTIAL EVIDENCE</a:t>
            </a:r>
          </a:p>
        </p:txBody>
      </p:sp>
      <p:sp>
        <p:nvSpPr>
          <p:cNvPr id="8" name="Slide index"/>
          <p:cNvSpPr txBox="1"/>
          <p:nvPr/>
        </p:nvSpPr>
        <p:spPr>
          <a:xfrm>
            <a:off x="3429000" y="155448"/>
            <a:ext cx="77724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9C7225"/>
                </a:solidFill>
                <a:latin typeface="Georgia"/>
              </a:rPr>
              <a:t>06.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4206240" y="155448"/>
            <a:ext cx="5490159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7B1E3A"/>
                </a:solidFill>
                <a:latin typeface="Georgia"/>
              </a:rPr>
              <a:t>Financials &amp; Roadmap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4206240" y="576072"/>
            <a:ext cx="549015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77A"/>
                </a:solidFill>
                <a:latin typeface="Calibri"/>
              </a:rPr>
              <a:t>The recommended test price, what is unknown and the decision checkpoints</a:t>
            </a:r>
          </a:p>
        </p:txBody>
      </p:sp>
      <p:sp>
        <p:nvSpPr>
          <p:cNvPr id="11" name="Labels"/>
          <p:cNvSpPr/>
          <p:nvPr/>
        </p:nvSpPr>
        <p:spPr>
          <a:xfrm>
            <a:off x="411480" y="987552"/>
            <a:ext cx="11368735" cy="332232"/>
          </a:xfrm>
          <a:prstGeom prst="roundRect">
            <a:avLst>
              <a:gd name="adj" fmla="val 22018"/>
            </a:avLst>
          </a:prstGeom>
          <a:solidFill>
            <a:srgbClr val="F3E3E7"/>
          </a:solidFill>
          <a:ln w="12700">
            <a:solidFill>
              <a:srgbClr val="7B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PARTIAL EVIDENCE: the source report failed acceptance   ·   Recommended actions, not completed or verified facts</a:t>
            </a:r>
          </a:p>
        </p:txBody>
      </p:sp>
      <p:sp>
        <p:nvSpPr>
          <p:cNvPr id="12" name="Sources"/>
          <p:cNvSpPr txBox="1"/>
          <p:nvPr/>
        </p:nvSpPr>
        <p:spPr>
          <a:xfrm>
            <a:off x="411480" y="6089904"/>
            <a:ext cx="11368735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77A"/>
                </a:solidFill>
                <a:latin typeface="Calibri"/>
              </a:rPr>
              <a:t>Sources: Report: launch plan</a:t>
            </a:r>
          </a:p>
        </p:txBody>
      </p:sp>
      <p:sp>
        <p:nvSpPr>
          <p:cNvPr id="13" name="Price hero"/>
          <p:cNvSpPr/>
          <p:nvPr/>
        </p:nvSpPr>
        <p:spPr>
          <a:xfrm>
            <a:off x="411480" y="1429512"/>
            <a:ext cx="3840480" cy="4605528"/>
          </a:xfrm>
          <a:prstGeom prst="roundRect">
            <a:avLst>
              <a:gd name="adj" fmla="val 1904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ice eyebrow"/>
          <p:cNvSpPr txBox="1"/>
          <p:nvPr/>
        </p:nvSpPr>
        <p:spPr>
          <a:xfrm>
            <a:off x="685800" y="1612392"/>
            <a:ext cx="3291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FD6CF"/>
                </a:solidFill>
                <a:latin typeface="Calibri"/>
              </a:rPr>
              <a:t>RECOMMENDED TEST PRICE</a:t>
            </a:r>
          </a:p>
        </p:txBody>
      </p:sp>
      <p:sp>
        <p:nvSpPr>
          <p:cNvPr id="15" name="Price value"/>
          <p:cNvSpPr txBox="1"/>
          <p:nvPr/>
        </p:nvSpPr>
        <p:spPr>
          <a:xfrm>
            <a:off x="685800" y="1978152"/>
            <a:ext cx="3291840" cy="10058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5ECD3"/>
                </a:solidFill>
                <a:latin typeface="Georgia"/>
              </a:rPr>
              <a:t>₹699</a:t>
            </a:r>
          </a:p>
        </p:txBody>
      </p:sp>
      <p:sp>
        <p:nvSpPr>
          <p:cNvPr id="16" name="Price detail"/>
          <p:cNvSpPr txBox="1"/>
          <p:nvPr/>
        </p:nvSpPr>
        <p:spPr>
          <a:xfrm>
            <a:off x="685800" y="3075432"/>
            <a:ext cx="3291840" cy="22966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Seven-day plan of one juice per day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FD6CF"/>
                </a:solidFill>
                <a:latin typeface="Calibri"/>
              </a:rPr>
              <a:t>About ₹100 per juice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proposed price only, with serving size and delivery terms to be specified before sale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7FD6CF"/>
                </a:solidFill>
                <a:latin typeface="Calibri"/>
              </a:rPr>
              <a:t>OPEN ASSUMPTIONS</a:t>
            </a:r>
          </a:p>
          <a:p>
            <a:pPr algn="l" marL="203200" indent="-203200">
              <a:spcAft>
                <a:spcPts val="400"/>
              </a:spcAft>
              <a:buChar char="•"/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recommendation addresses a visible information gap in the supplied research</a:t>
            </a:r>
          </a:p>
          <a:p>
            <a:pPr algn="l" marL="203200" indent="-203200">
              <a:spcAft>
                <a:spcPts val="400"/>
              </a:spcAft>
              <a:buChar char="•"/>
            </a:pPr>
            <a:r>
              <a:rPr sz="1100" b="0" i="0">
                <a:solidFill>
                  <a:srgbClr val="FFFFFF"/>
                </a:solidFill>
                <a:latin typeface="Calibri"/>
              </a:rPr>
              <a:t>Earth’s weekly-plan variety terms are unknown</a:t>
            </a:r>
          </a:p>
          <a:p>
            <a:pPr algn="l" marL="203200" indent="-203200">
              <a:spcAft>
                <a:spcPts val="400"/>
              </a:spcAft>
              <a:buChar char="•"/>
            </a:pPr>
            <a:r>
              <a:rPr sz="1100" b="0" i="0">
                <a:solidFill>
                  <a:srgbClr val="FFFFFF"/>
                </a:solidFill>
                <a:latin typeface="Calibri"/>
              </a:rPr>
              <a:t>₹699 is a proposed test price, not a researched market price</a:t>
            </a:r>
          </a:p>
        </p:txBody>
      </p:sp>
      <p:sp>
        <p:nvSpPr>
          <p:cNvPr id="17" name="Price warning"/>
          <p:cNvSpPr/>
          <p:nvPr/>
        </p:nvSpPr>
        <p:spPr>
          <a:xfrm>
            <a:off x="685800" y="5463540"/>
            <a:ext cx="3291840" cy="342900"/>
          </a:xfrm>
          <a:prstGeom prst="roundRect">
            <a:avLst>
              <a:gd name="adj" fmla="val 21333"/>
            </a:avLst>
          </a:prstGeom>
          <a:solidFill>
            <a:srgbClr val="F5ECD3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C7225"/>
                </a:solidFill>
                <a:latin typeface="Calibri"/>
              </a:rPr>
              <a:t>RECOMMENDATION — NOT A VERIFIED MARKET PRICE</a:t>
            </a:r>
          </a:p>
        </p:txBody>
      </p:sp>
      <p:sp>
        <p:nvSpPr>
          <p:cNvPr id="18" name="Price evidence card"/>
          <p:cNvSpPr/>
          <p:nvPr/>
        </p:nvSpPr>
        <p:spPr>
          <a:xfrm>
            <a:off x="4416552" y="1429512"/>
            <a:ext cx="3931920" cy="4605528"/>
          </a:xfrm>
          <a:prstGeom prst="roundRect">
            <a:avLst>
              <a:gd name="adj" fmla="val 1860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ing: Competitor price evidence"/>
          <p:cNvSpPr txBox="1"/>
          <p:nvPr/>
        </p:nvSpPr>
        <p:spPr>
          <a:xfrm>
            <a:off x="4599432" y="1575816"/>
            <a:ext cx="35661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C7225"/>
                </a:solidFill>
                <a:latin typeface="Calibri"/>
              </a:rPr>
              <a:t>COMPETITOR PRICE EVIDENCE</a:t>
            </a:r>
          </a:p>
        </p:txBody>
      </p:sp>
      <p:sp>
        <p:nvSpPr>
          <p:cNvPr id="20" name="Price evidence: iBites"/>
          <p:cNvSpPr/>
          <p:nvPr/>
        </p:nvSpPr>
        <p:spPr>
          <a:xfrm>
            <a:off x="4599432" y="1932432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ice name: iBites"/>
          <p:cNvSpPr txBox="1"/>
          <p:nvPr/>
        </p:nvSpPr>
        <p:spPr>
          <a:xfrm>
            <a:off x="4736592" y="2005584"/>
            <a:ext cx="1807463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233F"/>
                </a:solidFill>
                <a:latin typeface="Georgia"/>
              </a:rPr>
              <a:t>iBites</a:t>
            </a:r>
          </a:p>
        </p:txBody>
      </p:sp>
      <p:sp>
        <p:nvSpPr>
          <p:cNvPr id="22" name="Price status: iBites"/>
          <p:cNvSpPr/>
          <p:nvPr/>
        </p:nvSpPr>
        <p:spPr>
          <a:xfrm>
            <a:off x="6635495" y="2023872"/>
            <a:ext cx="13929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C7225"/>
                </a:solidFill>
                <a:latin typeface="Calibri"/>
              </a:rPr>
              <a:t>NOT VERIFIED</a:t>
            </a:r>
          </a:p>
        </p:txBody>
      </p:sp>
      <p:sp>
        <p:nvSpPr>
          <p:cNvPr id="23" name="Price mention: iBites"/>
          <p:cNvSpPr txBox="1"/>
          <p:nvPr/>
        </p:nvSpPr>
        <p:spPr>
          <a:xfrm>
            <a:off x="4736592" y="2353056"/>
            <a:ext cx="3291839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4233F"/>
                </a:solidFill>
                <a:latin typeface="Calibri"/>
              </a:rPr>
              <a:t>A price is mentioned on the cold-pressed juice page as starting at ₹25, but no unit or pack size is stated</a:t>
            </a:r>
          </a:p>
        </p:txBody>
      </p:sp>
      <p:sp>
        <p:nvSpPr>
          <p:cNvPr id="24" name="Price evidence: Earth Organic Juices"/>
          <p:cNvSpPr/>
          <p:nvPr/>
        </p:nvSpPr>
        <p:spPr>
          <a:xfrm>
            <a:off x="4599432" y="3349752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ice name: Earth Organic Juices"/>
          <p:cNvSpPr txBox="1"/>
          <p:nvPr/>
        </p:nvSpPr>
        <p:spPr>
          <a:xfrm>
            <a:off x="4736592" y="3422904"/>
            <a:ext cx="1807463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233F"/>
                </a:solidFill>
                <a:latin typeface="Georgia"/>
              </a:rPr>
              <a:t>Earth Organic Juices</a:t>
            </a:r>
          </a:p>
        </p:txBody>
      </p:sp>
      <p:sp>
        <p:nvSpPr>
          <p:cNvPr id="26" name="Price status: Earth Organic Juices"/>
          <p:cNvSpPr/>
          <p:nvPr/>
        </p:nvSpPr>
        <p:spPr>
          <a:xfrm>
            <a:off x="6635495" y="3441192"/>
            <a:ext cx="13929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C7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54864" bIns="54864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C7225"/>
                </a:solidFill>
                <a:latin typeface="Calibri"/>
              </a:rPr>
              <a:t>NOT VERIFIED</a:t>
            </a:r>
          </a:p>
        </p:txBody>
      </p:sp>
      <p:sp>
        <p:nvSpPr>
          <p:cNvPr id="27" name="Price mention: Earth Organic Juices"/>
          <p:cNvSpPr txBox="1"/>
          <p:nvPr/>
        </p:nvSpPr>
        <p:spPr>
          <a:xfrm>
            <a:off x="4736592" y="3770375"/>
            <a:ext cx="3291839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4233F"/>
                </a:solidFill>
                <a:latin typeface="Calibri"/>
              </a:rPr>
              <a:t>A search-result snippet advertises ₹297 for a three-day trial, but the underlying Facebook page could not be retrieved</a:t>
            </a:r>
          </a:p>
        </p:txBody>
      </p:sp>
      <p:sp>
        <p:nvSpPr>
          <p:cNvPr id="28" name="Comparability note"/>
          <p:cNvSpPr txBox="1"/>
          <p:nvPr/>
        </p:nvSpPr>
        <p:spPr>
          <a:xfrm>
            <a:off x="4599432" y="5120640"/>
            <a:ext cx="356616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B677A"/>
                </a:solidFill>
                <a:latin typeface="Calibri"/>
              </a:rPr>
              <a:t>These mentions have no verified unit or pack size, so they are not comparable with the recommended test price.</a:t>
            </a:r>
          </a:p>
        </p:txBody>
      </p:sp>
      <p:sp>
        <p:nvSpPr>
          <p:cNvPr id="29" name="Checkpoints card"/>
          <p:cNvSpPr/>
          <p:nvPr/>
        </p:nvSpPr>
        <p:spPr>
          <a:xfrm>
            <a:off x="8513063" y="1429512"/>
            <a:ext cx="3267151" cy="4605528"/>
          </a:xfrm>
          <a:prstGeom prst="roundRect">
            <a:avLst>
              <a:gd name="adj" fmla="val 2239"/>
            </a:avLst>
          </a:prstGeom>
          <a:solidFill>
            <a:srgbClr val="FFFDF8"/>
          </a:solidFill>
          <a:ln w="12700">
            <a:solidFill>
              <a:srgbClr val="E0D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ading: Decision checkpoints"/>
          <p:cNvSpPr txBox="1"/>
          <p:nvPr/>
        </p:nvSpPr>
        <p:spPr>
          <a:xfrm>
            <a:off x="8695943" y="1575816"/>
            <a:ext cx="2901391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DECISION CHECKPOINTS</a:t>
            </a:r>
          </a:p>
        </p:txBody>
      </p:sp>
      <p:sp>
        <p:nvSpPr>
          <p:cNvPr id="31" name="Checkpoint 1"/>
          <p:cNvSpPr/>
          <p:nvPr/>
        </p:nvSpPr>
        <p:spPr>
          <a:xfrm>
            <a:off x="8695943" y="1978151"/>
            <a:ext cx="512064" cy="512064"/>
          </a:xfrm>
          <a:prstGeom prst="ellipse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32" name="Checkpoint text 1"/>
          <p:cNvSpPr txBox="1"/>
          <p:nvPr/>
        </p:nvSpPr>
        <p:spPr>
          <a:xfrm>
            <a:off x="9336024" y="1932432"/>
            <a:ext cx="2261311" cy="12608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7B1E3A"/>
                </a:solidFill>
                <a:latin typeface="Calibri"/>
              </a:rPr>
              <a:t>WEEK 1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233F"/>
                </a:solidFill>
                <a:latin typeface="Calibri"/>
              </a:rPr>
              <a:t>Validate the proposed ₹699 test price</a:t>
            </a:r>
          </a:p>
        </p:txBody>
      </p:sp>
      <p:sp>
        <p:nvSpPr>
          <p:cNvPr id="33" name="Checkpoint 2"/>
          <p:cNvSpPr/>
          <p:nvPr/>
        </p:nvSpPr>
        <p:spPr>
          <a:xfrm>
            <a:off x="8695943" y="3330448"/>
            <a:ext cx="512064" cy="512064"/>
          </a:xfrm>
          <a:prstGeom prst="ellipse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34" name="Checkpoint text 2"/>
          <p:cNvSpPr txBox="1"/>
          <p:nvPr/>
        </p:nvSpPr>
        <p:spPr>
          <a:xfrm>
            <a:off x="9336024" y="3284728"/>
            <a:ext cx="2261311" cy="12608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7B1E3A"/>
                </a:solidFill>
                <a:latin typeface="Calibri"/>
              </a:rPr>
              <a:t>WEEK 3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233F"/>
                </a:solidFill>
                <a:latin typeface="Calibri"/>
              </a:rPr>
              <a:t>Track orders, repeat intent, delivery reliability and reported feedback</a:t>
            </a:r>
          </a:p>
        </p:txBody>
      </p:sp>
      <p:sp>
        <p:nvSpPr>
          <p:cNvPr id="35" name="Checkpoint 3"/>
          <p:cNvSpPr/>
          <p:nvPr/>
        </p:nvSpPr>
        <p:spPr>
          <a:xfrm>
            <a:off x="8695943" y="4682744"/>
            <a:ext cx="512064" cy="512064"/>
          </a:xfrm>
          <a:prstGeom prst="ellipse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6" name="Checkpoint text 3"/>
          <p:cNvSpPr txBox="1"/>
          <p:nvPr/>
        </p:nvSpPr>
        <p:spPr>
          <a:xfrm>
            <a:off x="9336024" y="4637024"/>
            <a:ext cx="2261311" cy="12608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7B1E3A"/>
                </a:solidFill>
                <a:latin typeface="Calibri"/>
              </a:rPr>
              <a:t>WEEK 4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233F"/>
                </a:solidFill>
                <a:latin typeface="Calibri"/>
              </a:rPr>
              <a:t>Review pilot and test-price response</a:t>
            </a:r>
          </a:p>
        </p:txBody>
      </p:sp>
      <p:cxnSp>
        <p:nvCxnSpPr>
          <p:cNvPr id="37" name="Footer rule"/>
          <p:cNvCxnSpPr/>
          <p:nvPr/>
        </p:nvCxnSpPr>
        <p:spPr>
          <a:xfrm>
            <a:off x="411480" y="6437376"/>
            <a:ext cx="11368735" cy="0"/>
          </a:xfrm>
          <a:prstGeom prst="line">
            <a:avLst/>
          </a:prstGeom>
          <a:ln w="12700">
            <a:solidFill>
              <a:srgbClr val="E0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ooter"/>
          <p:cNvSpPr txBox="1"/>
          <p:nvPr/>
        </p:nvSpPr>
        <p:spPr>
          <a:xfrm>
            <a:off x="411480" y="6473952"/>
            <a:ext cx="10271455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LaunchScout | Financials &amp; Roadmap | Cold-pressed juice subscription, Pune | Partial evidence | run 20261014-201109-c0fe</a:t>
            </a:r>
          </a:p>
        </p:txBody>
      </p:sp>
      <p:sp>
        <p:nvSpPr>
          <p:cNvPr id="39" name="Slide number"/>
          <p:cNvSpPr txBox="1"/>
          <p:nvPr/>
        </p:nvSpPr>
        <p:spPr>
          <a:xfrm>
            <a:off x="10774375" y="6464808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7B1E3A"/>
                </a:solidFill>
                <a:latin typeface="Calibri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LaunchScout pitch deck: Cold-pressed juice subscription</dc:title>
  <dc:subject/>
  <dc:creator>LaunchScout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