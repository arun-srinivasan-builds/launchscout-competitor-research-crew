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Achieved</c:v>
                </c:pt>
              </c:strCache>
            </c:strRef>
          </c:tx>
          <c:spPr>
            <a:solidFill>
              <a:srgbClr val="FBBF24"/>
            </a:solidFill>
          </c:spPr>
          <c:cat>
            <c:strRef>
              <c:f>Sheet1!$A$2:$A$3</c:f>
              <c:strCache>
                <c:ptCount val="2"/>
                <c:pt idx="0">
                  <c:v>Evidence-backed competitors</c:v>
                </c:pt>
                <c:pt idx="1">
                  <c:v>Verified prices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Required to pass</c:v>
                </c:pt>
              </c:strCache>
            </c:strRef>
          </c:tx>
          <c:spPr>
            <a:solidFill>
              <a:srgbClr val="27406B"/>
            </a:solidFill>
          </c:spPr>
          <c:cat>
            <c:strRef>
              <c:f>Sheet1!$A$2:$A$3</c:f>
              <c:strCache>
                <c:ptCount val="2"/>
                <c:pt idx="0">
                  <c:v>Evidence-backed competitors</c:v>
                </c:pt>
                <c:pt idx="1">
                  <c:v>Verified prices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</c:v>
                </c:pt>
                <c:pt idx="1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b="1">
                  <a:solidFill>
                    <a:srgbClr val="E8EEF8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E8EEF8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9FB2CC"/>
                </a:solidFill>
              </a:defRPr>
            </a:pPr>
          </a:p>
        </c:txPr>
        <c:crossAx val="-2068027336"/>
        <c:crosses val="autoZero"/>
        <c:majorUnit val="1.0"/>
      </c:valAx>
    </c:plotArea>
    <c:legend>
      <c:legendPos val="b"/>
      <c:overlay val="0"/>
      <c:txPr>
        <a:bodyPr/>
        <a:lstStyle/>
        <a:p>
          <a:pPr>
            <a:defRPr>
              <a:solidFill>
                <a:srgbClr val="E8EEF8"/>
              </a:solidFill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E8EEF8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Idea, city, target customer and evidence status are as supplied in the research facts.</a:t>
            </a:r>
          </a:p>
          <a:p/>
          <a:p>
            <a:r>
              <a:t>Validated slide text:</a:t>
            </a:r>
          </a:p>
          <a:p>
            <a:r>
              <a:t>- Cold-pressed juice subscription in Pune.</a:t>
            </a:r>
          </a:p>
          <a:p>
            <a:r>
              <a:t>- Target customers: gym-goers aged 20-35.</a:t>
            </a:r>
          </a:p>
          <a:p>
            <a:r>
              <a:t>- Research evidence status: partial; report failed acceptance.</a:t>
            </a:r>
          </a:p>
          <a:p/>
          <a:p>
            <a:r>
              <a:t>Visual detail:</a:t>
            </a:r>
          </a:p>
          <a:p>
            <a:r>
              <a:t>- Acceptance reason: only 2 competitor(s) have a name, URL and evidence URL (3 required)</a:t>
            </a:r>
          </a:p>
          <a:p>
            <a:r>
              <a:t>- Acceptance reason: only 0 competitor(s) have a verified price with evidence (3 required)</a:t>
            </a:r>
          </a:p>
          <a:p>
            <a:r>
              <a:t>- Acceptance reason: R2 At least 3 competitor rows: 2 competitor row(s) in the Key Competitors table (3 required).</a:t>
            </a:r>
          </a:p>
          <a:p>
            <a:r>
              <a:t>- Acceptance reason: R3 Every URL in the report was returned by a tool: 1 URL(s) were never returned by any tool.</a:t>
            </a:r>
          </a:p>
          <a:p>
            <a:r>
              <a:t>- Acceptance reason: R7 Sources cover every competitor and verified price: 1 source(s) missing from the Sources section.</a:t>
            </a:r>
          </a:p>
          <a:p/>
          <a:p>
            <a:r>
              <a:t>Sources:</a:t>
            </a:r>
          </a:p>
          <a:p>
            <a:r>
              <a:t>Report: idea</a:t>
            </a:r>
          </a:p>
          <a:p/>
          <a:p>
            <a:r>
              <a:t>Labels: PARTIAL EVIDENCE: the source report failed acceptance; Evidence: 2 competitor(s) researched, 0 verified price(s)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Earth Organic Juices offer details are reported from search results; its Facebook page could not be retrieved. Prices are not verified. Channels are as stated in the research facts.</a:t>
            </a:r>
          </a:p>
          <a:p/>
          <a:p>
            <a:r>
              <a:t>Validated slide text:</a:t>
            </a:r>
          </a:p>
          <a:p>
            <a:r>
              <a:t>- iBites: Cold-pressed juices, wellness shots and smoothies, pressed after ordering; its surfaced daily plan says the same juice each morning.</a:t>
            </a:r>
          </a:p>
          <a:p>
            <a:r>
              <a:t>- iBites: Price unknown (not verified); website/menu and WhatsApp ordering.</a:t>
            </a:r>
          </a:p>
          <a:p>
            <a:r>
              <a:t>- Earth Organic Juices: Search results describe cold-pressed juices, weekly subscriptions, early-morning delivery and a three-day trial.</a:t>
            </a:r>
          </a:p>
          <a:p>
            <a:r>
              <a:t>- Earth Organic Juices: Price unknown (not verified); Instagram and WhatsApp advertised in a search result.</a:t>
            </a:r>
          </a:p>
          <a:p/>
          <a:p>
            <a:r>
              <a:t>Visual detail:</a:t>
            </a:r>
          </a:p>
          <a:p>
            <a:r>
              <a:t>- iBites: offer=Cold-pressed juices, wellness shots and smoothies, pressed after ordering; the page says a daily subscription is available, with the same juice delivered each morning.; channels=Website ordering/menu, WhatsApp ordering; price=unknown; unknowns=A price is mentioned on the cold-pressed juice page as starting at ₹25, but no unit or pack size is stated, so it is not recorded as a verified unit price.; Gym-goer focus is not evidenced.</a:t>
            </a:r>
          </a:p>
          <a:p>
            <a:r>
              <a:t>- Earth Organic Juices: offer=Search result describes cold-pressed juices and weekly subscriptions; another public result advertises early-morning delivery and a three-day trial.; channels=Instagram, WhatsApp (advertised in search result); price=unknown; unknowns=A search-result snippet advertises ₹297 for a three-day trial, but the underlying Facebook page could not be retrieved, so price is unverified.; Specific Pune delivery neighborhoods are not confirmed from a successfully read page.; Gym-goer focus is not evidenced.</a:t>
            </a:r>
          </a:p>
          <a:p/>
          <a:p>
            <a:r>
              <a:t>Sources:</a:t>
            </a:r>
          </a:p>
          <a:p>
            <a:r>
              <a:t>https://ibites.in/pune/online-juice-delivery</a:t>
            </a:r>
          </a:p>
          <a:p>
            <a:r>
              <a:t>https://ibites.in/pune/cold-pressed-juice</a:t>
            </a:r>
          </a:p>
          <a:p>
            <a:r>
              <a:t>https://www.instagram.com/earthorganicjuice/</a:t>
            </a:r>
          </a:p>
          <a:p>
            <a:r>
              <a:t>https://www.facebook.com/Earthorganicjuices/posts/fresh-cold-pressed-juice-at-your-door-before-7-amtry-our-3-day-trial-for-297-del/1406172155030581/</a:t>
            </a:r>
          </a:p>
          <a:p/>
          <a:p>
            <a:r>
              <a:t>Labels: PARTIAL EVIDENCE: the source report failed acceptance; Price unknown / not verified: iBites, Earth Organic Juices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available customer findings are praise from company websites, not verified complaints. Earth Organic Juices' Facebook post could not be read; Instagram content was not readable.</a:t>
            </a:r>
          </a:p>
          <a:p/>
          <a:p>
            <a:r>
              <a:t>Validated slide text:</a:t>
            </a:r>
          </a:p>
          <a:p>
            <a:r>
              <a:t>- iBites: No verifiable customer complaints were retrieved; independent review or ratings-page sentiment is unknown.</a:t>
            </a:r>
          </a:p>
          <a:p>
            <a:r>
              <a:t>- Earth Organic Juices: No verifiable customer complaints were retrieved; independent sentiment is unknown, and Instagram content was not readable.</a:t>
            </a:r>
          </a:p>
          <a:p/>
          <a:p>
            <a:r>
              <a:t>Visual detail:</a:t>
            </a:r>
          </a:p>
          <a:p>
            <a:r>
              <a:t>- iBites (quoted): “The flavor is incredibly refreshing and blends perfectly. I've noticed a significant boost in my energy since I started using it!” — attributed on iBites’ website to Priya S.</a:t>
            </a:r>
          </a:p>
          <a:p>
            <a:r>
              <a:t>- iBites (quoted): “The crisp citrus flavor is exactly what I need. Perfectly balanced, not too sweet, and gives me clean, natural energy without crashes.” — attributed on iBites’ website to Rahul M.</a:t>
            </a:r>
          </a:p>
          <a:p>
            <a:r>
              <a:t>- iBites (quoted): “Makes me feel healthy &amp; more energetic right from the jump. It's such an easy way to ensure I'm getting my daily nutrients!” — attributed on iBites’ website to Sneha K.</a:t>
            </a:r>
          </a:p>
          <a:p>
            <a:r>
              <a:t>- iBites (quoted): “Exactly what I've been looking for. The flavors are perfectly blended and I can feel the freshness in every sip. Essential!” — attributed on iBites’ website to Amit D.</a:t>
            </a:r>
          </a:p>
          <a:p>
            <a:r>
              <a:t>- Earth Organic Juices (quoted): “The flavor was incredibly fresh and natural, with the perfect balance of sweetness and tartness. You can really taste the quality ingredients…” — attributed on the company website to Preeti Dhanve, who says she tried the juices.</a:t>
            </a:r>
          </a:p>
          <a:p>
            <a:r>
              <a:t>- Earth Organic Juices (reported): The company website features a testimonial attributed to Shivlal Chavan praising the juices as free of preservatives and saying this gives him peace of mind about consuming a natural product.</a:t>
            </a:r>
          </a:p>
          <a:p>
            <a:r>
              <a:t>- Earth Organic Juices (reported): A testimonial attributed to Saraswati Gujiri says she has tried all the juices, likes their texture and taste, and recommends them; she also praises the use of natural, fresh vegetables and the absence of concentrates or preservatives.</a:t>
            </a:r>
          </a:p>
          <a:p>
            <a:r>
              <a:t>- Earth Organic Juices (reported): A testimonial attributed to Mrunal Bijwe says she has been drinking the brand’s amla juice for close to a year and personally found it useful for health.</a:t>
            </a:r>
          </a:p>
          <a:p/>
          <a:p>
            <a:r>
              <a:t>Sources:</a:t>
            </a:r>
          </a:p>
          <a:p>
            <a:r>
              <a:t>https://ibites.in/</a:t>
            </a:r>
          </a:p>
          <a:p>
            <a:r>
              <a:t>https://earthorganicjuices.com/</a:t>
            </a:r>
          </a:p>
          <a:p>
            <a:r>
              <a:t>https://www.instagram.com/earthorganicjuice/</a:t>
            </a:r>
          </a:p>
          <a:p>
            <a:r>
              <a:t>https://www.facebook.com/Earthorganicjuices/posts/fresh-cold-pressed-juice-at-your-door-before-7-amtry-our-3-day-trial-for-297-del/1406172155030581/</a:t>
            </a:r>
          </a:p>
          <a:p/>
          <a:p>
            <a:r>
              <a:t>Labels: PARTIAL EVIDENCE: the source report failed acceptance; Customer comments are attributed per source; unverified where noted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report's stated opportunity based on available evidence; it does not establish that no competitor offers these features.</a:t>
            </a:r>
          </a:p>
          <a:p/>
          <a:p>
            <a:r>
              <a:t>Validated slide text:</a:t>
            </a:r>
          </a:p>
          <a:p>
            <a:r>
              <a:t>- Research-visible opportunity, not a claim of exclusivity: clearly state the per-juice price and pack size.</a:t>
            </a:r>
          </a:p>
          <a:p>
            <a:r>
              <a:t>- Make weekly choice or rotation terms explicit; iBites' surfaced daily plan describes the same juice each morning.</a:t>
            </a:r>
          </a:p>
          <a:p>
            <a:r>
              <a:t>- Earth Organic Juices' weekly-plan variety terms are unknown.</a:t>
            </a:r>
          </a:p>
          <a:p/>
          <a:p>
            <a:r>
              <a:t>Visual detail:</a:t>
            </a:r>
          </a:p>
          <a:p>
            <a:r>
              <a:t>- iBites: Cold-pressed juices, wellness shots and smoothies, pressed after ordering</a:t>
            </a:r>
          </a:p>
          <a:p>
            <a:r>
              <a:t>- Earth Organic Juices: Search result describes cold-pressed juices and weekly subscriptions</a:t>
            </a:r>
          </a:p>
          <a:p>
            <a:r>
              <a:t>- Price not verified: iBites, Earth Organic Juices</a:t>
            </a:r>
          </a:p>
          <a:p>
            <a:r>
              <a:t>- No verifiable customer complaints were retrieved for either competitor.</a:t>
            </a:r>
          </a:p>
          <a:p>
            <a:r>
              <a:t>- iBites praise found in this research is on the company’s own website; independent review…</a:t>
            </a:r>
          </a:p>
          <a:p>
            <a:r>
              <a:t>- A price is mentioned on the cold-pressed juice page as starting at ₹25, but no…</a:t>
            </a:r>
          </a:p>
          <a:p>
            <a:r>
              <a:t>- A research-visible opportunity—not a claim that no competitor offers this—is a cold-pressed juice subscription that clearly states its per-juice price and pack size and explains how customers choose or receive variety across the…</a:t>
            </a:r>
          </a:p>
          <a:p>
            <a:r>
              <a:t>- The recommendation addresses a visible information gap in the supplied research: neither competitor has a verified unit price…</a:t>
            </a:r>
          </a:p>
          <a:p>
            <a:r>
              <a:t>- A seven-day Pune cold-pressed juice subscription with one juice per day, a clearly disclosed per-juice price and pack size, and explicit customer choice or rotation terms. Confirm serviceable delivery areas and operational details before advertising them.</a:t>
            </a:r>
          </a:p>
          <a:p>
            <a:r>
              <a:t>- A Pune cold-pressed juice subscription with clear per-juice pricing and a week of choice or planned variety.</a:t>
            </a:r>
          </a:p>
          <a:p/>
          <a:p>
            <a:r>
              <a:t>Sources:</a:t>
            </a:r>
          </a:p>
          <a:p>
            <a:r>
              <a:t>Strategy: recommendation</a:t>
            </a:r>
          </a:p>
          <a:p>
            <a:r>
              <a:t>https://ibites.in/pune/online-juice-delivery</a:t>
            </a:r>
          </a:p>
          <a:p>
            <a:r>
              <a:t>https://www.instagram.com/earthorganicjuice/</a:t>
            </a:r>
          </a:p>
          <a:p/>
          <a:p>
            <a:r>
              <a:t>Labels: PARTIAL EVIDENCE: the source report failed acceptance; Assumption: the gap is an inference from this research, not a market size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positioning and price are recommendations in the report. The proposed price is not a verified market price; serving size and delivery terms remain to be specified.</a:t>
            </a:r>
          </a:p>
          <a:p/>
          <a:p>
            <a:r>
              <a:t>Validated slide text:</a:t>
            </a:r>
          </a:p>
          <a:p>
            <a:r>
              <a:t>- Recommendation: “A Pune cold-pressed juice subscription with clear per-juice pricing and a week of choice or planned variety.”</a:t>
            </a:r>
          </a:p>
          <a:p>
            <a:r>
              <a:t>- Recommended price: ₹699 for a seven-day plan of one juice per day (about ₹100 per juice); this is a recommendation, not a verified price.</a:t>
            </a:r>
          </a:p>
          <a:p>
            <a:r>
              <a:t>- Specify serving size and delivery terms before sale; confirm serviceable areas before advertising them.</a:t>
            </a:r>
          </a:p>
          <a:p/>
          <a:p>
            <a:r>
              <a:t>Visual detail:</a:t>
            </a:r>
          </a:p>
          <a:p>
            <a:r>
              <a:t>- Recommended price (full text): ₹699 for a seven-day plan of one juice per day (about ₹100 per juice); proposed price only, with serving size and delivery terms to be specified before sale.</a:t>
            </a:r>
          </a:p>
          <a:p>
            <a:r>
              <a:t>- The price point is untested with target customers.</a:t>
            </a:r>
          </a:p>
          <a:p>
            <a:r>
              <a:t>- Competitor prices are unverified, so any premium or discount is unknown.</a:t>
            </a:r>
          </a:p>
          <a:p>
            <a:r>
              <a:t>- The recommendation addresses a visible information gap in the supplied research: neither competitor has a verified unit price…</a:t>
            </a:r>
          </a:p>
          <a:p>
            <a:r>
              <a:t>- Specify serving size and delivery terms before sale; confirm serviceable areas before advertising them.</a:t>
            </a:r>
          </a:p>
          <a:p/>
          <a:p>
            <a:r>
              <a:t>Sources:</a:t>
            </a:r>
          </a:p>
          <a:p>
            <a:r>
              <a:t>Strategy: recommendation</a:t>
            </a:r>
          </a:p>
          <a:p/>
          <a:p>
            <a:r>
              <a:t>Labels: PARTIAL EVIDENCE: the source report failed acceptance; Recommendation (not a verified market price): ₹699 for a seven-day plan of one juice per day (about ₹100 per juice); proposed price only, with serving size and delivery terms to be specified before sale.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proposed actions from the report's launch plan, not claims about completed research or existing operations.</a:t>
            </a:r>
          </a:p>
          <a:p/>
          <a:p>
            <a:r>
              <a:t>Validated slide text:</a:t>
            </a:r>
          </a:p>
          <a:p>
            <a:r>
              <a:t>- Week 1: Confirm feasibility, service areas, serving size and delivery terms; decide choice or rotation; validate the proposed ₹699 test price.</a:t>
            </a:r>
          </a:p>
          <a:p>
            <a:r>
              <a:t>- Week 2: Prepare an offer page with price, serving size, schedule, choice/rotation and service area; invite a small test group and adjust from feedback.</a:t>
            </a:r>
          </a:p>
          <a:p>
            <a:r>
              <a:t>- Week 3: Run a limited pilot with consenting customers in confirmed areas; track orders, repeat intent, delivery reliability and reported feedback.</a:t>
            </a:r>
          </a:p>
          <a:p>
            <a:r>
              <a:t>- Week 4: Review pilot and test-price response; revise the offer based on results and feasibility; expand promotion only where coverage and terms are confirmed.</a:t>
            </a:r>
          </a:p>
          <a:p/>
          <a:p>
            <a:r>
              <a:t>Visual detail:</a:t>
            </a:r>
          </a:p>
          <a:p>
            <a:r>
              <a:t>- Week 1: Confirm feasibility, service areas, serving size and delivery terms; decide choice or rotation; validate the proposed ₹699 test price.</a:t>
            </a:r>
          </a:p>
          <a:p>
            <a:r>
              <a:t>- Week 2: Prepare an offer page with price, serving size, schedule, choice/rotation and service area; invite a small test group and adjust from feedback.</a:t>
            </a:r>
          </a:p>
          <a:p>
            <a:r>
              <a:t>- Week 3: Run a limited pilot with consenting customers in confirmed areas; track orders, repeat intent, delivery reliability and reported feedback.</a:t>
            </a:r>
          </a:p>
          <a:p>
            <a:r>
              <a:t>- Week 4: Review pilot and test-price response; revise the offer based on results and feasibility; expand promotion only where coverage and terms are confirmed.</a:t>
            </a:r>
          </a:p>
          <a:p/>
          <a:p>
            <a:r>
              <a:t>Sources:</a:t>
            </a:r>
          </a:p>
          <a:p>
            <a:r>
              <a:t>Report: launch plan</a:t>
            </a:r>
          </a:p>
          <a:p/>
          <a:p>
            <a:r>
              <a:t>Labels: PARTIAL EVIDENCE: the source report failed acceptance; Recommended actions, not completed or verified facts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S logo tile"/>
          <p:cNvSpPr/>
          <p:nvPr/>
        </p:nvSpPr>
        <p:spPr>
          <a:xfrm>
            <a:off x="457200" y="27432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96" y="356616"/>
            <a:ext cx="628808" cy="566928"/>
          </a:xfrm>
          <a:prstGeom prst="rect">
            <a:avLst/>
          </a:prstGeom>
        </p:spPr>
      </p:pic>
      <p:sp>
        <p:nvSpPr>
          <p:cNvPr id="4" name="Kicker"/>
          <p:cNvSpPr txBox="1"/>
          <p:nvPr/>
        </p:nvSpPr>
        <p:spPr>
          <a:xfrm>
            <a:off x="1572768" y="237744"/>
            <a:ext cx="685800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01  ·  EXECUTIVE DASHBOARD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1572768" y="493776"/>
            <a:ext cx="78638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EF8"/>
                </a:solidFill>
                <a:latin typeface="Calibri"/>
              </a:rPr>
              <a:t>Idea &amp; Market</a:t>
            </a:r>
          </a:p>
        </p:txBody>
      </p:sp>
      <p:sp>
        <p:nvSpPr>
          <p:cNvPr id="6" name="Evidence status"/>
          <p:cNvSpPr/>
          <p:nvPr/>
        </p:nvSpPr>
        <p:spPr>
          <a:xfrm>
            <a:off x="9450019" y="475488"/>
            <a:ext cx="2284476" cy="329184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●  PARTIAL EVIDENCE</a:t>
            </a:r>
          </a:p>
        </p:txBody>
      </p:sp>
      <p:sp>
        <p:nvSpPr>
          <p:cNvPr id="7" name="Labels"/>
          <p:cNvSpPr/>
          <p:nvPr/>
        </p:nvSpPr>
        <p:spPr>
          <a:xfrm>
            <a:off x="457200" y="1188720"/>
            <a:ext cx="11277295" cy="347471"/>
          </a:xfrm>
          <a:prstGeom prst="roundRect">
            <a:avLst>
              <a:gd name="adj" fmla="val 21052"/>
            </a:avLst>
          </a:prstGeom>
          <a:solidFill>
            <a:srgbClr val="2A2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PARTIAL EVIDENCE: the source report failed acceptance   ·   Evidence: 2 competitor(s) researched, 0 verified price(s)</a:t>
            </a:r>
          </a:p>
        </p:txBody>
      </p:sp>
      <p:cxnSp>
        <p:nvCxnSpPr>
          <p:cNvPr id="8" name="Footer rule"/>
          <p:cNvCxnSpPr/>
          <p:nvPr/>
        </p:nvCxnSpPr>
        <p:spPr>
          <a:xfrm>
            <a:off x="457200" y="6355080"/>
            <a:ext cx="11277295" cy="0"/>
          </a:xfrm>
          <a:prstGeom prst="line">
            <a:avLst/>
          </a:prstGeom>
          <a:ln w="12700">
            <a:solidFill>
              <a:srgbClr val="27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oter"/>
          <p:cNvSpPr txBox="1"/>
          <p:nvPr/>
        </p:nvSpPr>
        <p:spPr>
          <a:xfrm>
            <a:off x="457200" y="6391656"/>
            <a:ext cx="1027145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FB2CC"/>
                </a:solidFill>
                <a:latin typeface="Calibri"/>
              </a:rPr>
              <a:t>LaunchScout  ·  Cold-pressed juice subscription  ·  Pune  ·  partial evidence  ·  run 20261014-201109-cold-pressed-juice-subscriptio-c0fe  ·  generated 2026-10-14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820095" y="6391656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1 / 6</a:t>
            </a:r>
          </a:p>
        </p:txBody>
      </p:sp>
      <p:sp>
        <p:nvSpPr>
          <p:cNvPr id="11" name="KPI tile"/>
          <p:cNvSpPr/>
          <p:nvPr/>
        </p:nvSpPr>
        <p:spPr>
          <a:xfrm>
            <a:off x="457200" y="1664208"/>
            <a:ext cx="2695879" cy="1508760"/>
          </a:xfrm>
          <a:prstGeom prst="roundRect">
            <a:avLst>
              <a:gd name="adj" fmla="val 4848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cent"/>
          <p:cNvSpPr/>
          <p:nvPr/>
        </p:nvSpPr>
        <p:spPr>
          <a:xfrm>
            <a:off x="457200" y="1664208"/>
            <a:ext cx="2695879" cy="64008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KPI value"/>
          <p:cNvSpPr txBox="1"/>
          <p:nvPr/>
        </p:nvSpPr>
        <p:spPr>
          <a:xfrm>
            <a:off x="594360" y="1801368"/>
            <a:ext cx="2421559" cy="51297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2DD4BF"/>
                </a:solidFill>
                <a:latin typeface="Calibri"/>
              </a:rPr>
              <a:t>2</a:t>
            </a:r>
          </a:p>
        </p:txBody>
      </p:sp>
      <p:sp>
        <p:nvSpPr>
          <p:cNvPr id="14" name="KPI label"/>
          <p:cNvSpPr txBox="1"/>
          <p:nvPr/>
        </p:nvSpPr>
        <p:spPr>
          <a:xfrm>
            <a:off x="594360" y="2314346"/>
            <a:ext cx="2421559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8EEF8"/>
                </a:solidFill>
                <a:latin typeface="Calibri"/>
              </a:rPr>
              <a:t>Competitors researched</a:t>
            </a:r>
          </a:p>
        </p:txBody>
      </p:sp>
      <p:sp>
        <p:nvSpPr>
          <p:cNvPr id="15" name="KPI caption"/>
          <p:cNvSpPr txBox="1"/>
          <p:nvPr/>
        </p:nvSpPr>
        <p:spPr>
          <a:xfrm>
            <a:off x="594360" y="2661818"/>
            <a:ext cx="2421559" cy="41970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FB2CC"/>
                </a:solidFill>
                <a:latin typeface="Calibri"/>
              </a:rPr>
              <a:t>named competitors with a URL and offer</a:t>
            </a:r>
          </a:p>
        </p:txBody>
      </p:sp>
      <p:sp>
        <p:nvSpPr>
          <p:cNvPr id="16" name="KPI tile"/>
          <p:cNvSpPr/>
          <p:nvPr/>
        </p:nvSpPr>
        <p:spPr>
          <a:xfrm>
            <a:off x="3317671" y="1664208"/>
            <a:ext cx="2695879" cy="1508760"/>
          </a:xfrm>
          <a:prstGeom prst="roundRect">
            <a:avLst>
              <a:gd name="adj" fmla="val 4848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cent"/>
          <p:cNvSpPr/>
          <p:nvPr/>
        </p:nvSpPr>
        <p:spPr>
          <a:xfrm>
            <a:off x="3317671" y="1664208"/>
            <a:ext cx="2695879" cy="640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KPI value"/>
          <p:cNvSpPr txBox="1"/>
          <p:nvPr/>
        </p:nvSpPr>
        <p:spPr>
          <a:xfrm>
            <a:off x="3454831" y="1801368"/>
            <a:ext cx="2421559" cy="51297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FBBF24"/>
                </a:solidFill>
                <a:latin typeface="Calibri"/>
              </a:rPr>
              <a:t>2</a:t>
            </a:r>
          </a:p>
        </p:txBody>
      </p:sp>
      <p:sp>
        <p:nvSpPr>
          <p:cNvPr id="19" name="KPI label"/>
          <p:cNvSpPr txBox="1"/>
          <p:nvPr/>
        </p:nvSpPr>
        <p:spPr>
          <a:xfrm>
            <a:off x="3454831" y="2314346"/>
            <a:ext cx="2421559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8EEF8"/>
                </a:solidFill>
                <a:latin typeface="Calibri"/>
              </a:rPr>
              <a:t>Evidence-backed</a:t>
            </a:r>
          </a:p>
        </p:txBody>
      </p:sp>
      <p:sp>
        <p:nvSpPr>
          <p:cNvPr id="20" name="KPI caption"/>
          <p:cNvSpPr txBox="1"/>
          <p:nvPr/>
        </p:nvSpPr>
        <p:spPr>
          <a:xfrm>
            <a:off x="3454831" y="2661818"/>
            <a:ext cx="2421559" cy="41970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FB2CC"/>
                </a:solidFill>
                <a:latin typeface="Calibri"/>
              </a:rPr>
              <a:t>with at least one evidence page (3 needed to pass)</a:t>
            </a:r>
          </a:p>
        </p:txBody>
      </p:sp>
      <p:sp>
        <p:nvSpPr>
          <p:cNvPr id="21" name="KPI tile"/>
          <p:cNvSpPr/>
          <p:nvPr/>
        </p:nvSpPr>
        <p:spPr>
          <a:xfrm>
            <a:off x="6178143" y="1664208"/>
            <a:ext cx="2695879" cy="1508760"/>
          </a:xfrm>
          <a:prstGeom prst="roundRect">
            <a:avLst>
              <a:gd name="adj" fmla="val 4848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"/>
          <p:cNvSpPr/>
          <p:nvPr/>
        </p:nvSpPr>
        <p:spPr>
          <a:xfrm>
            <a:off x="6178143" y="1664208"/>
            <a:ext cx="2695879" cy="640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KPI value"/>
          <p:cNvSpPr txBox="1"/>
          <p:nvPr/>
        </p:nvSpPr>
        <p:spPr>
          <a:xfrm>
            <a:off x="6315303" y="1801368"/>
            <a:ext cx="2421559" cy="51297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100" b="1" i="0">
                <a:solidFill>
                  <a:srgbClr val="FBBF24"/>
                </a:solidFill>
                <a:latin typeface="Calibri"/>
              </a:rPr>
              <a:t>0</a:t>
            </a:r>
          </a:p>
        </p:txBody>
      </p:sp>
      <p:sp>
        <p:nvSpPr>
          <p:cNvPr id="24" name="KPI label"/>
          <p:cNvSpPr txBox="1"/>
          <p:nvPr/>
        </p:nvSpPr>
        <p:spPr>
          <a:xfrm>
            <a:off x="6315303" y="2314346"/>
            <a:ext cx="2421559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8EEF8"/>
                </a:solidFill>
                <a:latin typeface="Calibri"/>
              </a:rPr>
              <a:t>Verified prices</a:t>
            </a:r>
          </a:p>
        </p:txBody>
      </p:sp>
      <p:sp>
        <p:nvSpPr>
          <p:cNvPr id="25" name="KPI caption"/>
          <p:cNvSpPr txBox="1"/>
          <p:nvPr/>
        </p:nvSpPr>
        <p:spPr>
          <a:xfrm>
            <a:off x="6315303" y="2661818"/>
            <a:ext cx="2421559" cy="41970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FB2CC"/>
                </a:solidFill>
                <a:latin typeface="Calibri"/>
              </a:rPr>
              <a:t>amount, unit, source and date (3 needed to pass)</a:t>
            </a:r>
          </a:p>
        </p:txBody>
      </p:sp>
      <p:sp>
        <p:nvSpPr>
          <p:cNvPr id="26" name="KPI tile"/>
          <p:cNvSpPr/>
          <p:nvPr/>
        </p:nvSpPr>
        <p:spPr>
          <a:xfrm>
            <a:off x="9038615" y="1664208"/>
            <a:ext cx="2695879" cy="1508760"/>
          </a:xfrm>
          <a:prstGeom prst="roundRect">
            <a:avLst>
              <a:gd name="adj" fmla="val 4848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cent"/>
          <p:cNvSpPr/>
          <p:nvPr/>
        </p:nvSpPr>
        <p:spPr>
          <a:xfrm>
            <a:off x="9038615" y="1664208"/>
            <a:ext cx="2695879" cy="64008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KPI value"/>
          <p:cNvSpPr txBox="1"/>
          <p:nvPr/>
        </p:nvSpPr>
        <p:spPr>
          <a:xfrm>
            <a:off x="9175775" y="1801368"/>
            <a:ext cx="2421559" cy="51297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BBF24"/>
                </a:solidFill>
                <a:latin typeface="Calibri"/>
              </a:rPr>
              <a:t>PARTIAL</a:t>
            </a:r>
          </a:p>
        </p:txBody>
      </p:sp>
      <p:sp>
        <p:nvSpPr>
          <p:cNvPr id="29" name="KPI label"/>
          <p:cNvSpPr txBox="1"/>
          <p:nvPr/>
        </p:nvSpPr>
        <p:spPr>
          <a:xfrm>
            <a:off x="9175775" y="2314346"/>
            <a:ext cx="2421559" cy="34747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E8EEF8"/>
                </a:solidFill>
                <a:latin typeface="Calibri"/>
              </a:rPr>
              <a:t>Research acceptance</a:t>
            </a:r>
          </a:p>
        </p:txBody>
      </p:sp>
      <p:sp>
        <p:nvSpPr>
          <p:cNvPr id="30" name="KPI caption"/>
          <p:cNvSpPr txBox="1"/>
          <p:nvPr/>
        </p:nvSpPr>
        <p:spPr>
          <a:xfrm>
            <a:off x="9175775" y="2661818"/>
            <a:ext cx="2421559" cy="419709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FB2CC"/>
                </a:solidFill>
                <a:latin typeface="Calibri"/>
              </a:rPr>
              <a:t>report failed the acceptance gate; every slide is labelled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337560"/>
            <a:ext cx="4297680" cy="2880360"/>
          </a:xfrm>
          <a:prstGeom prst="roundRect">
            <a:avLst>
              <a:gd name="adj" fmla="val 2539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cent"/>
          <p:cNvSpPr/>
          <p:nvPr/>
        </p:nvSpPr>
        <p:spPr>
          <a:xfrm>
            <a:off x="457200" y="3429000"/>
            <a:ext cx="64008" cy="2697479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anel heading"/>
          <p:cNvSpPr txBox="1"/>
          <p:nvPr/>
        </p:nvSpPr>
        <p:spPr>
          <a:xfrm>
            <a:off x="621792" y="3410712"/>
            <a:ext cx="402336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BUSINESS OPPORTUNITY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" y="3813048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50C1C"/>
                </a:solidFill>
                <a:latin typeface="Calibri"/>
              </a:rPr>
              <a:t>I</a:t>
            </a:r>
          </a:p>
        </p:txBody>
      </p:sp>
      <p:sp>
        <p:nvSpPr>
          <p:cNvPr id="35" name="Opportunity Idea"/>
          <p:cNvSpPr txBox="1"/>
          <p:nvPr/>
        </p:nvSpPr>
        <p:spPr>
          <a:xfrm>
            <a:off x="1097280" y="3758184"/>
            <a:ext cx="3520440" cy="46685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9FB2CC"/>
                </a:solidFill>
                <a:latin typeface="Calibri"/>
              </a:rPr>
              <a:t>IDEA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8EEF8"/>
                </a:solidFill>
                <a:latin typeface="Calibri"/>
              </a:rPr>
              <a:t>Cold-pressed juice subscription</a:t>
            </a:r>
          </a:p>
        </p:txBody>
      </p:sp>
      <p:sp>
        <p:nvSpPr>
          <p:cNvPr id="36" name="Oval 35"/>
          <p:cNvSpPr/>
          <p:nvPr/>
        </p:nvSpPr>
        <p:spPr>
          <a:xfrm>
            <a:off x="640080" y="4316476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50C1C"/>
                </a:solidFill>
                <a:latin typeface="Calibri"/>
              </a:rPr>
              <a:t>M</a:t>
            </a:r>
          </a:p>
        </p:txBody>
      </p:sp>
      <p:sp>
        <p:nvSpPr>
          <p:cNvPr id="37" name="Opportunity Market"/>
          <p:cNvSpPr txBox="1"/>
          <p:nvPr/>
        </p:nvSpPr>
        <p:spPr>
          <a:xfrm>
            <a:off x="1097280" y="4261612"/>
            <a:ext cx="3520440" cy="46685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9FB2CC"/>
                </a:solidFill>
                <a:latin typeface="Calibri"/>
              </a:rPr>
              <a:t>MARKET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8EEF8"/>
                </a:solidFill>
                <a:latin typeface="Calibri"/>
              </a:rPr>
              <a:t>Pune</a:t>
            </a:r>
          </a:p>
        </p:txBody>
      </p:sp>
      <p:sp>
        <p:nvSpPr>
          <p:cNvPr id="38" name="Oval 37"/>
          <p:cNvSpPr/>
          <p:nvPr/>
        </p:nvSpPr>
        <p:spPr>
          <a:xfrm>
            <a:off x="640080" y="4819904"/>
            <a:ext cx="347472" cy="347472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50C1C"/>
                </a:solidFill>
                <a:latin typeface="Calibri"/>
              </a:rPr>
              <a:t>C</a:t>
            </a:r>
          </a:p>
        </p:txBody>
      </p:sp>
      <p:sp>
        <p:nvSpPr>
          <p:cNvPr id="39" name="Opportunity Customer"/>
          <p:cNvSpPr txBox="1"/>
          <p:nvPr/>
        </p:nvSpPr>
        <p:spPr>
          <a:xfrm>
            <a:off x="1097280" y="4765040"/>
            <a:ext cx="3520440" cy="466852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9FB2CC"/>
                </a:solidFill>
                <a:latin typeface="Calibri"/>
              </a:rPr>
              <a:t>CUSTOMER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8EEF8"/>
                </a:solidFill>
                <a:latin typeface="Calibri"/>
              </a:rPr>
              <a:t>gym-goers aged 20-35</a:t>
            </a:r>
          </a:p>
        </p:txBody>
      </p:sp>
      <p:sp>
        <p:nvSpPr>
          <p:cNvPr id="40" name="Oval 39"/>
          <p:cNvSpPr/>
          <p:nvPr/>
        </p:nvSpPr>
        <p:spPr>
          <a:xfrm>
            <a:off x="640080" y="5323332"/>
            <a:ext cx="347472" cy="347472"/>
          </a:xfrm>
          <a:prstGeom prst="ellipse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050C1C"/>
                </a:solidFill>
                <a:latin typeface="Calibri"/>
              </a:rPr>
              <a:t>H</a:t>
            </a:r>
          </a:p>
        </p:txBody>
      </p:sp>
      <p:sp>
        <p:nvSpPr>
          <p:cNvPr id="41" name="Opportunity Opportunity"/>
          <p:cNvSpPr txBox="1"/>
          <p:nvPr/>
        </p:nvSpPr>
        <p:spPr>
          <a:xfrm>
            <a:off x="1097280" y="5268468"/>
            <a:ext cx="3520440" cy="8214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9FB2CC"/>
                </a:solidFill>
                <a:latin typeface="Calibri"/>
              </a:rPr>
              <a:t>OPPORTUNITY (ASSUMPTION)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8EEF8"/>
                </a:solidFill>
                <a:latin typeface="Calibri"/>
              </a:rPr>
              <a:t>A research-visible opportunity—not a claim that no competitor offers this—is a cold-pressed juice subscription that clearly…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919472" y="3337560"/>
            <a:ext cx="3749039" cy="2880360"/>
          </a:xfrm>
          <a:prstGeom prst="roundRect">
            <a:avLst>
              <a:gd name="adj" fmla="val 2539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Accent"/>
          <p:cNvSpPr/>
          <p:nvPr/>
        </p:nvSpPr>
        <p:spPr>
          <a:xfrm>
            <a:off x="4919472" y="3429000"/>
            <a:ext cx="64008" cy="2697479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Panel heading"/>
          <p:cNvSpPr txBox="1"/>
          <p:nvPr/>
        </p:nvSpPr>
        <p:spPr>
          <a:xfrm>
            <a:off x="5084064" y="3410712"/>
            <a:ext cx="347472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8BDF8"/>
                </a:solidFill>
                <a:latin typeface="Calibri"/>
              </a:rPr>
              <a:t>ACCEPTANCE GATE PROGRESS</a:t>
            </a:r>
          </a:p>
        </p:txBody>
      </p:sp>
      <p:graphicFrame>
        <p:nvGraphicFramePr>
          <p:cNvPr id="45" name="Gate progress chart"/>
          <p:cNvGraphicFramePr>
            <a:graphicFrameLocks noGrp="1"/>
          </p:cNvGraphicFramePr>
          <p:nvPr/>
        </p:nvGraphicFramePr>
        <p:xfrm>
          <a:off x="5056632" y="3758184"/>
          <a:ext cx="3474720" cy="236829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6" name="Rounded Rectangle 45"/>
          <p:cNvSpPr/>
          <p:nvPr/>
        </p:nvSpPr>
        <p:spPr>
          <a:xfrm>
            <a:off x="8833104" y="3337560"/>
            <a:ext cx="2901391" cy="2880360"/>
          </a:xfrm>
          <a:prstGeom prst="roundRect">
            <a:avLst>
              <a:gd name="adj" fmla="val 2539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Accent"/>
          <p:cNvSpPr/>
          <p:nvPr/>
        </p:nvSpPr>
        <p:spPr>
          <a:xfrm>
            <a:off x="8833104" y="3429000"/>
            <a:ext cx="64008" cy="2697479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Panel heading"/>
          <p:cNvSpPr txBox="1"/>
          <p:nvPr/>
        </p:nvSpPr>
        <p:spPr>
          <a:xfrm>
            <a:off x="8997696" y="3410712"/>
            <a:ext cx="262707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WHY IT IS PARTIAL</a:t>
            </a:r>
          </a:p>
        </p:txBody>
      </p:sp>
      <p:sp>
        <p:nvSpPr>
          <p:cNvPr id="49" name="Acceptance reasons"/>
          <p:cNvSpPr txBox="1"/>
          <p:nvPr/>
        </p:nvSpPr>
        <p:spPr>
          <a:xfrm>
            <a:off x="8997696" y="3758184"/>
            <a:ext cx="2627071" cy="2368295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203200" indent="-203200">
              <a:spcAft>
                <a:spcPts val="6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only 2 competitor(s) have a name, URL and evidence URL (3 required)</a:t>
            </a:r>
          </a:p>
          <a:p>
            <a:pPr algn="l" marL="203200" indent="-203200">
              <a:spcAft>
                <a:spcPts val="6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only 0 competitor(s) have a verified price with evidence (3 required)</a:t>
            </a:r>
          </a:p>
          <a:p>
            <a:pPr algn="l" marL="203200" indent="-203200">
              <a:spcAft>
                <a:spcPts val="6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At least 3 competitor rows: 2 competitor row(s) in the Key Competitors table (3 required).</a:t>
            </a:r>
          </a:p>
          <a:p>
            <a:pPr algn="l" marL="203200" indent="-203200">
              <a:spcAft>
                <a:spcPts val="6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Every URL in the report was returned by a tool: 1 URL(s) were never returned by any tool.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S logo tile"/>
          <p:cNvSpPr/>
          <p:nvPr/>
        </p:nvSpPr>
        <p:spPr>
          <a:xfrm>
            <a:off x="457200" y="27432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96" y="356616"/>
            <a:ext cx="628808" cy="566928"/>
          </a:xfrm>
          <a:prstGeom prst="rect">
            <a:avLst/>
          </a:prstGeom>
        </p:spPr>
      </p:pic>
      <p:sp>
        <p:nvSpPr>
          <p:cNvPr id="4" name="Kicker"/>
          <p:cNvSpPr txBox="1"/>
          <p:nvPr/>
        </p:nvSpPr>
        <p:spPr>
          <a:xfrm>
            <a:off x="1572768" y="237744"/>
            <a:ext cx="685800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02  ·  COMPARISON MATRIX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1572768" y="493776"/>
            <a:ext cx="78638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EF8"/>
                </a:solidFill>
                <a:latin typeface="Calibri"/>
              </a:rPr>
              <a:t>Competitor Landscape</a:t>
            </a:r>
          </a:p>
        </p:txBody>
      </p:sp>
      <p:sp>
        <p:nvSpPr>
          <p:cNvPr id="6" name="Evidence status"/>
          <p:cNvSpPr/>
          <p:nvPr/>
        </p:nvSpPr>
        <p:spPr>
          <a:xfrm>
            <a:off x="9450019" y="475488"/>
            <a:ext cx="2284476" cy="329184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●  PARTIAL EVIDENCE</a:t>
            </a:r>
          </a:p>
        </p:txBody>
      </p:sp>
      <p:sp>
        <p:nvSpPr>
          <p:cNvPr id="7" name="Labels"/>
          <p:cNvSpPr/>
          <p:nvPr/>
        </p:nvSpPr>
        <p:spPr>
          <a:xfrm>
            <a:off x="457200" y="1188720"/>
            <a:ext cx="11277295" cy="347471"/>
          </a:xfrm>
          <a:prstGeom prst="roundRect">
            <a:avLst>
              <a:gd name="adj" fmla="val 21052"/>
            </a:avLst>
          </a:prstGeom>
          <a:solidFill>
            <a:srgbClr val="2A2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PARTIAL EVIDENCE: the source report failed acceptance   ·   Price unknown / not verified: iBites, Earth Organic Juices</a:t>
            </a:r>
          </a:p>
        </p:txBody>
      </p:sp>
      <p:cxnSp>
        <p:nvCxnSpPr>
          <p:cNvPr id="8" name="Footer rule"/>
          <p:cNvCxnSpPr/>
          <p:nvPr/>
        </p:nvCxnSpPr>
        <p:spPr>
          <a:xfrm>
            <a:off x="457200" y="6355080"/>
            <a:ext cx="11277295" cy="0"/>
          </a:xfrm>
          <a:prstGeom prst="line">
            <a:avLst/>
          </a:prstGeom>
          <a:ln w="12700">
            <a:solidFill>
              <a:srgbClr val="27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oter"/>
          <p:cNvSpPr txBox="1"/>
          <p:nvPr/>
        </p:nvSpPr>
        <p:spPr>
          <a:xfrm>
            <a:off x="457200" y="6391656"/>
            <a:ext cx="1027145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FB2CC"/>
                </a:solidFill>
                <a:latin typeface="Calibri"/>
              </a:rPr>
              <a:t>LaunchScout  ·  Cold-pressed juice subscription  ·  Pune  ·  partial evidence  ·  run 20261014-201109-cold-pressed-juice-subscriptio-c0fe  ·  generated 2026-10-14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820095" y="6391656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2 / 6</a:t>
            </a:r>
          </a:p>
        </p:txBody>
      </p:sp>
      <p:sp>
        <p:nvSpPr>
          <p:cNvPr id="11" name="Competitor iBites"/>
          <p:cNvSpPr/>
          <p:nvPr/>
        </p:nvSpPr>
        <p:spPr>
          <a:xfrm>
            <a:off x="2148840" y="1664208"/>
            <a:ext cx="4747107" cy="566928"/>
          </a:xfrm>
          <a:prstGeom prst="roundRect">
            <a:avLst>
              <a:gd name="adj" fmla="val 12903"/>
            </a:avLst>
          </a:prstGeom>
          <a:solidFill>
            <a:srgbClr val="112244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8EEF8"/>
                </a:solidFill>
                <a:latin typeface="Calibri"/>
              </a:rPr>
              <a:t>iBites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2CC"/>
                </a:solidFill>
                <a:latin typeface="Calibri"/>
              </a:rPr>
              <a:t>ibites.in</a:t>
            </a:r>
          </a:p>
        </p:txBody>
      </p:sp>
      <p:sp>
        <p:nvSpPr>
          <p:cNvPr id="12" name="Competitor Earth Organic Juices"/>
          <p:cNvSpPr/>
          <p:nvPr/>
        </p:nvSpPr>
        <p:spPr>
          <a:xfrm>
            <a:off x="6987387" y="1664208"/>
            <a:ext cx="4747107" cy="566928"/>
          </a:xfrm>
          <a:prstGeom prst="roundRect">
            <a:avLst>
              <a:gd name="adj" fmla="val 12903"/>
            </a:avLst>
          </a:prstGeom>
          <a:solidFill>
            <a:srgbClr val="112244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8EEF8"/>
                </a:solidFill>
                <a:latin typeface="Calibri"/>
              </a:rPr>
              <a:t>Earth Organic Juices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2CC"/>
                </a:solidFill>
                <a:latin typeface="Calibri"/>
              </a:rPr>
              <a:t>instagram.com</a:t>
            </a:r>
          </a:p>
        </p:txBody>
      </p:sp>
      <p:sp>
        <p:nvSpPr>
          <p:cNvPr id="13" name="Row label panel"/>
          <p:cNvSpPr/>
          <p:nvPr/>
        </p:nvSpPr>
        <p:spPr>
          <a:xfrm>
            <a:off x="457200" y="2322576"/>
            <a:ext cx="1600200" cy="733985"/>
          </a:xfrm>
          <a:prstGeom prst="roundRect">
            <a:avLst>
              <a:gd name="adj" fmla="val 996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66928" y="2524976"/>
            <a:ext cx="329184" cy="32918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050C1C"/>
                </a:solidFill>
                <a:latin typeface="Calibri"/>
              </a:rPr>
              <a:t>O</a:t>
            </a:r>
          </a:p>
        </p:txBody>
      </p:sp>
      <p:sp>
        <p:nvSpPr>
          <p:cNvPr id="15" name="Row Offering"/>
          <p:cNvSpPr txBox="1"/>
          <p:nvPr/>
        </p:nvSpPr>
        <p:spPr>
          <a:xfrm>
            <a:off x="960120" y="2322576"/>
            <a:ext cx="1051560" cy="733985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EF8"/>
                </a:solidFill>
                <a:latin typeface="Calibri"/>
              </a:rPr>
              <a:t>Offering</a:t>
            </a:r>
          </a:p>
        </p:txBody>
      </p:sp>
      <p:sp>
        <p:nvSpPr>
          <p:cNvPr id="16" name="Offering: iBites"/>
          <p:cNvSpPr/>
          <p:nvPr/>
        </p:nvSpPr>
        <p:spPr>
          <a:xfrm>
            <a:off x="2148840" y="2322576"/>
            <a:ext cx="4747107" cy="733985"/>
          </a:xfrm>
          <a:prstGeom prst="roundRect">
            <a:avLst>
              <a:gd name="adj" fmla="val 996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E8EEF8"/>
                </a:solidFill>
                <a:latin typeface="Calibri"/>
              </a:rPr>
              <a:t>Cold-pressed juices, wellness shots and smoothies, pressed after ordering; the page says a daily subscription is available, with the same juice delivered each morning.</a:t>
            </a:r>
          </a:p>
        </p:txBody>
      </p:sp>
      <p:sp>
        <p:nvSpPr>
          <p:cNvPr id="17" name="Offering: Earth Organic Juices"/>
          <p:cNvSpPr/>
          <p:nvPr/>
        </p:nvSpPr>
        <p:spPr>
          <a:xfrm>
            <a:off x="6987387" y="2322576"/>
            <a:ext cx="4747107" cy="733985"/>
          </a:xfrm>
          <a:prstGeom prst="roundRect">
            <a:avLst>
              <a:gd name="adj" fmla="val 996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E8EEF8"/>
                </a:solidFill>
                <a:latin typeface="Calibri"/>
              </a:rPr>
              <a:t>Search result describes cold-pressed juices and weekly subscriptions; another public result advertises early-morning delivery and a three-day trial.</a:t>
            </a:r>
          </a:p>
        </p:txBody>
      </p:sp>
      <p:sp>
        <p:nvSpPr>
          <p:cNvPr id="18" name="Row label panel"/>
          <p:cNvSpPr/>
          <p:nvPr/>
        </p:nvSpPr>
        <p:spPr>
          <a:xfrm>
            <a:off x="457200" y="3148001"/>
            <a:ext cx="1600200" cy="502200"/>
          </a:xfrm>
          <a:prstGeom prst="roundRect">
            <a:avLst>
              <a:gd name="adj" fmla="val 1456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234510"/>
            <a:ext cx="329184" cy="32918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050C1C"/>
                </a:solidFill>
                <a:latin typeface="Calibri"/>
              </a:rPr>
              <a:t>S</a:t>
            </a:r>
          </a:p>
        </p:txBody>
      </p:sp>
      <p:sp>
        <p:nvSpPr>
          <p:cNvPr id="20" name="Row Subscription"/>
          <p:cNvSpPr txBox="1"/>
          <p:nvPr/>
        </p:nvSpPr>
        <p:spPr>
          <a:xfrm>
            <a:off x="960120" y="3148001"/>
            <a:ext cx="1051560" cy="5022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EF8"/>
                </a:solidFill>
                <a:latin typeface="Calibri"/>
              </a:rPr>
              <a:t>Subscription</a:t>
            </a:r>
          </a:p>
        </p:txBody>
      </p:sp>
      <p:sp>
        <p:nvSpPr>
          <p:cNvPr id="21" name="Subscription: iBites"/>
          <p:cNvSpPr/>
          <p:nvPr/>
        </p:nvSpPr>
        <p:spPr>
          <a:xfrm>
            <a:off x="2148840" y="3148001"/>
            <a:ext cx="4747107" cy="502200"/>
          </a:xfrm>
          <a:prstGeom prst="roundRect">
            <a:avLst>
              <a:gd name="adj" fmla="val 1456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E8EEF8"/>
                </a:solidFill>
                <a:latin typeface="Calibri"/>
              </a:rPr>
              <a:t>the page says a daily subscription is available, with the same juice delivered each morning.</a:t>
            </a:r>
          </a:p>
        </p:txBody>
      </p:sp>
      <p:sp>
        <p:nvSpPr>
          <p:cNvPr id="22" name="Subscription: Earth Organic Juices"/>
          <p:cNvSpPr/>
          <p:nvPr/>
        </p:nvSpPr>
        <p:spPr>
          <a:xfrm>
            <a:off x="6987387" y="3148001"/>
            <a:ext cx="4747107" cy="502200"/>
          </a:xfrm>
          <a:prstGeom prst="roundRect">
            <a:avLst>
              <a:gd name="adj" fmla="val 1456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E8EEF8"/>
                </a:solidFill>
                <a:latin typeface="Calibri"/>
              </a:rPr>
              <a:t>Search result describes cold-pressed juices and weekly subscriptions another public result advertises early-morning…</a:t>
            </a:r>
          </a:p>
        </p:txBody>
      </p:sp>
      <p:sp>
        <p:nvSpPr>
          <p:cNvPr id="23" name="Row label panel"/>
          <p:cNvSpPr/>
          <p:nvPr/>
        </p:nvSpPr>
        <p:spPr>
          <a:xfrm>
            <a:off x="457200" y="3741642"/>
            <a:ext cx="1600200" cy="386308"/>
          </a:xfrm>
          <a:prstGeom prst="roundRect">
            <a:avLst>
              <a:gd name="adj" fmla="val 1893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66928" y="3770204"/>
            <a:ext cx="329184" cy="32918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050C1C"/>
                </a:solidFill>
                <a:latin typeface="Calibri"/>
              </a:rPr>
              <a:t>C</a:t>
            </a:r>
          </a:p>
        </p:txBody>
      </p:sp>
      <p:sp>
        <p:nvSpPr>
          <p:cNvPr id="25" name="Row Channels"/>
          <p:cNvSpPr txBox="1"/>
          <p:nvPr/>
        </p:nvSpPr>
        <p:spPr>
          <a:xfrm>
            <a:off x="960120" y="3741642"/>
            <a:ext cx="1051560" cy="38630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EF8"/>
                </a:solidFill>
                <a:latin typeface="Calibri"/>
              </a:rPr>
              <a:t>Channels</a:t>
            </a:r>
          </a:p>
        </p:txBody>
      </p:sp>
      <p:sp>
        <p:nvSpPr>
          <p:cNvPr id="26" name="Channels: iBites"/>
          <p:cNvSpPr/>
          <p:nvPr/>
        </p:nvSpPr>
        <p:spPr>
          <a:xfrm>
            <a:off x="2148840" y="3741642"/>
            <a:ext cx="4747107" cy="386308"/>
          </a:xfrm>
          <a:prstGeom prst="roundRect">
            <a:avLst>
              <a:gd name="adj" fmla="val 1893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E8EEF8"/>
                </a:solidFill>
                <a:latin typeface="Calibri"/>
              </a:rPr>
              <a:t>Website ordering/menu, WhatsApp ordering</a:t>
            </a:r>
          </a:p>
        </p:txBody>
      </p:sp>
      <p:sp>
        <p:nvSpPr>
          <p:cNvPr id="27" name="Channels: Earth Organic Juices"/>
          <p:cNvSpPr/>
          <p:nvPr/>
        </p:nvSpPr>
        <p:spPr>
          <a:xfrm>
            <a:off x="6987387" y="3741642"/>
            <a:ext cx="4747107" cy="386308"/>
          </a:xfrm>
          <a:prstGeom prst="roundRect">
            <a:avLst>
              <a:gd name="adj" fmla="val 1893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E8EEF8"/>
                </a:solidFill>
                <a:latin typeface="Calibri"/>
              </a:rPr>
              <a:t>Instagram, WhatsApp (advertised in search result)</a:t>
            </a:r>
          </a:p>
        </p:txBody>
      </p:sp>
      <p:sp>
        <p:nvSpPr>
          <p:cNvPr id="28" name="Row label panel"/>
          <p:cNvSpPr/>
          <p:nvPr/>
        </p:nvSpPr>
        <p:spPr>
          <a:xfrm>
            <a:off x="457200" y="4219390"/>
            <a:ext cx="1600200" cy="733985"/>
          </a:xfrm>
          <a:prstGeom prst="roundRect">
            <a:avLst>
              <a:gd name="adj" fmla="val 996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6928" y="4421791"/>
            <a:ext cx="329184" cy="32918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050C1C"/>
                </a:solidFill>
                <a:latin typeface="Calibri"/>
              </a:rPr>
              <a:t>$</a:t>
            </a:r>
          </a:p>
        </p:txBody>
      </p:sp>
      <p:sp>
        <p:nvSpPr>
          <p:cNvPr id="30" name="Row Pricing"/>
          <p:cNvSpPr txBox="1"/>
          <p:nvPr/>
        </p:nvSpPr>
        <p:spPr>
          <a:xfrm>
            <a:off x="960120" y="4219390"/>
            <a:ext cx="1051560" cy="733985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EF8"/>
                </a:solidFill>
                <a:latin typeface="Calibri"/>
              </a:rPr>
              <a:t>Pricing</a:t>
            </a:r>
          </a:p>
        </p:txBody>
      </p:sp>
      <p:sp>
        <p:nvSpPr>
          <p:cNvPr id="31" name="Pricing: iBites"/>
          <p:cNvSpPr/>
          <p:nvPr/>
        </p:nvSpPr>
        <p:spPr>
          <a:xfrm>
            <a:off x="2148840" y="4219390"/>
            <a:ext cx="4747107" cy="733985"/>
          </a:xfrm>
          <a:prstGeom prst="roundRect">
            <a:avLst>
              <a:gd name="adj" fmla="val 9966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FBBF24"/>
                </a:solidFill>
                <a:latin typeface="Calibri"/>
              </a:rPr>
              <a:t>●  NOT VERIFIED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EEF8"/>
                </a:solidFill>
                <a:latin typeface="Calibri"/>
              </a:rPr>
              <a:t>Price unknown</a:t>
            </a:r>
          </a:p>
        </p:txBody>
      </p:sp>
      <p:sp>
        <p:nvSpPr>
          <p:cNvPr id="32" name="Pricing: Earth Organic Juices"/>
          <p:cNvSpPr/>
          <p:nvPr/>
        </p:nvSpPr>
        <p:spPr>
          <a:xfrm>
            <a:off x="6987387" y="4219390"/>
            <a:ext cx="4747107" cy="733985"/>
          </a:xfrm>
          <a:prstGeom prst="roundRect">
            <a:avLst>
              <a:gd name="adj" fmla="val 9966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100"/>
              </a:spcAft>
            </a:pPr>
            <a:r>
              <a:rPr sz="1100" b="1" i="0">
                <a:solidFill>
                  <a:srgbClr val="FBBF24"/>
                </a:solidFill>
                <a:latin typeface="Calibri"/>
              </a:rPr>
              <a:t>●  NOT VERIFIED</a:t>
            </a:r>
          </a:p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EEF8"/>
                </a:solidFill>
                <a:latin typeface="Calibri"/>
              </a:rPr>
              <a:t>Price unknown</a:t>
            </a:r>
          </a:p>
        </p:txBody>
      </p:sp>
      <p:sp>
        <p:nvSpPr>
          <p:cNvPr id="33" name="Row label panel"/>
          <p:cNvSpPr/>
          <p:nvPr/>
        </p:nvSpPr>
        <p:spPr>
          <a:xfrm>
            <a:off x="457200" y="5044816"/>
            <a:ext cx="1600200" cy="386308"/>
          </a:xfrm>
          <a:prstGeom prst="roundRect">
            <a:avLst>
              <a:gd name="adj" fmla="val 1893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6928" y="5073378"/>
            <a:ext cx="329184" cy="32918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050C1C"/>
                </a:solidFill>
                <a:latin typeface="Calibri"/>
              </a:rPr>
              <a:t>E</a:t>
            </a:r>
          </a:p>
        </p:txBody>
      </p:sp>
      <p:sp>
        <p:nvSpPr>
          <p:cNvPr id="35" name="Row Evidence"/>
          <p:cNvSpPr txBox="1"/>
          <p:nvPr/>
        </p:nvSpPr>
        <p:spPr>
          <a:xfrm>
            <a:off x="960120" y="5044816"/>
            <a:ext cx="1051560" cy="38630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EF8"/>
                </a:solidFill>
                <a:latin typeface="Calibri"/>
              </a:rPr>
              <a:t>Evidence</a:t>
            </a:r>
          </a:p>
        </p:txBody>
      </p:sp>
      <p:sp>
        <p:nvSpPr>
          <p:cNvPr id="36" name="Evidence: iBites"/>
          <p:cNvSpPr/>
          <p:nvPr/>
        </p:nvSpPr>
        <p:spPr>
          <a:xfrm>
            <a:off x="2148840" y="5044816"/>
            <a:ext cx="4747107" cy="386308"/>
          </a:xfrm>
          <a:prstGeom prst="roundRect">
            <a:avLst>
              <a:gd name="adj" fmla="val 1893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E8EEF8"/>
                </a:solidFill>
                <a:latin typeface="Calibri"/>
              </a:rPr>
              <a:t>2 source page(s): ibites.in</a:t>
            </a:r>
          </a:p>
        </p:txBody>
      </p:sp>
      <p:sp>
        <p:nvSpPr>
          <p:cNvPr id="37" name="Evidence: Earth Organic Juices"/>
          <p:cNvSpPr/>
          <p:nvPr/>
        </p:nvSpPr>
        <p:spPr>
          <a:xfrm>
            <a:off x="6987387" y="5044816"/>
            <a:ext cx="4747107" cy="386308"/>
          </a:xfrm>
          <a:prstGeom prst="roundRect">
            <a:avLst>
              <a:gd name="adj" fmla="val 1893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E8EEF8"/>
                </a:solidFill>
                <a:latin typeface="Calibri"/>
              </a:rPr>
              <a:t>2 source page(s): instagram.com, facebook.com</a:t>
            </a:r>
          </a:p>
        </p:txBody>
      </p:sp>
      <p:sp>
        <p:nvSpPr>
          <p:cNvPr id="38" name="Row label panel"/>
          <p:cNvSpPr/>
          <p:nvPr/>
        </p:nvSpPr>
        <p:spPr>
          <a:xfrm>
            <a:off x="457200" y="5522565"/>
            <a:ext cx="1600200" cy="695354"/>
          </a:xfrm>
          <a:prstGeom prst="roundRect">
            <a:avLst>
              <a:gd name="adj" fmla="val 10520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66928" y="5705650"/>
            <a:ext cx="329184" cy="329184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050C1C"/>
                </a:solidFill>
                <a:latin typeface="Calibri"/>
              </a:rPr>
              <a:t>!</a:t>
            </a:r>
          </a:p>
        </p:txBody>
      </p:sp>
      <p:sp>
        <p:nvSpPr>
          <p:cNvPr id="40" name="Row Limitations"/>
          <p:cNvSpPr txBox="1"/>
          <p:nvPr/>
        </p:nvSpPr>
        <p:spPr>
          <a:xfrm>
            <a:off x="960120" y="5522565"/>
            <a:ext cx="1051560" cy="695354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EF8"/>
                </a:solidFill>
                <a:latin typeface="Calibri"/>
              </a:rPr>
              <a:t>Limitations</a:t>
            </a:r>
          </a:p>
        </p:txBody>
      </p:sp>
      <p:sp>
        <p:nvSpPr>
          <p:cNvPr id="41" name="Limitations: iBites"/>
          <p:cNvSpPr/>
          <p:nvPr/>
        </p:nvSpPr>
        <p:spPr>
          <a:xfrm>
            <a:off x="2148840" y="5522565"/>
            <a:ext cx="4747107" cy="695354"/>
          </a:xfrm>
          <a:prstGeom prst="roundRect">
            <a:avLst>
              <a:gd name="adj" fmla="val 10520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A price is mentioned on the cold-pressed juice page as starting at ₹25, but no unit or pack size is stated…</a:t>
            </a:r>
          </a:p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Gym-goer focus is not evidenced.</a:t>
            </a:r>
          </a:p>
        </p:txBody>
      </p:sp>
      <p:sp>
        <p:nvSpPr>
          <p:cNvPr id="42" name="Limitations: Earth Organic Juices"/>
          <p:cNvSpPr/>
          <p:nvPr/>
        </p:nvSpPr>
        <p:spPr>
          <a:xfrm>
            <a:off x="6987387" y="5522565"/>
            <a:ext cx="4747107" cy="695354"/>
          </a:xfrm>
          <a:prstGeom prst="roundRect">
            <a:avLst>
              <a:gd name="adj" fmla="val 10520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A search-result snippet advertises ₹297 for a three-day trial, but the…</a:t>
            </a:r>
          </a:p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Specific Pune delivery neighborhoods are not confirmed from a…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S logo tile"/>
          <p:cNvSpPr/>
          <p:nvPr/>
        </p:nvSpPr>
        <p:spPr>
          <a:xfrm>
            <a:off x="457200" y="27432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96" y="356616"/>
            <a:ext cx="628808" cy="566928"/>
          </a:xfrm>
          <a:prstGeom prst="rect">
            <a:avLst/>
          </a:prstGeom>
        </p:spPr>
      </p:pic>
      <p:sp>
        <p:nvSpPr>
          <p:cNvPr id="4" name="Kicker"/>
          <p:cNvSpPr txBox="1"/>
          <p:nvPr/>
        </p:nvSpPr>
        <p:spPr>
          <a:xfrm>
            <a:off x="1572768" y="237744"/>
            <a:ext cx="685800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03  ·  EVIDENCE INTELLIGENCE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1572768" y="493776"/>
            <a:ext cx="78638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EF8"/>
                </a:solidFill>
                <a:latin typeface="Calibri"/>
              </a:rPr>
              <a:t>Customer Pain Points</a:t>
            </a:r>
          </a:p>
        </p:txBody>
      </p:sp>
      <p:sp>
        <p:nvSpPr>
          <p:cNvPr id="6" name="Evidence status"/>
          <p:cNvSpPr/>
          <p:nvPr/>
        </p:nvSpPr>
        <p:spPr>
          <a:xfrm>
            <a:off x="9450019" y="475488"/>
            <a:ext cx="2284476" cy="329184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●  PARTIAL EVIDENCE</a:t>
            </a:r>
          </a:p>
        </p:txBody>
      </p:sp>
      <p:sp>
        <p:nvSpPr>
          <p:cNvPr id="7" name="Labels"/>
          <p:cNvSpPr/>
          <p:nvPr/>
        </p:nvSpPr>
        <p:spPr>
          <a:xfrm>
            <a:off x="457200" y="1188720"/>
            <a:ext cx="11277295" cy="347471"/>
          </a:xfrm>
          <a:prstGeom prst="roundRect">
            <a:avLst>
              <a:gd name="adj" fmla="val 21052"/>
            </a:avLst>
          </a:prstGeom>
          <a:solidFill>
            <a:srgbClr val="2A2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PARTIAL EVIDENCE: the source report failed acceptance   ·   Customer comments are attributed per source; unverified where noted</a:t>
            </a:r>
          </a:p>
        </p:txBody>
      </p:sp>
      <p:cxnSp>
        <p:nvCxnSpPr>
          <p:cNvPr id="8" name="Footer rule"/>
          <p:cNvCxnSpPr/>
          <p:nvPr/>
        </p:nvCxnSpPr>
        <p:spPr>
          <a:xfrm>
            <a:off x="457200" y="6355080"/>
            <a:ext cx="11277295" cy="0"/>
          </a:xfrm>
          <a:prstGeom prst="line">
            <a:avLst/>
          </a:prstGeom>
          <a:ln w="12700">
            <a:solidFill>
              <a:srgbClr val="27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oter"/>
          <p:cNvSpPr txBox="1"/>
          <p:nvPr/>
        </p:nvSpPr>
        <p:spPr>
          <a:xfrm>
            <a:off x="457200" y="6391656"/>
            <a:ext cx="1027145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FB2CC"/>
                </a:solidFill>
                <a:latin typeface="Calibri"/>
              </a:rPr>
              <a:t>LaunchScout  ·  Cold-pressed juice subscription  ·  Pune  ·  partial evidence  ·  run 20261014-201109-cold-pressed-juice-subscriptio-c0fe  ·  generated 2026-10-14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820095" y="6391656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3 / 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664208"/>
            <a:ext cx="6494983" cy="4553712"/>
          </a:xfrm>
          <a:prstGeom prst="roundRect">
            <a:avLst>
              <a:gd name="adj" fmla="val 1606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cent"/>
          <p:cNvSpPr/>
          <p:nvPr/>
        </p:nvSpPr>
        <p:spPr>
          <a:xfrm>
            <a:off x="457200" y="1755648"/>
            <a:ext cx="64008" cy="4370831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anel heading"/>
          <p:cNvSpPr txBox="1"/>
          <p:nvPr/>
        </p:nvSpPr>
        <p:spPr>
          <a:xfrm>
            <a:off x="621792" y="1737360"/>
            <a:ext cx="622066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8BDF8"/>
                </a:solidFill>
                <a:latin typeface="Calibri"/>
              </a:rPr>
              <a:t>EVIDENCE COVERAGE BY COMPETITOR</a:t>
            </a:r>
          </a:p>
        </p:txBody>
      </p:sp>
      <p:sp>
        <p:nvSpPr>
          <p:cNvPr id="14" name="Column Offer"/>
          <p:cNvSpPr txBox="1"/>
          <p:nvPr/>
        </p:nvSpPr>
        <p:spPr>
          <a:xfrm>
            <a:off x="2157984" y="2084832"/>
            <a:ext cx="64358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FB2CC"/>
                </a:solidFill>
                <a:latin typeface="Calibri"/>
              </a:rPr>
              <a:t>OFFER</a:t>
            </a:r>
          </a:p>
        </p:txBody>
      </p:sp>
      <p:sp>
        <p:nvSpPr>
          <p:cNvPr id="15" name="Column Channels"/>
          <p:cNvSpPr txBox="1"/>
          <p:nvPr/>
        </p:nvSpPr>
        <p:spPr>
          <a:xfrm>
            <a:off x="2966161" y="2084832"/>
            <a:ext cx="64358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FB2CC"/>
                </a:solidFill>
                <a:latin typeface="Calibri"/>
              </a:rPr>
              <a:t>CHANNELS</a:t>
            </a:r>
          </a:p>
        </p:txBody>
      </p:sp>
      <p:sp>
        <p:nvSpPr>
          <p:cNvPr id="16" name="Column Price"/>
          <p:cNvSpPr txBox="1"/>
          <p:nvPr/>
        </p:nvSpPr>
        <p:spPr>
          <a:xfrm>
            <a:off x="3774338" y="2084832"/>
            <a:ext cx="64358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FB2CC"/>
                </a:solidFill>
                <a:latin typeface="Calibri"/>
              </a:rPr>
              <a:t>PRICE</a:t>
            </a:r>
          </a:p>
        </p:txBody>
      </p:sp>
      <p:sp>
        <p:nvSpPr>
          <p:cNvPr id="17" name="Column Praise"/>
          <p:cNvSpPr txBox="1"/>
          <p:nvPr/>
        </p:nvSpPr>
        <p:spPr>
          <a:xfrm>
            <a:off x="4582515" y="2084832"/>
            <a:ext cx="64358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FB2CC"/>
                </a:solidFill>
                <a:latin typeface="Calibri"/>
              </a:rPr>
              <a:t>PRAISE</a:t>
            </a:r>
          </a:p>
        </p:txBody>
      </p:sp>
      <p:sp>
        <p:nvSpPr>
          <p:cNvPr id="18" name="Column Pain points"/>
          <p:cNvSpPr txBox="1"/>
          <p:nvPr/>
        </p:nvSpPr>
        <p:spPr>
          <a:xfrm>
            <a:off x="5390692" y="2084832"/>
            <a:ext cx="64358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FB2CC"/>
                </a:solidFill>
                <a:latin typeface="Calibri"/>
              </a:rPr>
              <a:t>PAIN POINTS</a:t>
            </a:r>
          </a:p>
        </p:txBody>
      </p:sp>
      <p:sp>
        <p:nvSpPr>
          <p:cNvPr id="19" name="Column Pages"/>
          <p:cNvSpPr txBox="1"/>
          <p:nvPr/>
        </p:nvSpPr>
        <p:spPr>
          <a:xfrm>
            <a:off x="6198870" y="2084832"/>
            <a:ext cx="643585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FB2CC"/>
                </a:solidFill>
                <a:latin typeface="Calibri"/>
              </a:rPr>
              <a:t>PAGES</a:t>
            </a:r>
          </a:p>
        </p:txBody>
      </p:sp>
      <p:sp>
        <p:nvSpPr>
          <p:cNvPr id="20" name="Coverage iBites"/>
          <p:cNvSpPr txBox="1"/>
          <p:nvPr/>
        </p:nvSpPr>
        <p:spPr>
          <a:xfrm>
            <a:off x="621792" y="2596896"/>
            <a:ext cx="1371600" cy="13716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EF8"/>
                </a:solidFill>
                <a:latin typeface="Calibri"/>
              </a:rPr>
              <a:t>iBites</a:t>
            </a:r>
          </a:p>
        </p:txBody>
      </p:sp>
      <p:sp>
        <p:nvSpPr>
          <p:cNvPr id="21" name="Offer: iBites"/>
          <p:cNvSpPr/>
          <p:nvPr/>
        </p:nvSpPr>
        <p:spPr>
          <a:xfrm>
            <a:off x="2157984" y="2596896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0F3B3B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Yes</a:t>
            </a:r>
          </a:p>
        </p:txBody>
      </p:sp>
      <p:sp>
        <p:nvSpPr>
          <p:cNvPr id="22" name="Channels: iBites"/>
          <p:cNvSpPr/>
          <p:nvPr/>
        </p:nvSpPr>
        <p:spPr>
          <a:xfrm>
            <a:off x="2966161" y="2596896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0F3B3B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Yes</a:t>
            </a:r>
          </a:p>
        </p:txBody>
      </p:sp>
      <p:sp>
        <p:nvSpPr>
          <p:cNvPr id="23" name="Price: iBites"/>
          <p:cNvSpPr/>
          <p:nvPr/>
        </p:nvSpPr>
        <p:spPr>
          <a:xfrm>
            <a:off x="3774338" y="2596896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Unknown</a:t>
            </a:r>
          </a:p>
        </p:txBody>
      </p:sp>
      <p:sp>
        <p:nvSpPr>
          <p:cNvPr id="24" name="Praise: iBites"/>
          <p:cNvSpPr/>
          <p:nvPr/>
        </p:nvSpPr>
        <p:spPr>
          <a:xfrm>
            <a:off x="4582515" y="2596896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0F3B3B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4 found</a:t>
            </a:r>
          </a:p>
        </p:txBody>
      </p:sp>
      <p:sp>
        <p:nvSpPr>
          <p:cNvPr id="25" name="Pain points: iBites"/>
          <p:cNvSpPr/>
          <p:nvPr/>
        </p:nvSpPr>
        <p:spPr>
          <a:xfrm>
            <a:off x="5390692" y="2596896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None found</a:t>
            </a:r>
          </a:p>
        </p:txBody>
      </p:sp>
      <p:sp>
        <p:nvSpPr>
          <p:cNvPr id="26" name="Pages: iBites"/>
          <p:cNvSpPr/>
          <p:nvPr/>
        </p:nvSpPr>
        <p:spPr>
          <a:xfrm>
            <a:off x="6198870" y="2596896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0F3B3B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2</a:t>
            </a:r>
          </a:p>
        </p:txBody>
      </p:sp>
      <p:sp>
        <p:nvSpPr>
          <p:cNvPr id="27" name="Coverage Earth Organic Juices"/>
          <p:cNvSpPr txBox="1"/>
          <p:nvPr/>
        </p:nvSpPr>
        <p:spPr>
          <a:xfrm>
            <a:off x="621792" y="4133088"/>
            <a:ext cx="1371600" cy="1371600"/>
          </a:xfrm>
          <a:prstGeom prst="rect">
            <a:avLst/>
          </a:prstGeom>
          <a:noFill/>
        </p:spPr>
        <p:txBody>
          <a:bodyPr wrap="square" anchor="ctr" lIns="36576" rIns="36576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E8EEF8"/>
                </a:solidFill>
                <a:latin typeface="Calibri"/>
              </a:rPr>
              <a:t>Earth Organic Juices</a:t>
            </a:r>
          </a:p>
        </p:txBody>
      </p:sp>
      <p:sp>
        <p:nvSpPr>
          <p:cNvPr id="28" name="Offer: Earth Organic Juices"/>
          <p:cNvSpPr/>
          <p:nvPr/>
        </p:nvSpPr>
        <p:spPr>
          <a:xfrm>
            <a:off x="2157984" y="4133088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0F3B3B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Yes</a:t>
            </a:r>
          </a:p>
        </p:txBody>
      </p:sp>
      <p:sp>
        <p:nvSpPr>
          <p:cNvPr id="29" name="Channels: Earth Organic Juices"/>
          <p:cNvSpPr/>
          <p:nvPr/>
        </p:nvSpPr>
        <p:spPr>
          <a:xfrm>
            <a:off x="2966161" y="4133088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0F3B3B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Yes</a:t>
            </a:r>
          </a:p>
        </p:txBody>
      </p:sp>
      <p:sp>
        <p:nvSpPr>
          <p:cNvPr id="30" name="Price: Earth Organic Juices"/>
          <p:cNvSpPr/>
          <p:nvPr/>
        </p:nvSpPr>
        <p:spPr>
          <a:xfrm>
            <a:off x="3774338" y="4133088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Unknown</a:t>
            </a:r>
          </a:p>
        </p:txBody>
      </p:sp>
      <p:sp>
        <p:nvSpPr>
          <p:cNvPr id="31" name="Praise: Earth Organic Juices"/>
          <p:cNvSpPr/>
          <p:nvPr/>
        </p:nvSpPr>
        <p:spPr>
          <a:xfrm>
            <a:off x="4582515" y="4133088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0F3B3B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4 found</a:t>
            </a:r>
          </a:p>
        </p:txBody>
      </p:sp>
      <p:sp>
        <p:nvSpPr>
          <p:cNvPr id="32" name="Pain points: Earth Organic Juices"/>
          <p:cNvSpPr/>
          <p:nvPr/>
        </p:nvSpPr>
        <p:spPr>
          <a:xfrm>
            <a:off x="5390692" y="4133088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None found</a:t>
            </a:r>
          </a:p>
        </p:txBody>
      </p:sp>
      <p:sp>
        <p:nvSpPr>
          <p:cNvPr id="33" name="Pages: Earth Organic Juices"/>
          <p:cNvSpPr/>
          <p:nvPr/>
        </p:nvSpPr>
        <p:spPr>
          <a:xfrm>
            <a:off x="6198870" y="4133088"/>
            <a:ext cx="643585" cy="1371600"/>
          </a:xfrm>
          <a:prstGeom prst="roundRect">
            <a:avLst>
              <a:gd name="adj" fmla="val 11366"/>
            </a:avLst>
          </a:prstGeom>
          <a:solidFill>
            <a:srgbClr val="0F3B3B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2</a:t>
            </a:r>
          </a:p>
        </p:txBody>
      </p:sp>
      <p:sp>
        <p:nvSpPr>
          <p:cNvPr id="34" name="Legend supported"/>
          <p:cNvSpPr/>
          <p:nvPr/>
        </p:nvSpPr>
        <p:spPr>
          <a:xfrm>
            <a:off x="621792" y="5852159"/>
            <a:ext cx="1219581" cy="292608"/>
          </a:xfrm>
          <a:prstGeom prst="roundRect">
            <a:avLst>
              <a:gd name="adj" fmla="val 50000"/>
            </a:avLst>
          </a:prstGeom>
          <a:solidFill>
            <a:srgbClr val="0F3B3B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SUPPORTED</a:t>
            </a:r>
          </a:p>
        </p:txBody>
      </p:sp>
      <p:sp>
        <p:nvSpPr>
          <p:cNvPr id="35" name="Legend unknown"/>
          <p:cNvSpPr/>
          <p:nvPr/>
        </p:nvSpPr>
        <p:spPr>
          <a:xfrm>
            <a:off x="1901952" y="5852159"/>
            <a:ext cx="2490851" cy="292608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BBF24"/>
                </a:solidFill>
                <a:latin typeface="Calibri"/>
              </a:rPr>
              <a:t>UNKNOWN / NOT RETRIEVED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16775" y="1664208"/>
            <a:ext cx="4617720" cy="756920"/>
          </a:xfrm>
          <a:prstGeom prst="roundRect">
            <a:avLst>
              <a:gd name="adj" fmla="val 9664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ccent"/>
          <p:cNvSpPr/>
          <p:nvPr/>
        </p:nvSpPr>
        <p:spPr>
          <a:xfrm>
            <a:off x="7116775" y="1755648"/>
            <a:ext cx="64008" cy="57404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Panel heading"/>
          <p:cNvSpPr txBox="1"/>
          <p:nvPr/>
        </p:nvSpPr>
        <p:spPr>
          <a:xfrm>
            <a:off x="7281367" y="1737360"/>
            <a:ext cx="43434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SUPPORTED CLAIMS</a:t>
            </a:r>
          </a:p>
        </p:txBody>
      </p:sp>
      <p:sp>
        <p:nvSpPr>
          <p:cNvPr id="39" name="Card Supported claims"/>
          <p:cNvSpPr txBox="1"/>
          <p:nvPr/>
        </p:nvSpPr>
        <p:spPr>
          <a:xfrm>
            <a:off x="7281367" y="2084832"/>
            <a:ext cx="4343400" cy="281431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203200" indent="-203200">
              <a:spcAft>
                <a:spcPts val="200"/>
              </a:spcAft>
              <a:buChar char="•"/>
            </a:pPr>
            <a:r>
              <a:rPr sz="1200" b="0" i="0">
                <a:solidFill>
                  <a:srgbClr val="E8EEF8"/>
                </a:solidFill>
                <a:latin typeface="Calibri"/>
              </a:rPr>
              <a:t>8 customer comment(s) with a source URL (5 quoted)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16775" y="2512568"/>
            <a:ext cx="4617720" cy="983564"/>
          </a:xfrm>
          <a:prstGeom prst="roundRect">
            <a:avLst>
              <a:gd name="adj" fmla="val 7437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ccent"/>
          <p:cNvSpPr/>
          <p:nvPr/>
        </p:nvSpPr>
        <p:spPr>
          <a:xfrm>
            <a:off x="7116775" y="2604008"/>
            <a:ext cx="64008" cy="80068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Panel heading"/>
          <p:cNvSpPr txBox="1"/>
          <p:nvPr/>
        </p:nvSpPr>
        <p:spPr>
          <a:xfrm>
            <a:off x="7281367" y="2585720"/>
            <a:ext cx="43434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UNVERIFIED</a:t>
            </a:r>
          </a:p>
        </p:txBody>
      </p:sp>
      <p:sp>
        <p:nvSpPr>
          <p:cNvPr id="43" name="Card Unverified"/>
          <p:cNvSpPr txBox="1"/>
          <p:nvPr/>
        </p:nvSpPr>
        <p:spPr>
          <a:xfrm>
            <a:off x="7281367" y="2933192"/>
            <a:ext cx="4343400" cy="50807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No verifiable customer complaints were retrieved.</a:t>
            </a:r>
          </a:p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iBites praise found in this research is on the company’s…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16775" y="3587572"/>
            <a:ext cx="4617720" cy="1121712"/>
          </a:xfrm>
          <a:prstGeom prst="roundRect">
            <a:avLst>
              <a:gd name="adj" fmla="val 6521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Accent"/>
          <p:cNvSpPr/>
          <p:nvPr/>
        </p:nvSpPr>
        <p:spPr>
          <a:xfrm>
            <a:off x="7116775" y="3679012"/>
            <a:ext cx="64008" cy="93883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Panel heading"/>
          <p:cNvSpPr txBox="1"/>
          <p:nvPr/>
        </p:nvSpPr>
        <p:spPr>
          <a:xfrm>
            <a:off x="7281367" y="3660724"/>
            <a:ext cx="43434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B5CF6"/>
                </a:solidFill>
                <a:latin typeface="Calibri"/>
              </a:rPr>
              <a:t>SOURCE-ACCESS LIMITS</a:t>
            </a:r>
          </a:p>
        </p:txBody>
      </p:sp>
      <p:sp>
        <p:nvSpPr>
          <p:cNvPr id="47" name="Card Source-access limits"/>
          <p:cNvSpPr txBox="1"/>
          <p:nvPr/>
        </p:nvSpPr>
        <p:spPr>
          <a:xfrm>
            <a:off x="7281367" y="4008196"/>
            <a:ext cx="4343400" cy="646224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A search-result snippet advertises ₹297 for a three-day…</a:t>
            </a:r>
          </a:p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Earth Organic Juices praise found in this research is on the…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16775" y="4800725"/>
            <a:ext cx="4617720" cy="1417194"/>
          </a:xfrm>
          <a:prstGeom prst="roundRect">
            <a:avLst>
              <a:gd name="adj" fmla="val 5161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Accent"/>
          <p:cNvSpPr/>
          <p:nvPr/>
        </p:nvSpPr>
        <p:spPr>
          <a:xfrm>
            <a:off x="7116775" y="4892165"/>
            <a:ext cx="64008" cy="123431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Panel heading"/>
          <p:cNvSpPr txBox="1"/>
          <p:nvPr/>
        </p:nvSpPr>
        <p:spPr>
          <a:xfrm>
            <a:off x="7281367" y="4873877"/>
            <a:ext cx="4343400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8BDF8"/>
                </a:solidFill>
                <a:latin typeface="Calibri"/>
              </a:rPr>
              <a:t>RECOMMENDED VALIDATION (NOT YET DONE)</a:t>
            </a:r>
          </a:p>
        </p:txBody>
      </p:sp>
      <p:sp>
        <p:nvSpPr>
          <p:cNvPr id="51" name="Card Recommended validation (not yet done)"/>
          <p:cNvSpPr txBox="1"/>
          <p:nvPr/>
        </p:nvSpPr>
        <p:spPr>
          <a:xfrm>
            <a:off x="7281367" y="5221349"/>
            <a:ext cx="4343400" cy="94170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Gather independent reviews or run customer interviews.</a:t>
            </a:r>
          </a:p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Confirm unit price and pack size directly with each vendor.</a:t>
            </a:r>
          </a:p>
          <a:p>
            <a:pPr algn="l" marL="203200" indent="-203200">
              <a:spcAft>
                <a:spcPts val="2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Capture first-hand feedback during the proposed pilot.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S logo tile"/>
          <p:cNvSpPr/>
          <p:nvPr/>
        </p:nvSpPr>
        <p:spPr>
          <a:xfrm>
            <a:off x="457200" y="27432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96" y="356616"/>
            <a:ext cx="628808" cy="566928"/>
          </a:xfrm>
          <a:prstGeom prst="rect">
            <a:avLst/>
          </a:prstGeom>
        </p:spPr>
      </p:pic>
      <p:sp>
        <p:nvSpPr>
          <p:cNvPr id="4" name="Kicker"/>
          <p:cNvSpPr txBox="1"/>
          <p:nvPr/>
        </p:nvSpPr>
        <p:spPr>
          <a:xfrm>
            <a:off x="1572768" y="237744"/>
            <a:ext cx="685800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04  ·  OPPORTUNITY MAP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1572768" y="493776"/>
            <a:ext cx="78638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EF8"/>
                </a:solidFill>
                <a:latin typeface="Calibri"/>
              </a:rPr>
              <a:t>Market Gap</a:t>
            </a:r>
          </a:p>
        </p:txBody>
      </p:sp>
      <p:sp>
        <p:nvSpPr>
          <p:cNvPr id="6" name="Evidence status"/>
          <p:cNvSpPr/>
          <p:nvPr/>
        </p:nvSpPr>
        <p:spPr>
          <a:xfrm>
            <a:off x="9450019" y="475488"/>
            <a:ext cx="2284476" cy="329184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●  PARTIAL EVIDENCE</a:t>
            </a:r>
          </a:p>
        </p:txBody>
      </p:sp>
      <p:sp>
        <p:nvSpPr>
          <p:cNvPr id="7" name="Labels"/>
          <p:cNvSpPr/>
          <p:nvPr/>
        </p:nvSpPr>
        <p:spPr>
          <a:xfrm>
            <a:off x="457200" y="1188720"/>
            <a:ext cx="11277295" cy="347471"/>
          </a:xfrm>
          <a:prstGeom prst="roundRect">
            <a:avLst>
              <a:gd name="adj" fmla="val 21052"/>
            </a:avLst>
          </a:prstGeom>
          <a:solidFill>
            <a:srgbClr val="2A2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PARTIAL EVIDENCE: the source report failed acceptance   ·   Assumption: the gap is an inference from this research, not a market size</a:t>
            </a:r>
          </a:p>
        </p:txBody>
      </p:sp>
      <p:cxnSp>
        <p:nvCxnSpPr>
          <p:cNvPr id="8" name="Footer rule"/>
          <p:cNvCxnSpPr/>
          <p:nvPr/>
        </p:nvCxnSpPr>
        <p:spPr>
          <a:xfrm>
            <a:off x="457200" y="6355080"/>
            <a:ext cx="11277295" cy="0"/>
          </a:xfrm>
          <a:prstGeom prst="line">
            <a:avLst/>
          </a:prstGeom>
          <a:ln w="12700">
            <a:solidFill>
              <a:srgbClr val="27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oter"/>
          <p:cNvSpPr txBox="1"/>
          <p:nvPr/>
        </p:nvSpPr>
        <p:spPr>
          <a:xfrm>
            <a:off x="457200" y="6391656"/>
            <a:ext cx="1027145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FB2CC"/>
                </a:solidFill>
                <a:latin typeface="Calibri"/>
              </a:rPr>
              <a:t>LaunchScout  ·  Cold-pressed juice subscription  ·  Pune  ·  partial evidence  ·  run 20261014-201109-cold-pressed-juice-subscriptio-c0fe  ·  generated 2026-10-14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820095" y="6391656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4 / 6</a:t>
            </a:r>
          </a:p>
        </p:txBody>
      </p:sp>
      <p:sp>
        <p:nvSpPr>
          <p:cNvPr id="11" name="Stage 1"/>
          <p:cNvSpPr/>
          <p:nvPr/>
        </p:nvSpPr>
        <p:spPr>
          <a:xfrm>
            <a:off x="457200" y="1664208"/>
            <a:ext cx="2531287" cy="4005072"/>
          </a:xfrm>
          <a:prstGeom prst="roundRect">
            <a:avLst>
              <a:gd name="adj" fmla="val 2889"/>
            </a:avLst>
          </a:prstGeom>
          <a:solidFill>
            <a:srgbClr val="0F3B3B"/>
          </a:solidFill>
          <a:ln w="1905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tage 1 heading"/>
          <p:cNvSpPr txBox="1"/>
          <p:nvPr/>
        </p:nvSpPr>
        <p:spPr>
          <a:xfrm>
            <a:off x="566928" y="1755648"/>
            <a:ext cx="23118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DD4BF"/>
                </a:solidFill>
                <a:latin typeface="Calibri"/>
              </a:rPr>
              <a:t>1  OBSERVED</a:t>
            </a:r>
          </a:p>
        </p:txBody>
      </p:sp>
      <p:sp>
        <p:nvSpPr>
          <p:cNvPr id="13" name="Stage 1 subtitle"/>
          <p:cNvSpPr txBox="1"/>
          <p:nvPr/>
        </p:nvSpPr>
        <p:spPr>
          <a:xfrm>
            <a:off x="566928" y="2066544"/>
            <a:ext cx="231183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FB2CC"/>
                </a:solidFill>
                <a:latin typeface="Calibri"/>
              </a:rPr>
              <a:t>Competitor characteristics</a:t>
            </a:r>
          </a:p>
        </p:txBody>
      </p:sp>
      <p:sp>
        <p:nvSpPr>
          <p:cNvPr id="14" name="Stage 1 tag"/>
          <p:cNvSpPr/>
          <p:nvPr/>
        </p:nvSpPr>
        <p:spPr>
          <a:xfrm>
            <a:off x="566928" y="2414016"/>
            <a:ext cx="1946021" cy="292608"/>
          </a:xfrm>
          <a:prstGeom prst="roundRect">
            <a:avLst>
              <a:gd name="adj" fmla="val 50000"/>
            </a:avLst>
          </a:prstGeom>
          <a:solidFill>
            <a:srgbClr val="050C1C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VERIFIED FINDINGS</a:t>
            </a:r>
          </a:p>
        </p:txBody>
      </p:sp>
      <p:sp>
        <p:nvSpPr>
          <p:cNvPr id="15" name="Stage 1 content"/>
          <p:cNvSpPr txBox="1"/>
          <p:nvPr/>
        </p:nvSpPr>
        <p:spPr>
          <a:xfrm>
            <a:off x="566928" y="2779776"/>
            <a:ext cx="2311831" cy="279806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203200" indent="-203200">
              <a:spcAft>
                <a:spcPts val="800"/>
              </a:spcAft>
              <a:buChar char="•"/>
            </a:pPr>
            <a:r>
              <a:rPr sz="1400" b="0" i="0">
                <a:solidFill>
                  <a:srgbClr val="E8EEF8"/>
                </a:solidFill>
                <a:latin typeface="Calibri"/>
              </a:rPr>
              <a:t>iBites: Cold-pressed juices, wellness shots and smoothies, pressed after ordering</a:t>
            </a:r>
          </a:p>
          <a:p>
            <a:pPr algn="l" marL="203200" indent="-203200">
              <a:spcAft>
                <a:spcPts val="800"/>
              </a:spcAft>
              <a:buChar char="•"/>
            </a:pPr>
            <a:r>
              <a:rPr sz="1400" b="0" i="0">
                <a:solidFill>
                  <a:srgbClr val="E8EEF8"/>
                </a:solidFill>
                <a:latin typeface="Calibri"/>
              </a:rPr>
              <a:t>Earth Organic Juices: Search result describes cold-pressed juices and weekly subscriptions</a:t>
            </a:r>
          </a:p>
        </p:txBody>
      </p:sp>
      <p:cxnSp>
        <p:nvCxnSpPr>
          <p:cNvPr id="16" name="Flow arrow 1"/>
          <p:cNvCxnSpPr/>
          <p:nvPr/>
        </p:nvCxnSpPr>
        <p:spPr>
          <a:xfrm>
            <a:off x="3025063" y="3666744"/>
            <a:ext cx="310896" cy="0"/>
          </a:xfrm>
          <a:prstGeom prst="line">
            <a:avLst/>
          </a:prstGeom>
          <a:ln w="3810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tage 2"/>
          <p:cNvSpPr/>
          <p:nvPr/>
        </p:nvSpPr>
        <p:spPr>
          <a:xfrm>
            <a:off x="3372535" y="1664208"/>
            <a:ext cx="2531287" cy="4005072"/>
          </a:xfrm>
          <a:prstGeom prst="roundRect">
            <a:avLst>
              <a:gd name="adj" fmla="val 2889"/>
            </a:avLst>
          </a:prstGeom>
          <a:solidFill>
            <a:srgbClr val="2A2208"/>
          </a:solidFill>
          <a:ln w="1905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Stage 2 heading"/>
          <p:cNvSpPr txBox="1"/>
          <p:nvPr/>
        </p:nvSpPr>
        <p:spPr>
          <a:xfrm>
            <a:off x="3482263" y="1755648"/>
            <a:ext cx="23118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BBF24"/>
                </a:solidFill>
                <a:latin typeface="Calibri"/>
              </a:rPr>
              <a:t>2  EVIDENCE GAPS</a:t>
            </a:r>
          </a:p>
        </p:txBody>
      </p:sp>
      <p:sp>
        <p:nvSpPr>
          <p:cNvPr id="19" name="Stage 2 subtitle"/>
          <p:cNvSpPr txBox="1"/>
          <p:nvPr/>
        </p:nvSpPr>
        <p:spPr>
          <a:xfrm>
            <a:off x="3482263" y="2066544"/>
            <a:ext cx="231183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2CC"/>
                </a:solidFill>
                <a:latin typeface="Calibri"/>
              </a:rPr>
              <a:t>What research could not confirm</a:t>
            </a:r>
          </a:p>
        </p:txBody>
      </p:sp>
      <p:sp>
        <p:nvSpPr>
          <p:cNvPr id="20" name="Stage 2 tag"/>
          <p:cNvSpPr/>
          <p:nvPr/>
        </p:nvSpPr>
        <p:spPr>
          <a:xfrm>
            <a:off x="3482263" y="2414016"/>
            <a:ext cx="2218436" cy="292608"/>
          </a:xfrm>
          <a:prstGeom prst="roundRect">
            <a:avLst>
              <a:gd name="adj" fmla="val 50000"/>
            </a:avLst>
          </a:prstGeom>
          <a:solidFill>
            <a:srgbClr val="050C1C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BBF24"/>
                </a:solidFill>
                <a:latin typeface="Calibri"/>
              </a:rPr>
              <a:t>RESEARCH LIMITATIONS</a:t>
            </a:r>
          </a:p>
        </p:txBody>
      </p:sp>
      <p:sp>
        <p:nvSpPr>
          <p:cNvPr id="21" name="Stage 2 content"/>
          <p:cNvSpPr txBox="1"/>
          <p:nvPr/>
        </p:nvSpPr>
        <p:spPr>
          <a:xfrm>
            <a:off x="3482263" y="2779776"/>
            <a:ext cx="2311831" cy="279806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 marL="203200" indent="-203200">
              <a:spcAft>
                <a:spcPts val="8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Price not verified: iBites, Earth Organic Juices</a:t>
            </a:r>
          </a:p>
          <a:p>
            <a:pPr algn="l" marL="203200" indent="-203200">
              <a:spcAft>
                <a:spcPts val="8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No verifiable customer complaints were retrieved for either competitor.</a:t>
            </a:r>
          </a:p>
          <a:p>
            <a:pPr algn="l" marL="203200" indent="-203200">
              <a:spcAft>
                <a:spcPts val="8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iBites praise found in this research is on the company’s own website; independent review…</a:t>
            </a:r>
          </a:p>
          <a:p>
            <a:pPr algn="l" marL="203200" indent="-203200">
              <a:spcAft>
                <a:spcPts val="8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A price is mentioned on the cold-pressed juice page as starting at ₹25, but no…</a:t>
            </a:r>
          </a:p>
        </p:txBody>
      </p:sp>
      <p:cxnSp>
        <p:nvCxnSpPr>
          <p:cNvPr id="22" name="Flow arrow 2"/>
          <p:cNvCxnSpPr/>
          <p:nvPr/>
        </p:nvCxnSpPr>
        <p:spPr>
          <a:xfrm>
            <a:off x="5940399" y="3666744"/>
            <a:ext cx="310896" cy="0"/>
          </a:xfrm>
          <a:prstGeom prst="line">
            <a:avLst/>
          </a:prstGeom>
          <a:ln w="3810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Stage 3"/>
          <p:cNvSpPr/>
          <p:nvPr/>
        </p:nvSpPr>
        <p:spPr>
          <a:xfrm>
            <a:off x="6287871" y="1664208"/>
            <a:ext cx="2531287" cy="4005072"/>
          </a:xfrm>
          <a:prstGeom prst="roundRect">
            <a:avLst>
              <a:gd name="adj" fmla="val 2889"/>
            </a:avLst>
          </a:prstGeom>
          <a:solidFill>
            <a:srgbClr val="112244"/>
          </a:solidFill>
          <a:ln w="1905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Stage 3 heading"/>
          <p:cNvSpPr txBox="1"/>
          <p:nvPr/>
        </p:nvSpPr>
        <p:spPr>
          <a:xfrm>
            <a:off x="6397599" y="1755648"/>
            <a:ext cx="23118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38BDF8"/>
                </a:solidFill>
                <a:latin typeface="Calibri"/>
              </a:rPr>
              <a:t>3  OPPORTUNITY</a:t>
            </a:r>
          </a:p>
        </p:txBody>
      </p:sp>
      <p:sp>
        <p:nvSpPr>
          <p:cNvPr id="25" name="Stage 3 subtitle"/>
          <p:cNvSpPr txBox="1"/>
          <p:nvPr/>
        </p:nvSpPr>
        <p:spPr>
          <a:xfrm>
            <a:off x="6397599" y="2066544"/>
            <a:ext cx="231183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FB2CC"/>
                </a:solidFill>
                <a:latin typeface="Calibri"/>
              </a:rPr>
              <a:t>Hypothesis from the gaps</a:t>
            </a:r>
          </a:p>
        </p:txBody>
      </p:sp>
      <p:sp>
        <p:nvSpPr>
          <p:cNvPr id="26" name="Stage 3 tag"/>
          <p:cNvSpPr/>
          <p:nvPr/>
        </p:nvSpPr>
        <p:spPr>
          <a:xfrm>
            <a:off x="6397599" y="2414016"/>
            <a:ext cx="1310386" cy="292608"/>
          </a:xfrm>
          <a:prstGeom prst="roundRect">
            <a:avLst>
              <a:gd name="adj" fmla="val 50000"/>
            </a:avLst>
          </a:prstGeom>
          <a:solidFill>
            <a:srgbClr val="050C1C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38BDF8"/>
                </a:solidFill>
                <a:latin typeface="Calibri"/>
              </a:rPr>
              <a:t>ASSUMPTION</a:t>
            </a:r>
          </a:p>
        </p:txBody>
      </p:sp>
      <p:sp>
        <p:nvSpPr>
          <p:cNvPr id="27" name="Stage 3 content"/>
          <p:cNvSpPr txBox="1"/>
          <p:nvPr/>
        </p:nvSpPr>
        <p:spPr>
          <a:xfrm>
            <a:off x="6397599" y="2779776"/>
            <a:ext cx="2311831" cy="279806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E8EEF8"/>
                </a:solidFill>
                <a:latin typeface="Calibri"/>
              </a:rPr>
              <a:t>A research-visible opportunity—not a claim that no competitor offers this—is a cold-pressed juice subscription that clearly states its per-juice price and pack size and explains how customers choose or receive variety across the…</a:t>
            </a:r>
          </a:p>
          <a:p>
            <a:pPr algn="l">
              <a:spcAft>
                <a:spcPts val="800"/>
              </a:spcAft>
            </a:pPr>
            <a:r>
              <a:rPr sz="1100" b="0" i="0">
                <a:solidFill>
                  <a:srgbClr val="E8EEF8"/>
                </a:solidFill>
                <a:latin typeface="Calibri"/>
              </a:rPr>
              <a:t>The recommendation addresses a visible information gap in the supplied research: neither competitor has a verified unit price…</a:t>
            </a:r>
          </a:p>
        </p:txBody>
      </p:sp>
      <p:cxnSp>
        <p:nvCxnSpPr>
          <p:cNvPr id="28" name="Flow arrow 3"/>
          <p:cNvCxnSpPr/>
          <p:nvPr/>
        </p:nvCxnSpPr>
        <p:spPr>
          <a:xfrm>
            <a:off x="8855735" y="3666744"/>
            <a:ext cx="310896" cy="0"/>
          </a:xfrm>
          <a:prstGeom prst="line">
            <a:avLst/>
          </a:prstGeom>
          <a:ln w="3810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Stage 4"/>
          <p:cNvSpPr/>
          <p:nvPr/>
        </p:nvSpPr>
        <p:spPr>
          <a:xfrm>
            <a:off x="9203207" y="1664208"/>
            <a:ext cx="2531287" cy="4005072"/>
          </a:xfrm>
          <a:prstGeom prst="roundRect">
            <a:avLst>
              <a:gd name="adj" fmla="val 2889"/>
            </a:avLst>
          </a:prstGeom>
          <a:solidFill>
            <a:srgbClr val="1E163D"/>
          </a:solidFill>
          <a:ln w="1905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age 4 heading"/>
          <p:cNvSpPr txBox="1"/>
          <p:nvPr/>
        </p:nvSpPr>
        <p:spPr>
          <a:xfrm>
            <a:off x="9312935" y="1755648"/>
            <a:ext cx="2311831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8B5CF6"/>
                </a:solidFill>
                <a:latin typeface="Calibri"/>
              </a:rPr>
              <a:t>4  DIFFERENTIATION</a:t>
            </a:r>
          </a:p>
        </p:txBody>
      </p:sp>
      <p:sp>
        <p:nvSpPr>
          <p:cNvPr id="31" name="Stage 4 subtitle"/>
          <p:cNvSpPr txBox="1"/>
          <p:nvPr/>
        </p:nvSpPr>
        <p:spPr>
          <a:xfrm>
            <a:off x="9312935" y="2066544"/>
            <a:ext cx="2311831" cy="29260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9FB2CC"/>
                </a:solidFill>
                <a:latin typeface="Calibri"/>
              </a:rPr>
              <a:t>Proposed response</a:t>
            </a:r>
          </a:p>
        </p:txBody>
      </p:sp>
      <p:sp>
        <p:nvSpPr>
          <p:cNvPr id="32" name="Stage 4 tag"/>
          <p:cNvSpPr/>
          <p:nvPr/>
        </p:nvSpPr>
        <p:spPr>
          <a:xfrm>
            <a:off x="9312935" y="2414016"/>
            <a:ext cx="1673606" cy="292608"/>
          </a:xfrm>
          <a:prstGeom prst="roundRect">
            <a:avLst>
              <a:gd name="adj" fmla="val 50000"/>
            </a:avLst>
          </a:prstGeom>
          <a:solidFill>
            <a:srgbClr val="050C1C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8B5CF6"/>
                </a:solidFill>
                <a:latin typeface="Calibri"/>
              </a:rPr>
              <a:t>RECOMMENDATION</a:t>
            </a:r>
          </a:p>
        </p:txBody>
      </p:sp>
      <p:sp>
        <p:nvSpPr>
          <p:cNvPr id="33" name="Stage 4 content"/>
          <p:cNvSpPr txBox="1"/>
          <p:nvPr/>
        </p:nvSpPr>
        <p:spPr>
          <a:xfrm>
            <a:off x="9312935" y="2779776"/>
            <a:ext cx="2311831" cy="2798063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E8EEF8"/>
                </a:solidFill>
                <a:latin typeface="Calibri"/>
              </a:rPr>
              <a:t>A seven-day Pune cold-pressed juice subscription with one juice per day, a clearly disclosed per-juice price and pack size, and explicit customer choice or rotation terms. Confirm serviceable…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E8EEF8"/>
                </a:solidFill>
                <a:latin typeface="Calibri"/>
              </a:rPr>
              <a:t>A Pune cold-pressed juice subscription with clear per-juice pricing and a week of choice or planned variety.</a:t>
            </a:r>
          </a:p>
        </p:txBody>
      </p:sp>
      <p:sp>
        <p:nvSpPr>
          <p:cNvPr id="34" name="Legend Verified Finding"/>
          <p:cNvSpPr/>
          <p:nvPr/>
        </p:nvSpPr>
        <p:spPr>
          <a:xfrm>
            <a:off x="457200" y="5879592"/>
            <a:ext cx="1855216" cy="292608"/>
          </a:xfrm>
          <a:prstGeom prst="roundRect">
            <a:avLst>
              <a:gd name="adj" fmla="val 50000"/>
            </a:avLst>
          </a:prstGeom>
          <a:solidFill>
            <a:srgbClr val="0F3B3B"/>
          </a:solidFill>
          <a:ln w="12700">
            <a:solidFill>
              <a:srgbClr val="2DD4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VERIFIED FINDING</a:t>
            </a:r>
          </a:p>
        </p:txBody>
      </p:sp>
      <p:sp>
        <p:nvSpPr>
          <p:cNvPr id="35" name="Legend Research Limitation"/>
          <p:cNvSpPr/>
          <p:nvPr/>
        </p:nvSpPr>
        <p:spPr>
          <a:xfrm>
            <a:off x="2495296" y="5879592"/>
            <a:ext cx="2127631" cy="292608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BBF24"/>
                </a:solidFill>
                <a:latin typeface="Calibri"/>
              </a:rPr>
              <a:t>RESEARCH LIMITATION</a:t>
            </a:r>
          </a:p>
        </p:txBody>
      </p:sp>
      <p:sp>
        <p:nvSpPr>
          <p:cNvPr id="36" name="Legend Assumption"/>
          <p:cNvSpPr/>
          <p:nvPr/>
        </p:nvSpPr>
        <p:spPr>
          <a:xfrm>
            <a:off x="4805807" y="5879592"/>
            <a:ext cx="1310386" cy="292608"/>
          </a:xfrm>
          <a:prstGeom prst="roundRect">
            <a:avLst>
              <a:gd name="adj" fmla="val 50000"/>
            </a:avLst>
          </a:prstGeom>
          <a:solidFill>
            <a:srgbClr val="112244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38BDF8"/>
                </a:solidFill>
                <a:latin typeface="Calibri"/>
              </a:rPr>
              <a:t>ASSUMPTION</a:t>
            </a:r>
          </a:p>
        </p:txBody>
      </p:sp>
      <p:sp>
        <p:nvSpPr>
          <p:cNvPr id="37" name="Legend Recommendation"/>
          <p:cNvSpPr/>
          <p:nvPr/>
        </p:nvSpPr>
        <p:spPr>
          <a:xfrm>
            <a:off x="6299073" y="5879592"/>
            <a:ext cx="1673606" cy="292608"/>
          </a:xfrm>
          <a:prstGeom prst="roundRect">
            <a:avLst>
              <a:gd name="adj" fmla="val 50000"/>
            </a:avLst>
          </a:prstGeom>
          <a:solidFill>
            <a:srgbClr val="1E163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8B5CF6"/>
                </a:solidFill>
                <a:latin typeface="Calibri"/>
              </a:rPr>
              <a:t>RECOMMENDATION</a:t>
            </a:r>
          </a:p>
        </p:txBody>
      </p:sp>
      <p:sp>
        <p:nvSpPr>
          <p:cNvPr id="38" name="Flow caveat"/>
          <p:cNvSpPr txBox="1"/>
          <p:nvPr/>
        </p:nvSpPr>
        <p:spPr>
          <a:xfrm>
            <a:off x="8246999" y="5833872"/>
            <a:ext cx="3487496" cy="384048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9FB2CC"/>
                </a:solidFill>
                <a:latin typeface="Calibri"/>
              </a:rPr>
              <a:t>A hypothesis, not a proven fact.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S logo tile"/>
          <p:cNvSpPr/>
          <p:nvPr/>
        </p:nvSpPr>
        <p:spPr>
          <a:xfrm>
            <a:off x="457200" y="27432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96" y="356616"/>
            <a:ext cx="628808" cy="566928"/>
          </a:xfrm>
          <a:prstGeom prst="rect">
            <a:avLst/>
          </a:prstGeom>
        </p:spPr>
      </p:pic>
      <p:sp>
        <p:nvSpPr>
          <p:cNvPr id="4" name="Kicker"/>
          <p:cNvSpPr txBox="1"/>
          <p:nvPr/>
        </p:nvSpPr>
        <p:spPr>
          <a:xfrm>
            <a:off x="1572768" y="237744"/>
            <a:ext cx="685800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05  ·  PRICING STRATEGY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1572768" y="493776"/>
            <a:ext cx="78638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EF8"/>
                </a:solidFill>
                <a:latin typeface="Calibri"/>
              </a:rPr>
              <a:t>Positioning &amp; Price</a:t>
            </a:r>
          </a:p>
        </p:txBody>
      </p:sp>
      <p:sp>
        <p:nvSpPr>
          <p:cNvPr id="6" name="Evidence status"/>
          <p:cNvSpPr/>
          <p:nvPr/>
        </p:nvSpPr>
        <p:spPr>
          <a:xfrm>
            <a:off x="9450019" y="475488"/>
            <a:ext cx="2284476" cy="329184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●  PARTIAL EVIDENCE</a:t>
            </a:r>
          </a:p>
        </p:txBody>
      </p:sp>
      <p:sp>
        <p:nvSpPr>
          <p:cNvPr id="7" name="Labels"/>
          <p:cNvSpPr/>
          <p:nvPr/>
        </p:nvSpPr>
        <p:spPr>
          <a:xfrm>
            <a:off x="457200" y="1188720"/>
            <a:ext cx="11277295" cy="530352"/>
          </a:xfrm>
          <a:prstGeom prst="roundRect">
            <a:avLst>
              <a:gd name="adj" fmla="val 13793"/>
            </a:avLst>
          </a:prstGeom>
          <a:solidFill>
            <a:srgbClr val="2A2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PARTIAL EVIDENCE: the source report failed acceptance   ·   Recommendation (not a verified market price): ₹699 for a seven-day plan of one juice per day (about ₹100 per juice); proposed price only, with serving size and delivery terms to be specified before sale.</a:t>
            </a:r>
          </a:p>
        </p:txBody>
      </p:sp>
      <p:cxnSp>
        <p:nvCxnSpPr>
          <p:cNvPr id="8" name="Footer rule"/>
          <p:cNvCxnSpPr/>
          <p:nvPr/>
        </p:nvCxnSpPr>
        <p:spPr>
          <a:xfrm>
            <a:off x="457200" y="6355080"/>
            <a:ext cx="11277295" cy="0"/>
          </a:xfrm>
          <a:prstGeom prst="line">
            <a:avLst/>
          </a:prstGeom>
          <a:ln w="12700">
            <a:solidFill>
              <a:srgbClr val="27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oter"/>
          <p:cNvSpPr txBox="1"/>
          <p:nvPr/>
        </p:nvSpPr>
        <p:spPr>
          <a:xfrm>
            <a:off x="457200" y="6391656"/>
            <a:ext cx="1027145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FB2CC"/>
                </a:solidFill>
                <a:latin typeface="Calibri"/>
              </a:rPr>
              <a:t>LaunchScout  ·  Cold-pressed juice subscription  ·  Pune  ·  partial evidence  ·  run 20261014-201109-cold-pressed-juice-subscriptio-c0fe  ·  generated 2026-10-14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820095" y="6391656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5 / 6</a:t>
            </a:r>
          </a:p>
        </p:txBody>
      </p:sp>
      <p:sp>
        <p:nvSpPr>
          <p:cNvPr id="11" name="Price hero"/>
          <p:cNvSpPr/>
          <p:nvPr/>
        </p:nvSpPr>
        <p:spPr>
          <a:xfrm>
            <a:off x="457200" y="1847088"/>
            <a:ext cx="4480560" cy="4370831"/>
          </a:xfrm>
          <a:prstGeom prst="roundRect">
            <a:avLst>
              <a:gd name="adj" fmla="val 1673"/>
            </a:avLst>
          </a:prstGeom>
          <a:solidFill>
            <a:srgbClr val="1E163D"/>
          </a:solidFill>
          <a:ln w="254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ice warning"/>
          <p:cNvSpPr/>
          <p:nvPr/>
        </p:nvSpPr>
        <p:spPr>
          <a:xfrm>
            <a:off x="594360" y="1984248"/>
            <a:ext cx="4206240" cy="566928"/>
          </a:xfrm>
          <a:prstGeom prst="roundRect">
            <a:avLst>
              <a:gd name="adj" fmla="val 12903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BBF24"/>
                </a:solidFill>
                <a:latin typeface="Calibri"/>
              </a:rPr>
              <a:t>RECOMMENDATION — NOT A VERIFIED MARKET PRICE</a:t>
            </a:r>
          </a:p>
        </p:txBody>
      </p:sp>
      <p:sp>
        <p:nvSpPr>
          <p:cNvPr id="13" name="Price value"/>
          <p:cNvSpPr txBox="1"/>
          <p:nvPr/>
        </p:nvSpPr>
        <p:spPr>
          <a:xfrm>
            <a:off x="594360" y="2715768"/>
            <a:ext cx="4206240" cy="118872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6600" b="1" i="0">
                <a:solidFill>
                  <a:srgbClr val="E8EEF8"/>
                </a:solidFill>
                <a:latin typeface="Calibri"/>
              </a:rPr>
              <a:t>₹699</a:t>
            </a:r>
          </a:p>
        </p:txBody>
      </p:sp>
      <p:sp>
        <p:nvSpPr>
          <p:cNvPr id="14" name="Plan description"/>
          <p:cNvSpPr txBox="1"/>
          <p:nvPr/>
        </p:nvSpPr>
        <p:spPr>
          <a:xfrm>
            <a:off x="640080" y="3950208"/>
            <a:ext cx="4114800" cy="685800"/>
          </a:xfrm>
          <a:prstGeom prst="rect">
            <a:avLst/>
          </a:prstGeom>
          <a:noFill/>
        </p:spPr>
        <p:txBody>
          <a:bodyPr wrap="square" anchor="ctr" lIns="27432" rIns="27432" tIns="27432" bIns="27432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E8EEF8"/>
                </a:solidFill>
                <a:latin typeface="Calibri"/>
              </a:rPr>
              <a:t>Seven-day plan of one juice per day</a:t>
            </a:r>
          </a:p>
        </p:txBody>
      </p:sp>
      <p:sp>
        <p:nvSpPr>
          <p:cNvPr id="15" name="Derived calc"/>
          <p:cNvSpPr/>
          <p:nvPr/>
        </p:nvSpPr>
        <p:spPr>
          <a:xfrm>
            <a:off x="822960" y="4727448"/>
            <a:ext cx="3749040" cy="566928"/>
          </a:xfrm>
          <a:prstGeom prst="roundRect">
            <a:avLst>
              <a:gd name="adj" fmla="val 12903"/>
            </a:avLst>
          </a:prstGeom>
          <a:solidFill>
            <a:srgbClr val="0C1830"/>
          </a:solidFill>
          <a:ln w="12700">
            <a:solidFill>
              <a:srgbClr val="38BD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9FB2CC"/>
                </a:solidFill>
                <a:latin typeface="Calibri"/>
              </a:rPr>
              <a:t>DERIVED CALCULATION</a:t>
            </a:r>
          </a:p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38BDF8"/>
                </a:solidFill>
                <a:latin typeface="Calibri"/>
              </a:rPr>
              <a:t>About ₹100 per juice</a:t>
            </a:r>
          </a:p>
        </p:txBody>
      </p:sp>
      <p:sp>
        <p:nvSpPr>
          <p:cNvPr id="16" name="Price caveat"/>
          <p:cNvSpPr txBox="1"/>
          <p:nvPr/>
        </p:nvSpPr>
        <p:spPr>
          <a:xfrm>
            <a:off x="640080" y="5440680"/>
            <a:ext cx="4114800" cy="685799"/>
          </a:xfrm>
          <a:prstGeom prst="rect">
            <a:avLst/>
          </a:prstGeom>
          <a:noFill/>
        </p:spPr>
        <p:txBody>
          <a:bodyPr wrap="square" anchor="t" lIns="36576" rIns="36576" tIns="36576" bIns="36576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9FB2CC"/>
                </a:solidFill>
                <a:latin typeface="Calibri"/>
              </a:rPr>
              <a:t>Proposed price only, with serving size and delivery terms to be specified before sale. Competitor prices are unverified, so no price comparison is possible.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1847088"/>
            <a:ext cx="6632143" cy="1923166"/>
          </a:xfrm>
          <a:prstGeom prst="roundRect">
            <a:avLst>
              <a:gd name="adj" fmla="val 3803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cent"/>
          <p:cNvSpPr/>
          <p:nvPr/>
        </p:nvSpPr>
        <p:spPr>
          <a:xfrm>
            <a:off x="5102352" y="1938528"/>
            <a:ext cx="64008" cy="1740286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Panel heading"/>
          <p:cNvSpPr txBox="1"/>
          <p:nvPr/>
        </p:nvSpPr>
        <p:spPr>
          <a:xfrm>
            <a:off x="5266944" y="1920240"/>
            <a:ext cx="452902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8B5CF6"/>
                </a:solidFill>
                <a:latin typeface="Calibri"/>
              </a:rPr>
              <a:t>PROPOSED POSITIONING</a:t>
            </a:r>
          </a:p>
        </p:txBody>
      </p:sp>
      <p:sp>
        <p:nvSpPr>
          <p:cNvPr id="20" name="Positioning tag"/>
          <p:cNvSpPr/>
          <p:nvPr/>
        </p:nvSpPr>
        <p:spPr>
          <a:xfrm>
            <a:off x="9923729" y="1938528"/>
            <a:ext cx="1673606" cy="292608"/>
          </a:xfrm>
          <a:prstGeom prst="roundRect">
            <a:avLst>
              <a:gd name="adj" fmla="val 50000"/>
            </a:avLst>
          </a:prstGeom>
          <a:solidFill>
            <a:srgbClr val="1E163D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8B5CF6"/>
                </a:solidFill>
                <a:latin typeface="Calibri"/>
              </a:rPr>
              <a:t>RECOMMENDATION</a:t>
            </a:r>
          </a:p>
        </p:txBody>
      </p:sp>
      <p:sp>
        <p:nvSpPr>
          <p:cNvPr id="21" name="Positioning statement"/>
          <p:cNvSpPr txBox="1"/>
          <p:nvPr/>
        </p:nvSpPr>
        <p:spPr>
          <a:xfrm>
            <a:off x="5266944" y="2267712"/>
            <a:ext cx="6357823" cy="142939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 i="0">
                <a:solidFill>
                  <a:srgbClr val="E8EEF8"/>
                </a:solidFill>
                <a:latin typeface="Calibri"/>
              </a:rPr>
              <a:t>A Pune cold-pressed juice subscription with clear per-juice pricing and a week of choice or planned variety.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9FB2CC"/>
                </a:solidFill>
                <a:latin typeface="Calibri"/>
              </a:rPr>
              <a:t>A seven-day Pune cold-pressed juice subscription with one juice per day, a clearly disclosed per-juice price and pack size, and explicit customer choice or rotation terms. Confirm serviceable delivery areas and operational details before advertising them.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02352" y="3934846"/>
            <a:ext cx="3233775" cy="2283073"/>
          </a:xfrm>
          <a:prstGeom prst="roundRect">
            <a:avLst>
              <a:gd name="adj" fmla="val 3204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ccent"/>
          <p:cNvSpPr/>
          <p:nvPr/>
        </p:nvSpPr>
        <p:spPr>
          <a:xfrm>
            <a:off x="5102352" y="4026286"/>
            <a:ext cx="64008" cy="2100193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Panel heading"/>
          <p:cNvSpPr txBox="1"/>
          <p:nvPr/>
        </p:nvSpPr>
        <p:spPr>
          <a:xfrm>
            <a:off x="5266944" y="4007998"/>
            <a:ext cx="2959455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38BDF8"/>
                </a:solidFill>
                <a:latin typeface="Calibri"/>
              </a:rPr>
              <a:t>KEY ASSUMPTIONS</a:t>
            </a:r>
          </a:p>
        </p:txBody>
      </p:sp>
      <p:sp>
        <p:nvSpPr>
          <p:cNvPr id="25" name="Card Key assumptions"/>
          <p:cNvSpPr txBox="1"/>
          <p:nvPr/>
        </p:nvSpPr>
        <p:spPr>
          <a:xfrm>
            <a:off x="5266944" y="4355470"/>
            <a:ext cx="2959455" cy="1789297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203200" indent="-203200">
              <a:spcAft>
                <a:spcPts val="7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The price point is untested with target customers.</a:t>
            </a:r>
          </a:p>
          <a:p>
            <a:pPr algn="l" marL="203200" indent="-203200">
              <a:spcAft>
                <a:spcPts val="7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Competitor prices are unverified, so any premium or discount is unknown.</a:t>
            </a:r>
          </a:p>
          <a:p>
            <a:pPr algn="l" marL="203200" indent="-203200">
              <a:spcAft>
                <a:spcPts val="700"/>
              </a:spcAft>
              <a:buChar char="•"/>
            </a:pPr>
            <a:r>
              <a:rPr sz="1100" b="0" i="0">
                <a:solidFill>
                  <a:srgbClr val="E8EEF8"/>
                </a:solidFill>
                <a:latin typeface="Calibri"/>
              </a:rPr>
              <a:t>The recommendation addresses a visible information gap in the supplied research: neither competitor has a verified unit price…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0719" y="3934846"/>
            <a:ext cx="3233775" cy="2283073"/>
          </a:xfrm>
          <a:prstGeom prst="roundRect">
            <a:avLst>
              <a:gd name="adj" fmla="val 3204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cent"/>
          <p:cNvSpPr/>
          <p:nvPr/>
        </p:nvSpPr>
        <p:spPr>
          <a:xfrm>
            <a:off x="8500719" y="4026286"/>
            <a:ext cx="64008" cy="2100193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Panel heading"/>
          <p:cNvSpPr txBox="1"/>
          <p:nvPr/>
        </p:nvSpPr>
        <p:spPr>
          <a:xfrm>
            <a:off x="8665311" y="4007998"/>
            <a:ext cx="2959455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COMMERCIAL VALIDATION NEEDS</a:t>
            </a:r>
          </a:p>
        </p:txBody>
      </p:sp>
      <p:sp>
        <p:nvSpPr>
          <p:cNvPr id="29" name="Card Commercial validation needs"/>
          <p:cNvSpPr txBox="1"/>
          <p:nvPr/>
        </p:nvSpPr>
        <p:spPr>
          <a:xfrm>
            <a:off x="8665311" y="4355470"/>
            <a:ext cx="2959455" cy="1789297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 marL="203200" indent="-203200">
              <a:spcAft>
                <a:spcPts val="700"/>
              </a:spcAft>
              <a:buChar char="•"/>
            </a:pPr>
            <a:r>
              <a:rPr sz="1500" b="0" i="0">
                <a:solidFill>
                  <a:srgbClr val="E8EEF8"/>
                </a:solidFill>
                <a:latin typeface="Calibri"/>
              </a:rPr>
              <a:t>Specify serving size and delivery terms before sale; confirm serviceable areas before advertising them.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0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S logo tile"/>
          <p:cNvSpPr/>
          <p:nvPr/>
        </p:nvSpPr>
        <p:spPr>
          <a:xfrm>
            <a:off x="457200" y="274320"/>
            <a:ext cx="914400" cy="73152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LS logo" descr="LaunchScout LS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996" y="356616"/>
            <a:ext cx="628808" cy="566928"/>
          </a:xfrm>
          <a:prstGeom prst="rect">
            <a:avLst/>
          </a:prstGeom>
        </p:spPr>
      </p:pic>
      <p:sp>
        <p:nvSpPr>
          <p:cNvPr id="4" name="Kicker"/>
          <p:cNvSpPr txBox="1"/>
          <p:nvPr/>
        </p:nvSpPr>
        <p:spPr>
          <a:xfrm>
            <a:off x="1572768" y="237744"/>
            <a:ext cx="6858000" cy="246888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06  ·  VISUAL ROADMAP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1572768" y="493776"/>
            <a:ext cx="7863840" cy="56692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 i="0">
                <a:solidFill>
                  <a:srgbClr val="E8EEF8"/>
                </a:solidFill>
                <a:latin typeface="Calibri"/>
              </a:rPr>
              <a:t>30-Day Launch Plan</a:t>
            </a:r>
          </a:p>
        </p:txBody>
      </p:sp>
      <p:sp>
        <p:nvSpPr>
          <p:cNvPr id="6" name="Evidence status"/>
          <p:cNvSpPr/>
          <p:nvPr/>
        </p:nvSpPr>
        <p:spPr>
          <a:xfrm>
            <a:off x="9450019" y="475488"/>
            <a:ext cx="2284476" cy="329184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●  PARTIAL EVIDENCE</a:t>
            </a:r>
          </a:p>
        </p:txBody>
      </p:sp>
      <p:sp>
        <p:nvSpPr>
          <p:cNvPr id="7" name="Labels"/>
          <p:cNvSpPr/>
          <p:nvPr/>
        </p:nvSpPr>
        <p:spPr>
          <a:xfrm>
            <a:off x="457200" y="1188720"/>
            <a:ext cx="11277295" cy="347471"/>
          </a:xfrm>
          <a:prstGeom prst="roundRect">
            <a:avLst>
              <a:gd name="adj" fmla="val 21052"/>
            </a:avLst>
          </a:prstGeom>
          <a:solidFill>
            <a:srgbClr val="2A22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BBF24"/>
                </a:solidFill>
                <a:latin typeface="Calibri"/>
              </a:rPr>
              <a:t>PARTIAL EVIDENCE: the source report failed acceptance   ·   Recommended actions, not completed or verified facts</a:t>
            </a:r>
          </a:p>
        </p:txBody>
      </p:sp>
      <p:cxnSp>
        <p:nvCxnSpPr>
          <p:cNvPr id="8" name="Footer rule"/>
          <p:cNvCxnSpPr/>
          <p:nvPr/>
        </p:nvCxnSpPr>
        <p:spPr>
          <a:xfrm>
            <a:off x="457200" y="6355080"/>
            <a:ext cx="11277295" cy="0"/>
          </a:xfrm>
          <a:prstGeom prst="line">
            <a:avLst/>
          </a:prstGeom>
          <a:ln w="12700">
            <a:solidFill>
              <a:srgbClr val="2740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ooter"/>
          <p:cNvSpPr txBox="1"/>
          <p:nvPr/>
        </p:nvSpPr>
        <p:spPr>
          <a:xfrm>
            <a:off x="457200" y="6391656"/>
            <a:ext cx="10271455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FB2CC"/>
                </a:solidFill>
                <a:latin typeface="Calibri"/>
              </a:rPr>
              <a:t>LaunchScout  ·  Cold-pressed juice subscription  ·  Pune  ·  partial evidence  ·  run 20261014-201109-cold-pressed-juice-subscriptio-c0fe  ·  generated 2026-10-14</a:t>
            </a:r>
          </a:p>
        </p:txBody>
      </p:sp>
      <p:sp>
        <p:nvSpPr>
          <p:cNvPr id="10" name="Slide number"/>
          <p:cNvSpPr txBox="1"/>
          <p:nvPr/>
        </p:nvSpPr>
        <p:spPr>
          <a:xfrm>
            <a:off x="10820095" y="6391656"/>
            <a:ext cx="914400" cy="2743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2DD4BF"/>
                </a:solidFill>
                <a:latin typeface="Calibri"/>
              </a:rPr>
              <a:t>6 / 6</a:t>
            </a:r>
          </a:p>
        </p:txBody>
      </p:sp>
      <p:sp>
        <p:nvSpPr>
          <p:cNvPr id="11" name="Plan status"/>
          <p:cNvSpPr/>
          <p:nvPr/>
        </p:nvSpPr>
        <p:spPr>
          <a:xfrm>
            <a:off x="457200" y="1664208"/>
            <a:ext cx="11277295" cy="347472"/>
          </a:xfrm>
          <a:prstGeom prst="roundRect">
            <a:avLst>
              <a:gd name="adj" fmla="val 21052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FBBF24"/>
                </a:solidFill>
                <a:latin typeface="Calibri"/>
              </a:rPr>
              <a:t>PROPOSED FUTURE ACTIONS — NOT COMPLETED OR VERIFIED</a:t>
            </a:r>
          </a:p>
        </p:txBody>
      </p:sp>
      <p:cxnSp>
        <p:nvCxnSpPr>
          <p:cNvPr id="12" name="Timeline link 1"/>
          <p:cNvCxnSpPr/>
          <p:nvPr/>
        </p:nvCxnSpPr>
        <p:spPr>
          <a:xfrm>
            <a:off x="2125179" y="2468880"/>
            <a:ext cx="2220392" cy="0"/>
          </a:xfrm>
          <a:prstGeom prst="line">
            <a:avLst/>
          </a:prstGeom>
          <a:ln w="3810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Timeline link 2"/>
          <p:cNvCxnSpPr/>
          <p:nvPr/>
        </p:nvCxnSpPr>
        <p:spPr>
          <a:xfrm>
            <a:off x="4985651" y="2468880"/>
            <a:ext cx="2220392" cy="0"/>
          </a:xfrm>
          <a:prstGeom prst="line">
            <a:avLst/>
          </a:prstGeom>
          <a:ln w="3810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Timeline link 3"/>
          <p:cNvCxnSpPr/>
          <p:nvPr/>
        </p:nvCxnSpPr>
        <p:spPr>
          <a:xfrm>
            <a:off x="7846123" y="2468880"/>
            <a:ext cx="2220392" cy="0"/>
          </a:xfrm>
          <a:prstGeom prst="line">
            <a:avLst/>
          </a:prstGeom>
          <a:ln w="38100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Milestone Week 1"/>
          <p:cNvSpPr/>
          <p:nvPr/>
        </p:nvSpPr>
        <p:spPr>
          <a:xfrm>
            <a:off x="1530819" y="2194560"/>
            <a:ext cx="548640" cy="54864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50C1C"/>
                </a:solidFill>
                <a:latin typeface="Calibri"/>
              </a:rPr>
              <a:t>W1</a:t>
            </a:r>
          </a:p>
        </p:txBody>
      </p:sp>
      <p:sp>
        <p:nvSpPr>
          <p:cNvPr id="16" name="Milestone Week 2"/>
          <p:cNvSpPr/>
          <p:nvPr/>
        </p:nvSpPr>
        <p:spPr>
          <a:xfrm>
            <a:off x="4391291" y="2194560"/>
            <a:ext cx="548640" cy="54864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50C1C"/>
                </a:solidFill>
                <a:latin typeface="Calibri"/>
              </a:rPr>
              <a:t>W2</a:t>
            </a:r>
          </a:p>
        </p:txBody>
      </p:sp>
      <p:sp>
        <p:nvSpPr>
          <p:cNvPr id="17" name="Milestone Week 3"/>
          <p:cNvSpPr/>
          <p:nvPr/>
        </p:nvSpPr>
        <p:spPr>
          <a:xfrm>
            <a:off x="7251763" y="2194560"/>
            <a:ext cx="548640" cy="54864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50C1C"/>
                </a:solidFill>
                <a:latin typeface="Calibri"/>
              </a:rPr>
              <a:t>W3</a:t>
            </a:r>
          </a:p>
        </p:txBody>
      </p:sp>
      <p:sp>
        <p:nvSpPr>
          <p:cNvPr id="18" name="Milestone Week 4"/>
          <p:cNvSpPr/>
          <p:nvPr/>
        </p:nvSpPr>
        <p:spPr>
          <a:xfrm>
            <a:off x="10112235" y="2194560"/>
            <a:ext cx="548640" cy="54864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050C1C"/>
                </a:solidFill>
                <a:latin typeface="Calibri"/>
              </a:rPr>
              <a:t>W4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880360"/>
            <a:ext cx="2695879" cy="3337559"/>
          </a:xfrm>
          <a:prstGeom prst="roundRect">
            <a:avLst>
              <a:gd name="adj" fmla="val 2713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cent"/>
          <p:cNvSpPr/>
          <p:nvPr/>
        </p:nvSpPr>
        <p:spPr>
          <a:xfrm>
            <a:off x="457200" y="2971800"/>
            <a:ext cx="64008" cy="3154679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Panel heading"/>
          <p:cNvSpPr txBox="1"/>
          <p:nvPr/>
        </p:nvSpPr>
        <p:spPr>
          <a:xfrm>
            <a:off x="621792" y="2953512"/>
            <a:ext cx="117594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WEEK 1</a:t>
            </a:r>
          </a:p>
        </p:txBody>
      </p:sp>
      <p:sp>
        <p:nvSpPr>
          <p:cNvPr id="22" name="Week 1 tag"/>
          <p:cNvSpPr/>
          <p:nvPr/>
        </p:nvSpPr>
        <p:spPr>
          <a:xfrm>
            <a:off x="1980615" y="2953512"/>
            <a:ext cx="1062736" cy="283464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BBF24"/>
                </a:solidFill>
                <a:latin typeface="Calibri"/>
              </a:rPr>
              <a:t>PROPOSED</a:t>
            </a:r>
          </a:p>
        </p:txBody>
      </p:sp>
      <p:sp>
        <p:nvSpPr>
          <p:cNvPr id="23" name="Week 1 focus"/>
          <p:cNvSpPr txBox="1"/>
          <p:nvPr/>
        </p:nvSpPr>
        <p:spPr>
          <a:xfrm>
            <a:off x="621792" y="3300984"/>
            <a:ext cx="2421559" cy="12151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8EEF8"/>
                </a:solidFill>
                <a:latin typeface="Calibri"/>
              </a:rPr>
              <a:t>Confirm feasibility, service areas, serving size and delivery terms</a:t>
            </a:r>
          </a:p>
        </p:txBody>
      </p:sp>
      <p:sp>
        <p:nvSpPr>
          <p:cNvPr id="24" name="Week 1 actions"/>
          <p:cNvSpPr txBox="1"/>
          <p:nvPr/>
        </p:nvSpPr>
        <p:spPr>
          <a:xfrm>
            <a:off x="621792" y="4534408"/>
            <a:ext cx="2421559" cy="161035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9FB2CC"/>
                </a:solidFill>
                <a:latin typeface="Calibri"/>
              </a:rPr>
              <a:t>PLANNED OUTPUTS</a:t>
            </a:r>
          </a:p>
          <a:p>
            <a:pPr algn="l" marL="203200" indent="-203200">
              <a:spcAft>
                <a:spcPts val="700"/>
              </a:spcAft>
              <a:buChar char="•"/>
            </a:pPr>
            <a:r>
              <a:rPr sz="1500" b="0" i="0">
                <a:solidFill>
                  <a:srgbClr val="E8EEF8"/>
                </a:solidFill>
                <a:latin typeface="Calibri"/>
              </a:rPr>
              <a:t>decide choice or rotation</a:t>
            </a:r>
          </a:p>
          <a:p>
            <a:pPr algn="l" marL="203200" indent="-203200">
              <a:spcAft>
                <a:spcPts val="700"/>
              </a:spcAft>
              <a:buChar char="•"/>
            </a:pPr>
            <a:r>
              <a:rPr sz="1500" b="0" i="0">
                <a:solidFill>
                  <a:srgbClr val="E8EEF8"/>
                </a:solidFill>
                <a:latin typeface="Calibri"/>
              </a:rPr>
              <a:t>validate the proposed ₹699 test price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17671" y="2880360"/>
            <a:ext cx="2695879" cy="3337559"/>
          </a:xfrm>
          <a:prstGeom prst="roundRect">
            <a:avLst>
              <a:gd name="adj" fmla="val 2713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cent"/>
          <p:cNvSpPr/>
          <p:nvPr/>
        </p:nvSpPr>
        <p:spPr>
          <a:xfrm>
            <a:off x="3317671" y="2971800"/>
            <a:ext cx="64008" cy="3154679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Panel heading"/>
          <p:cNvSpPr txBox="1"/>
          <p:nvPr/>
        </p:nvSpPr>
        <p:spPr>
          <a:xfrm>
            <a:off x="3482263" y="2953512"/>
            <a:ext cx="117594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WEEK 2</a:t>
            </a:r>
          </a:p>
        </p:txBody>
      </p:sp>
      <p:sp>
        <p:nvSpPr>
          <p:cNvPr id="28" name="Week 2 tag"/>
          <p:cNvSpPr/>
          <p:nvPr/>
        </p:nvSpPr>
        <p:spPr>
          <a:xfrm>
            <a:off x="4841087" y="2953512"/>
            <a:ext cx="1062736" cy="283464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BBF24"/>
                </a:solidFill>
                <a:latin typeface="Calibri"/>
              </a:rPr>
              <a:t>PROPOSED</a:t>
            </a:r>
          </a:p>
        </p:txBody>
      </p:sp>
      <p:sp>
        <p:nvSpPr>
          <p:cNvPr id="29" name="Week 2 focus"/>
          <p:cNvSpPr txBox="1"/>
          <p:nvPr/>
        </p:nvSpPr>
        <p:spPr>
          <a:xfrm>
            <a:off x="3482263" y="3300984"/>
            <a:ext cx="2421559" cy="1371600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8EEF8"/>
                </a:solidFill>
                <a:latin typeface="Calibri"/>
              </a:rPr>
              <a:t>Prepare an offer page with price, serving size, schedule, choice/rotation and service area</a:t>
            </a:r>
          </a:p>
        </p:txBody>
      </p:sp>
      <p:sp>
        <p:nvSpPr>
          <p:cNvPr id="30" name="Week 2 actions"/>
          <p:cNvSpPr txBox="1"/>
          <p:nvPr/>
        </p:nvSpPr>
        <p:spPr>
          <a:xfrm>
            <a:off x="3482263" y="4690872"/>
            <a:ext cx="2421559" cy="1453895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9FB2CC"/>
                </a:solidFill>
                <a:latin typeface="Calibri"/>
              </a:rPr>
              <a:t>PLANNED OUTPUTS</a:t>
            </a:r>
          </a:p>
          <a:p>
            <a:pPr algn="l" marL="203200" indent="-203200">
              <a:spcAft>
                <a:spcPts val="700"/>
              </a:spcAft>
              <a:buChar char="•"/>
            </a:pPr>
            <a:r>
              <a:rPr sz="1500" b="0" i="0">
                <a:solidFill>
                  <a:srgbClr val="E8EEF8"/>
                </a:solidFill>
                <a:latin typeface="Calibri"/>
              </a:rPr>
              <a:t>invite a small test group and adjust from feedback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8143" y="2880360"/>
            <a:ext cx="2695879" cy="3337559"/>
          </a:xfrm>
          <a:prstGeom prst="roundRect">
            <a:avLst>
              <a:gd name="adj" fmla="val 2713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cent"/>
          <p:cNvSpPr/>
          <p:nvPr/>
        </p:nvSpPr>
        <p:spPr>
          <a:xfrm>
            <a:off x="6178143" y="2971800"/>
            <a:ext cx="64008" cy="3154679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anel heading"/>
          <p:cNvSpPr txBox="1"/>
          <p:nvPr/>
        </p:nvSpPr>
        <p:spPr>
          <a:xfrm>
            <a:off x="6342735" y="2953512"/>
            <a:ext cx="117594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WEEK 3</a:t>
            </a:r>
          </a:p>
        </p:txBody>
      </p:sp>
      <p:sp>
        <p:nvSpPr>
          <p:cNvPr id="34" name="Week 3 tag"/>
          <p:cNvSpPr/>
          <p:nvPr/>
        </p:nvSpPr>
        <p:spPr>
          <a:xfrm>
            <a:off x="7701559" y="2953512"/>
            <a:ext cx="1062736" cy="283464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BBF24"/>
                </a:solidFill>
                <a:latin typeface="Calibri"/>
              </a:rPr>
              <a:t>PROPOSED</a:t>
            </a:r>
          </a:p>
        </p:txBody>
      </p:sp>
      <p:sp>
        <p:nvSpPr>
          <p:cNvPr id="35" name="Week 3 focus"/>
          <p:cNvSpPr txBox="1"/>
          <p:nvPr/>
        </p:nvSpPr>
        <p:spPr>
          <a:xfrm>
            <a:off x="6342735" y="3300984"/>
            <a:ext cx="2421559" cy="121513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8EEF8"/>
                </a:solidFill>
                <a:latin typeface="Calibri"/>
              </a:rPr>
              <a:t>Run a limited pilot with consenting customers in confirmed areas</a:t>
            </a:r>
          </a:p>
        </p:txBody>
      </p:sp>
      <p:sp>
        <p:nvSpPr>
          <p:cNvPr id="36" name="Week 3 actions"/>
          <p:cNvSpPr txBox="1"/>
          <p:nvPr/>
        </p:nvSpPr>
        <p:spPr>
          <a:xfrm>
            <a:off x="6342735" y="4534408"/>
            <a:ext cx="2421559" cy="161035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9FB2CC"/>
                </a:solidFill>
                <a:latin typeface="Calibri"/>
              </a:rPr>
              <a:t>PLANNED OUTPUTS</a:t>
            </a:r>
          </a:p>
          <a:p>
            <a:pPr algn="l" marL="203200" indent="-203200">
              <a:spcAft>
                <a:spcPts val="700"/>
              </a:spcAft>
              <a:buChar char="•"/>
            </a:pPr>
            <a:r>
              <a:rPr sz="1500" b="0" i="0">
                <a:solidFill>
                  <a:srgbClr val="E8EEF8"/>
                </a:solidFill>
                <a:latin typeface="Calibri"/>
              </a:rPr>
              <a:t>track orders, repeat intent, delivery reliability and reported feedback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38615" y="2880360"/>
            <a:ext cx="2695879" cy="3337559"/>
          </a:xfrm>
          <a:prstGeom prst="roundRect">
            <a:avLst>
              <a:gd name="adj" fmla="val 2713"/>
            </a:avLst>
          </a:prstGeom>
          <a:solidFill>
            <a:srgbClr val="0C1830"/>
          </a:solidFill>
          <a:ln w="12700">
            <a:solidFill>
              <a:srgbClr val="2740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ccent"/>
          <p:cNvSpPr/>
          <p:nvPr/>
        </p:nvSpPr>
        <p:spPr>
          <a:xfrm>
            <a:off x="9038615" y="2971800"/>
            <a:ext cx="64008" cy="3154679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Panel heading"/>
          <p:cNvSpPr txBox="1"/>
          <p:nvPr/>
        </p:nvSpPr>
        <p:spPr>
          <a:xfrm>
            <a:off x="9203207" y="2953512"/>
            <a:ext cx="1175943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DD4BF"/>
                </a:solidFill>
                <a:latin typeface="Calibri"/>
              </a:rPr>
              <a:t>WEEK 4</a:t>
            </a:r>
          </a:p>
        </p:txBody>
      </p:sp>
      <p:sp>
        <p:nvSpPr>
          <p:cNvPr id="40" name="Week 4 tag"/>
          <p:cNvSpPr/>
          <p:nvPr/>
        </p:nvSpPr>
        <p:spPr>
          <a:xfrm>
            <a:off x="10562031" y="2953512"/>
            <a:ext cx="1062736" cy="283464"/>
          </a:xfrm>
          <a:prstGeom prst="roundRect">
            <a:avLst>
              <a:gd name="adj" fmla="val 50000"/>
            </a:avLst>
          </a:prstGeom>
          <a:solidFill>
            <a:srgbClr val="2A2208"/>
          </a:solidFill>
          <a:ln w="12700">
            <a:solidFill>
              <a:srgbClr val="FBBF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46304" rIns="146304" tIns="54864" bIns="54864"/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BBF24"/>
                </a:solidFill>
                <a:latin typeface="Calibri"/>
              </a:rPr>
              <a:t>PROPOSED</a:t>
            </a:r>
          </a:p>
        </p:txBody>
      </p:sp>
      <p:sp>
        <p:nvSpPr>
          <p:cNvPr id="41" name="Week 4 focus"/>
          <p:cNvSpPr txBox="1"/>
          <p:nvPr/>
        </p:nvSpPr>
        <p:spPr>
          <a:xfrm>
            <a:off x="9203207" y="3300984"/>
            <a:ext cx="2421559" cy="696976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E8EEF8"/>
                </a:solidFill>
                <a:latin typeface="Calibri"/>
              </a:rPr>
              <a:t>Review pilot and test-price response</a:t>
            </a:r>
          </a:p>
        </p:txBody>
      </p:sp>
      <p:sp>
        <p:nvSpPr>
          <p:cNvPr id="42" name="Week 4 actions"/>
          <p:cNvSpPr txBox="1"/>
          <p:nvPr/>
        </p:nvSpPr>
        <p:spPr>
          <a:xfrm>
            <a:off x="9203207" y="4016248"/>
            <a:ext cx="2421559" cy="2128519"/>
          </a:xfrm>
          <a:prstGeom prst="rect">
            <a:avLst/>
          </a:prstGeom>
          <a:noFill/>
        </p:spPr>
        <p:txBody>
          <a:bodyPr wrap="square" anchor="t" lIns="27432" rIns="27432" tIns="27432" bIns="27432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 i="0">
                <a:solidFill>
                  <a:srgbClr val="9FB2CC"/>
                </a:solidFill>
                <a:latin typeface="Calibri"/>
              </a:rPr>
              <a:t>PLANNED OUTPUTS</a:t>
            </a:r>
          </a:p>
          <a:p>
            <a:pPr algn="l" marL="203200" indent="-203200">
              <a:spcAft>
                <a:spcPts val="700"/>
              </a:spcAft>
              <a:buChar char="•"/>
            </a:pPr>
            <a:r>
              <a:rPr sz="1500" b="0" i="0">
                <a:solidFill>
                  <a:srgbClr val="E8EEF8"/>
                </a:solidFill>
                <a:latin typeface="Calibri"/>
              </a:rPr>
              <a:t>revise the offer based on results and feasibility</a:t>
            </a:r>
          </a:p>
          <a:p>
            <a:pPr algn="l" marL="203200" indent="-203200">
              <a:spcAft>
                <a:spcPts val="700"/>
              </a:spcAft>
              <a:buChar char="•"/>
            </a:pPr>
            <a:r>
              <a:rPr sz="1500" b="0" i="0">
                <a:solidFill>
                  <a:srgbClr val="E8EEF8"/>
                </a:solidFill>
                <a:latin typeface="Calibri"/>
              </a:rPr>
              <a:t>expand promotion only where coverage and terms are confirmed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LaunchScout pitch deck: Cold-pressed juice subscription</dc:title>
  <dc:subject/>
  <dc:creator>LaunchScout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