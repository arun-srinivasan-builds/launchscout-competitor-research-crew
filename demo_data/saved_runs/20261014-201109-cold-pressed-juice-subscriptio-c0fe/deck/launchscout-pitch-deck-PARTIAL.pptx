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Idea, city, target customer and evidence status are as supplied in the research facts.</a:t>
            </a:r>
          </a:p>
          <a:p/>
          <a:p>
            <a:r>
              <a:t>Validated slide text:</a:t>
            </a:r>
          </a:p>
          <a:p>
            <a:r>
              <a:t>- Cold-pressed juice subscription in Pune.</a:t>
            </a:r>
          </a:p>
          <a:p>
            <a:r>
              <a:t>- Target customers: gym-goers aged 20-35.</a:t>
            </a:r>
          </a:p>
          <a:p>
            <a:r>
              <a:t>- Research evidence status: partial; report failed acceptance.</a:t>
            </a:r>
          </a:p>
          <a:p/>
          <a:p>
            <a:r>
              <a:t>Visual detail:</a:t>
            </a:r>
          </a:p>
          <a:p>
            <a:r>
              <a:t>- Flow: target customer -&gt; observed market -&gt; research-visible gap</a:t>
            </a:r>
          </a:p>
          <a:p/>
          <a:p>
            <a:r>
              <a:t>Sources:</a:t>
            </a:r>
          </a:p>
          <a:p>
            <a:r>
              <a:t>Report: idea</a:t>
            </a:r>
          </a:p>
          <a:p/>
          <a:p>
            <a:r>
              <a:t>Labels: PARTIAL EVIDENCE: the source report failed acceptance; Evidence: 2 competitor(s) researched, 0 verified price(s)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 Organic Juices offer details are reported from search results; its Facebook page could not be retrieved. Prices are not verified. Channels are as stated in the research facts.</a:t>
            </a:r>
          </a:p>
          <a:p/>
          <a:p>
            <a:r>
              <a:t>Validated slide text:</a:t>
            </a:r>
          </a:p>
          <a:p>
            <a:r>
              <a:t>- iBites: Cold-pressed juices, wellness shots and smoothies, pressed after ordering; its surfaced daily plan says the same juice each morning.</a:t>
            </a:r>
          </a:p>
          <a:p>
            <a:r>
              <a:t>- iBites: Price unknown (not verified); website/menu and WhatsApp ordering.</a:t>
            </a:r>
          </a:p>
          <a:p>
            <a:r>
              <a:t>- Earth Organic Juices: Search results describe cold-pressed juices, weekly subscriptions, early-morning delivery and a three-day trial.</a:t>
            </a:r>
          </a:p>
          <a:p>
            <a:r>
              <a:t>- Earth Organic Juices: Price unknown (not verified); Instagram and WhatsApp advertised in a search result.</a:t>
            </a:r>
          </a:p>
          <a:p/>
          <a:p>
            <a:r>
              <a:t>Visual detail:</a:t>
            </a:r>
          </a:p>
          <a:p>
            <a:r>
              <a:t>- Matrix columns: competitor, offer and positioning, channels, price status</a:t>
            </a:r>
          </a:p>
          <a:p>
            <a:r>
              <a:t>- Full text of items shortened on the slide:</a:t>
            </a:r>
          </a:p>
          <a:p>
            <a:r>
              <a:t>-   Local relevance: Search result describes it as a Pune cold-pressed juice delivery business; a public listing says delivery across Pune and PCMC. The Instagram page itself could not be read beyond its title.</a:t>
            </a:r>
          </a:p>
          <a:p>
            <a:r>
              <a:t>-   iBites: Cold-pressed juices, wellness shots and smoothies, pressed after ordering; its surfaced daily plan says the same juice each morning.</a:t>
            </a:r>
          </a:p>
          <a:p>
            <a:r>
              <a:t>-   Earth Organic Juices: Search results describe cold-pressed juices, weekly subscriptions, early-morning delivery and a three-day trial.</a:t>
            </a:r>
          </a:p>
          <a:p/>
          <a:p>
            <a:r>
              <a:t>Sources:</a:t>
            </a:r>
          </a:p>
          <a:p>
            <a:r>
              <a:t>https://ibites.in/pune/online-juice-delivery</a:t>
            </a:r>
          </a:p>
          <a:p>
            <a:r>
              <a:t>https://ibites.in/pune/cold-pressed-juice</a:t>
            </a:r>
          </a:p>
          <a:p>
            <a:r>
              <a:t>https://www.instagram.com/earthorganicjuice/</a:t>
            </a:r>
          </a:p>
          <a:p>
            <a:r>
              <a:t>https://www.facebook.com/Earthorganicjuices/posts/fresh-cold-pressed-juice-at-your-door-before-7-amtry-our-3-day-trial-for-297-del/1406172155030581/</a:t>
            </a:r>
          </a:p>
          <a:p/>
          <a:p>
            <a:r>
              <a:t>Labels: PARTIAL EVIDENCE: the source report failed acceptance; Price unknown / not verified: iBites, Earth Organic Juices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available customer findings are praise from company websites, not verified complaints. Earth Organic Juices' Facebook post could not be read; Instagram content was not readable.</a:t>
            </a:r>
          </a:p>
          <a:p/>
          <a:p>
            <a:r>
              <a:t>Validated slide text:</a:t>
            </a:r>
          </a:p>
          <a:p>
            <a:r>
              <a:t>- iBites: No verifiable customer complaints were retrieved; independent review or ratings-page sentiment is unknown.</a:t>
            </a:r>
          </a:p>
          <a:p>
            <a:r>
              <a:t>- Earth Organic Juices: No verifiable customer complaints were retrieved; independent sentiment is unknown, and Instagram content was not readable.</a:t>
            </a:r>
          </a:p>
          <a:p/>
          <a:p>
            <a:r>
              <a:t>Visual detail:</a:t>
            </a:r>
          </a:p>
          <a:p>
            <a:r>
              <a:t>- 4 more finding(s) are in the saved report</a:t>
            </a:r>
          </a:p>
          <a:p>
            <a:r>
              <a:t>- Full text of items shortened on the slide:</a:t>
            </a:r>
          </a:p>
          <a:p>
            <a:r>
              <a:t>-   iBites praise found in this research is on the company’s own website; independent review or ratings-page sentiment is unknown.</a:t>
            </a:r>
          </a:p>
          <a:p>
            <a:r>
              <a:t>-   Earth Organic Juices praise found in this research is on the company’s own website; independent review or ratings-page sentiment is unknown. The Facebook post could not be read, and Instagram content was not readable.</a:t>
            </a:r>
          </a:p>
          <a:p/>
          <a:p>
            <a:r>
              <a:t>Sources:</a:t>
            </a:r>
          </a:p>
          <a:p>
            <a:r>
              <a:t>https://ibites.in/</a:t>
            </a:r>
          </a:p>
          <a:p>
            <a:r>
              <a:t>https://earthorganicjuices.com/</a:t>
            </a:r>
          </a:p>
          <a:p>
            <a:r>
              <a:t>https://www.instagram.com/earthorganicjuice/</a:t>
            </a:r>
          </a:p>
          <a:p>
            <a:r>
              <a:t>https://www.facebook.com/Earthorganicjuices/posts/fresh-cold-pressed-juice-at-your-door-before-7-amtry-our-3-day-trial-for-297-del/1406172155030581/</a:t>
            </a:r>
          </a:p>
          <a:p/>
          <a:p>
            <a:r>
              <a:t>Labels: PARTIAL EVIDENCE: the source report failed acceptance; Customer comments are attributed per source; unverified where noted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report's stated opportunity based on available evidence; it does not establish that no competitor offers these features.</a:t>
            </a:r>
          </a:p>
          <a:p/>
          <a:p>
            <a:r>
              <a:t>Validated slide text:</a:t>
            </a:r>
          </a:p>
          <a:p>
            <a:r>
              <a:t>- Research-visible opportunity, not a claim of exclusivity: clearly state the per-juice price and pack size.</a:t>
            </a:r>
          </a:p>
          <a:p>
            <a:r>
              <a:t>- Make weekly choice or rotation terms explicit; iBites' surfaced daily plan describes the same juice each morning.</a:t>
            </a:r>
          </a:p>
          <a:p>
            <a:r>
              <a:t>- Earth Organic Juices' weekly-plan variety terms are unknown.</a:t>
            </a:r>
          </a:p>
          <a:p/>
          <a:p>
            <a:r>
              <a:t>Visual detail:</a:t>
            </a:r>
          </a:p>
          <a:p>
            <a:r>
              <a:t>- Status cards: verified evidence, unverified prices, assumption</a:t>
            </a:r>
          </a:p>
          <a:p>
            <a:r>
              <a:t>- Full text of items shortened on the slide:</a:t>
            </a:r>
          </a:p>
          <a:p>
            <a:r>
              <a:t>-   iBites: Describes Pune delivery, including Baner, Kothrud, Viman Nagar, Hinjawadi and Pune Camp; offers cold-pressed juices, wellness shots and smoothies pressed after ordering. Its daily subscription is described as delivering the same juice each morning. Four…</a:t>
            </a:r>
          </a:p>
          <a:p>
            <a:r>
              <a:t>-   Earth Organic Juices: Supplied search results describe Pune and PCMC delivery, cold-pressed juices, weekly subscriptions and early-morning delivery. Four testimonials on the company website praise freshness or natural flavor; one reports using amla juice close to a year…</a:t>
            </a:r>
          </a:p>
          <a:p>
            <a:r>
              <a:t>-   A seven-day Pune cold-pressed juice subscription with one juice per day, a clearly disclosed per-juice price and pack size, and explicit customer choice or rotation terms. Confirm serviceable delivery areas and operational details before advertising them.</a:t>
            </a:r>
          </a:p>
          <a:p>
            <a:r>
              <a:t>-   Why: The recommendation addresses a visible information gap in the supplied research: neither competitor has a verified unit price and pack size in the available evidence, and iBites’ surfaced daily subscription description specifies the same juice each morning. Earth’s weekly-plan variety terms are unknown, so the proposed choice or rotation is a differentiation hypothesis, not a claim of exclusivity.</a:t>
            </a:r>
          </a:p>
          <a:p/>
          <a:p>
            <a:r>
              <a:t>Sources:</a:t>
            </a:r>
          </a:p>
          <a:p>
            <a:r>
              <a:t>Strategy: recommendation</a:t>
            </a:r>
          </a:p>
          <a:p>
            <a:r>
              <a:t>https://ibites.in/pune/online-juice-delivery</a:t>
            </a:r>
          </a:p>
          <a:p>
            <a:r>
              <a:t>https://www.instagram.com/earthorganicjuice/</a:t>
            </a:r>
          </a:p>
          <a:p/>
          <a:p>
            <a:r>
              <a:t>Labels: PARTIAL EVIDENCE: the source report failed acceptance; Assumption: the gap is an inference from this research, not a market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positioning and price are recommendations in the report. The proposed price is not a verified market price; serving size and delivery terms remain to be specified.</a:t>
            </a:r>
          </a:p>
          <a:p/>
          <a:p>
            <a:r>
              <a:t>Validated slide text:</a:t>
            </a:r>
          </a:p>
          <a:p>
            <a:r>
              <a:t>- Recommendation: “A Pune cold-pressed juice subscription with clear per-juice pricing and a week of choice or planned variety.”</a:t>
            </a:r>
          </a:p>
          <a:p>
            <a:r>
              <a:t>- Recommended price: ₹699 for a seven-day plan of one juice per day (about ₹100 per juice); this is a recommendation, not a verified price.</a:t>
            </a:r>
          </a:p>
          <a:p>
            <a:r>
              <a:t>- Specify serving size and delivery terms before sale; confirm serviceable areas before advertising them.</a:t>
            </a:r>
          </a:p>
          <a:p/>
          <a:p>
            <a:r>
              <a:t>Visual detail:</a:t>
            </a:r>
          </a:p>
          <a:p>
            <a:r>
              <a:t>- Phases shown: 4</a:t>
            </a:r>
          </a:p>
          <a:p/>
          <a:p>
            <a:r>
              <a:t>Sources:</a:t>
            </a:r>
          </a:p>
          <a:p>
            <a:r>
              <a:t>Strategy: recommendation</a:t>
            </a:r>
          </a:p>
          <a:p/>
          <a:p>
            <a:r>
              <a:t>Labels: PARTIAL EVIDENCE: the source report failed acceptance; Recommendation (not a verified market price): ₹699 for a seven-day plan of one juice per day (about ₹100 per juice); proposed price only, with serving size and delivery terms to be specified before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proposed actions from the report's launch plan, not claims about completed research or existing operations.</a:t>
            </a:r>
          </a:p>
          <a:p/>
          <a:p>
            <a:r>
              <a:t>Validated slide text:</a:t>
            </a:r>
          </a:p>
          <a:p>
            <a:r>
              <a:t>- Week 1: Confirm feasibility, service areas, serving size and delivery terms; decide choice or rotation; validate the proposed ₹699 test price.</a:t>
            </a:r>
          </a:p>
          <a:p>
            <a:r>
              <a:t>- Week 2: Prepare an offer page with price, serving size, schedule, choice/rotation and service area; invite a small test group and adjust from feedback.</a:t>
            </a:r>
          </a:p>
          <a:p>
            <a:r>
              <a:t>- Week 3: Run a limited pilot with consenting customers in confirmed areas; track orders, repeat intent, delivery reliability and reported feedback.</a:t>
            </a:r>
          </a:p>
          <a:p>
            <a:r>
              <a:t>- Week 4: Review pilot and test-price response; revise the offer based on results and feasibility; expand promotion only where coverage and terms are confirmed.</a:t>
            </a:r>
          </a:p>
          <a:p/>
          <a:p>
            <a:r>
              <a:t>Visual detail:</a:t>
            </a:r>
          </a:p>
          <a:p>
            <a:r>
              <a:t>- Roadmap weeks: 4</a:t>
            </a:r>
          </a:p>
          <a:p>
            <a:r>
              <a:t>- Full text of items shortened on the slide:</a:t>
            </a:r>
          </a:p>
          <a:p>
            <a:r>
              <a:t>-   iBites: price not verified (A price is mentioned on the cold-pressed juice page as starting at…)</a:t>
            </a:r>
          </a:p>
          <a:p>
            <a:r>
              <a:t>-   Earth Organic Juices: price not verified (A search-result snippet advertises ₹297 for a three-day trial, but…)</a:t>
            </a:r>
          </a:p>
          <a:p>
            <a:r>
              <a:t>-   The recommendation addresses a visible information gap in the supplied research: neither competitor has a verified unit price and pack size in the available evidence, and iBites’ surfaced daily…</a:t>
            </a:r>
          </a:p>
          <a:p>
            <a:r>
              <a:t>-   Earth’s weekly-plan variety terms are unknown, so the proposed choice or rotation is a differentiation hypothesis, not a claim of exclusivity.</a:t>
            </a:r>
          </a:p>
          <a:p>
            <a:r>
              <a:t>-   Prepare an offer page with price, serving size, schedule, choice/rotation and service area; invite a small test group and adjust from feedback.</a:t>
            </a:r>
          </a:p>
          <a:p>
            <a:r>
              <a:t>-   Review pilot and test-price response; revise the offer based on results and feasibility; expand promotion only where coverage and terms are confirmed.</a:t>
            </a:r>
          </a:p>
          <a:p/>
          <a:p>
            <a:r>
              <a:t>Sources:</a:t>
            </a:r>
          </a:p>
          <a:p>
            <a:r>
              <a:t>Report: launch plan</a:t>
            </a:r>
          </a:p>
          <a:p/>
          <a:p>
            <a:r>
              <a:t>Labels: PARTIAL EVIDENCE: the source report failed acceptance; Recommended actions, not completed or verified 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201168"/>
            <a:ext cx="3017520" cy="694944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83464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" y="338328"/>
            <a:ext cx="466535" cy="420624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61288" y="228600"/>
            <a:ext cx="2194560" cy="3383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61288" y="57607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29184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703320" y="182880"/>
            <a:ext cx="7315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9C7225"/>
                </a:solidFill>
                <a:latin typeface="Georgia"/>
              </a:rPr>
              <a:t>01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434840" y="182880"/>
            <a:ext cx="52615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B1E3A"/>
                </a:solidFill>
                <a:latin typeface="Georgia"/>
              </a:rPr>
              <a:t>Problem &amp; Opportunity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434840" y="640080"/>
            <a:ext cx="52615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A"/>
                </a:solidFill>
                <a:latin typeface="Calibri"/>
              </a:rPr>
              <a:t>Idea &amp; Market · Cold-pressed juice subscription · Pune</a:t>
            </a:r>
          </a:p>
        </p:txBody>
      </p:sp>
      <p:sp>
        <p:nvSpPr>
          <p:cNvPr id="11" name="Header rule"/>
          <p:cNvSpPr/>
          <p:nvPr/>
        </p:nvSpPr>
        <p:spPr>
          <a:xfrm>
            <a:off x="411480" y="950976"/>
            <a:ext cx="11368735" cy="22860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els"/>
          <p:cNvSpPr/>
          <p:nvPr/>
        </p:nvSpPr>
        <p:spPr>
          <a:xfrm>
            <a:off x="411480" y="1078992"/>
            <a:ext cx="11368735" cy="339852"/>
          </a:xfrm>
          <a:prstGeom prst="roundRect">
            <a:avLst>
              <a:gd name="adj" fmla="val 21524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PARTIAL EVIDENCE: the source report failed acceptance   ·   Evidence: 2 competitor(s) researched, 0 verified price(s)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411480" y="6053328"/>
            <a:ext cx="11368735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Report: idea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528572"/>
            <a:ext cx="3566160" cy="4451604"/>
          </a:xfrm>
          <a:prstGeom prst="roundRect">
            <a:avLst>
              <a:gd name="adj" fmla="val 2051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cent"/>
          <p:cNvSpPr/>
          <p:nvPr/>
        </p:nvSpPr>
        <p:spPr>
          <a:xfrm>
            <a:off x="411480" y="1638300"/>
            <a:ext cx="54864" cy="4232148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 heading"/>
          <p:cNvSpPr txBox="1"/>
          <p:nvPr/>
        </p:nvSpPr>
        <p:spPr>
          <a:xfrm>
            <a:off x="576072" y="1601724"/>
            <a:ext cx="32918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THE OPPORTUNITY</a:t>
            </a:r>
          </a:p>
        </p:txBody>
      </p:sp>
      <p:sp>
        <p:nvSpPr>
          <p:cNvPr id="17" name="Business idea"/>
          <p:cNvSpPr txBox="1"/>
          <p:nvPr/>
        </p:nvSpPr>
        <p:spPr>
          <a:xfrm>
            <a:off x="594360" y="1930908"/>
            <a:ext cx="3200400" cy="7985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4233F"/>
                </a:solidFill>
                <a:latin typeface="Georgia"/>
              </a:rPr>
              <a:t>Cold-pressed juice subscription</a:t>
            </a:r>
          </a:p>
        </p:txBody>
      </p:sp>
      <p:sp>
        <p:nvSpPr>
          <p:cNvPr id="18" name="City"/>
          <p:cNvSpPr txBox="1"/>
          <p:nvPr/>
        </p:nvSpPr>
        <p:spPr>
          <a:xfrm>
            <a:off x="594360" y="2747772"/>
            <a:ext cx="32004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C7C7A"/>
                </a:solidFill>
                <a:latin typeface="Calibri"/>
              </a:rPr>
              <a:t>in Pune</a:t>
            </a:r>
          </a:p>
        </p:txBody>
      </p:sp>
      <p:sp>
        <p:nvSpPr>
          <p:cNvPr id="19" name="Divider"/>
          <p:cNvSpPr/>
          <p:nvPr/>
        </p:nvSpPr>
        <p:spPr>
          <a:xfrm>
            <a:off x="594360" y="3168396"/>
            <a:ext cx="3200400" cy="13716"/>
          </a:xfrm>
          <a:prstGeom prst="rect">
            <a:avLst/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act: Target customer"/>
          <p:cNvSpPr txBox="1"/>
          <p:nvPr/>
        </p:nvSpPr>
        <p:spPr>
          <a:xfrm>
            <a:off x="594360" y="3259836"/>
            <a:ext cx="3200400" cy="456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TARGET CUSTOMER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33F"/>
                </a:solidFill>
                <a:latin typeface="Calibri"/>
              </a:rPr>
              <a:t>gym-goers aged 20-35</a:t>
            </a:r>
          </a:p>
        </p:txBody>
      </p:sp>
      <p:sp>
        <p:nvSpPr>
          <p:cNvPr id="21" name="Divider"/>
          <p:cNvSpPr/>
          <p:nvPr/>
        </p:nvSpPr>
        <p:spPr>
          <a:xfrm>
            <a:off x="594360" y="3825748"/>
            <a:ext cx="3200400" cy="13716"/>
          </a:xfrm>
          <a:prstGeom prst="rect">
            <a:avLst/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ummary heading"/>
          <p:cNvSpPr txBox="1"/>
          <p:nvPr/>
        </p:nvSpPr>
        <p:spPr>
          <a:xfrm>
            <a:off x="594360" y="3898900"/>
            <a:ext cx="32004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RESEARCH SUMMARY</a:t>
            </a:r>
          </a:p>
        </p:txBody>
      </p:sp>
      <p:sp>
        <p:nvSpPr>
          <p:cNvPr id="23" name="Research summary"/>
          <p:cNvSpPr txBox="1"/>
          <p:nvPr/>
        </p:nvSpPr>
        <p:spPr>
          <a:xfrm>
            <a:off x="594360" y="4191508"/>
            <a:ext cx="3200400" cy="16789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400" b="0" i="0">
                <a:solidFill>
                  <a:srgbClr val="14233F"/>
                </a:solidFill>
                <a:latin typeface="Calibri"/>
              </a:rPr>
              <a:t>Cold-pressed juice subscription in Pune.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400" b="0" i="0">
                <a:solidFill>
                  <a:srgbClr val="14233F"/>
                </a:solidFill>
                <a:latin typeface="Calibri"/>
              </a:rPr>
              <a:t>Target customers: gym-goers aged 20-35.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400" b="0" i="0">
                <a:solidFill>
                  <a:srgbClr val="14233F"/>
                </a:solidFill>
                <a:latin typeface="Calibri"/>
              </a:rPr>
              <a:t>Research evidence status: partial; report failed acceptance.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2231" y="1528572"/>
            <a:ext cx="4023360" cy="4451604"/>
          </a:xfrm>
          <a:prstGeom prst="roundRect">
            <a:avLst>
              <a:gd name="adj" fmla="val 181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cent"/>
          <p:cNvSpPr/>
          <p:nvPr/>
        </p:nvSpPr>
        <p:spPr>
          <a:xfrm>
            <a:off x="4142231" y="1638300"/>
            <a:ext cx="54864" cy="4232148"/>
          </a:xfrm>
          <a:prstGeom prst="rect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anel heading"/>
          <p:cNvSpPr txBox="1"/>
          <p:nvPr/>
        </p:nvSpPr>
        <p:spPr>
          <a:xfrm>
            <a:off x="4306823" y="1601724"/>
            <a:ext cx="3749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4699A"/>
                </a:solidFill>
                <a:latin typeface="Calibri"/>
              </a:rPr>
              <a:t>FROM CUSTOMER TO OPPORTUNITY</a:t>
            </a:r>
          </a:p>
        </p:txBody>
      </p:sp>
      <p:sp>
        <p:nvSpPr>
          <p:cNvPr id="27" name="Node 1"/>
          <p:cNvSpPr/>
          <p:nvPr/>
        </p:nvSpPr>
        <p:spPr>
          <a:xfrm>
            <a:off x="4325112" y="1930908"/>
            <a:ext cx="3657600" cy="670864"/>
          </a:xfrm>
          <a:prstGeom prst="roundRect">
            <a:avLst>
              <a:gd name="adj" fmla="val 10904"/>
            </a:avLst>
          </a:prstGeom>
          <a:solidFill>
            <a:srgbClr val="DCEFEC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ode 1 text"/>
          <p:cNvSpPr txBox="1"/>
          <p:nvPr/>
        </p:nvSpPr>
        <p:spPr>
          <a:xfrm>
            <a:off x="4416551" y="1976628"/>
            <a:ext cx="3474720" cy="5794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TARGET CUSTOMER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233F"/>
                </a:solidFill>
                <a:latin typeface="Calibri"/>
              </a:rPr>
              <a:t>gym-goers aged 20-35 in Pune.</a:t>
            </a:r>
          </a:p>
        </p:txBody>
      </p:sp>
      <p:cxnSp>
        <p:nvCxnSpPr>
          <p:cNvPr id="29" name="Flow arrow 1"/>
          <p:cNvCxnSpPr/>
          <p:nvPr/>
        </p:nvCxnSpPr>
        <p:spPr>
          <a:xfrm>
            <a:off x="6153912" y="2601772"/>
            <a:ext cx="0" cy="292608"/>
          </a:xfrm>
          <a:prstGeom prst="line">
            <a:avLst/>
          </a:prstGeom>
          <a:ln w="31750">
            <a:solidFill>
              <a:srgbClr val="1C7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Node 2"/>
          <p:cNvSpPr/>
          <p:nvPr/>
        </p:nvSpPr>
        <p:spPr>
          <a:xfrm>
            <a:off x="4325112" y="2894380"/>
            <a:ext cx="3657600" cy="1118107"/>
          </a:xfrm>
          <a:prstGeom prst="roundRect">
            <a:avLst>
              <a:gd name="adj" fmla="val 6542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Node 2 text"/>
          <p:cNvSpPr txBox="1"/>
          <p:nvPr/>
        </p:nvSpPr>
        <p:spPr>
          <a:xfrm>
            <a:off x="4416551" y="2940100"/>
            <a:ext cx="3474720" cy="1026667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4699A"/>
                </a:solidFill>
                <a:latin typeface="Calibri"/>
              </a:rPr>
              <a:t>OBSERVED IN THE MARKET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2 competitor(s) researched; 2 with public evidence URLs; 0 verified price(s). Channels seen: Instagram, Website ordering/menu, WhatsApp (advertised in search result), WhatsApp ordering.</a:t>
            </a:r>
          </a:p>
        </p:txBody>
      </p:sp>
      <p:cxnSp>
        <p:nvCxnSpPr>
          <p:cNvPr id="32" name="Flow arrow 2"/>
          <p:cNvCxnSpPr/>
          <p:nvPr/>
        </p:nvCxnSpPr>
        <p:spPr>
          <a:xfrm>
            <a:off x="6153912" y="4012488"/>
            <a:ext cx="0" cy="292608"/>
          </a:xfrm>
          <a:prstGeom prst="line">
            <a:avLst/>
          </a:prstGeom>
          <a:ln w="31750">
            <a:solidFill>
              <a:srgbClr val="3469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Node 3"/>
          <p:cNvSpPr/>
          <p:nvPr/>
        </p:nvSpPr>
        <p:spPr>
          <a:xfrm>
            <a:off x="4325112" y="4305096"/>
            <a:ext cx="3657600" cy="1565351"/>
          </a:xfrm>
          <a:prstGeom prst="roundRect">
            <a:avLst>
              <a:gd name="adj" fmla="val 4673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Node 3 text"/>
          <p:cNvSpPr txBox="1"/>
          <p:nvPr/>
        </p:nvSpPr>
        <p:spPr>
          <a:xfrm>
            <a:off x="4416551" y="4350816"/>
            <a:ext cx="3474720" cy="147391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RESEARCH-VISIBLE GAP (INFERENCE, NOT A MARKET SIZE)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4233F"/>
                </a:solidFill>
                <a:latin typeface="Calibri"/>
              </a:rPr>
              <a:t>A research-visible opportunity—not a claim that no competitor offers this—is a cold-pressed juice subscription that clearly states its per-juice price and pack size and explains how customers choose or receive variety across the week. The supplied evidence does not establish a verified unit price…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30183" y="1528572"/>
            <a:ext cx="3450031" cy="4451604"/>
          </a:xfrm>
          <a:prstGeom prst="roundRect">
            <a:avLst>
              <a:gd name="adj" fmla="val 2120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"/>
          <p:cNvSpPr/>
          <p:nvPr/>
        </p:nvSpPr>
        <p:spPr>
          <a:xfrm>
            <a:off x="8330183" y="1638300"/>
            <a:ext cx="54864" cy="4232148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anel heading"/>
          <p:cNvSpPr txBox="1"/>
          <p:nvPr/>
        </p:nvSpPr>
        <p:spPr>
          <a:xfrm>
            <a:off x="8494776" y="1601724"/>
            <a:ext cx="317571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7C7A"/>
                </a:solidFill>
                <a:latin typeface="Calibri"/>
              </a:rPr>
              <a:t>RESEARCH SCOPE &amp; EVIDENCE</a:t>
            </a:r>
          </a:p>
        </p:txBody>
      </p:sp>
      <p:sp>
        <p:nvSpPr>
          <p:cNvPr id="38" name="Fact: Competitors"/>
          <p:cNvSpPr txBox="1"/>
          <p:nvPr/>
        </p:nvSpPr>
        <p:spPr>
          <a:xfrm>
            <a:off x="8513063" y="1930908"/>
            <a:ext cx="1496415" cy="4257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COMPETITORS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2</a:t>
            </a:r>
          </a:p>
        </p:txBody>
      </p:sp>
      <p:sp>
        <p:nvSpPr>
          <p:cNvPr id="39" name="Fact: Sources reviewed"/>
          <p:cNvSpPr txBox="1"/>
          <p:nvPr/>
        </p:nvSpPr>
        <p:spPr>
          <a:xfrm>
            <a:off x="10100919" y="1930908"/>
            <a:ext cx="1496415" cy="4257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SOURCES REVIEWED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59</a:t>
            </a:r>
          </a:p>
        </p:txBody>
      </p:sp>
      <p:sp>
        <p:nvSpPr>
          <p:cNvPr id="40" name="Fact: Report status"/>
          <p:cNvSpPr txBox="1"/>
          <p:nvPr/>
        </p:nvSpPr>
        <p:spPr>
          <a:xfrm>
            <a:off x="8513063" y="2429764"/>
            <a:ext cx="1496415" cy="4257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REPORT STATUS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Partial</a:t>
            </a:r>
          </a:p>
        </p:txBody>
      </p:sp>
      <p:sp>
        <p:nvSpPr>
          <p:cNvPr id="41" name="Fact: Research mode"/>
          <p:cNvSpPr txBox="1"/>
          <p:nvPr/>
        </p:nvSpPr>
        <p:spPr>
          <a:xfrm>
            <a:off x="10100919" y="2429764"/>
            <a:ext cx="1496415" cy="4257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RESEARCH MODE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Hierarchical</a:t>
            </a:r>
          </a:p>
        </p:txBody>
      </p:sp>
      <p:sp>
        <p:nvSpPr>
          <p:cNvPr id="42" name="Gauge label: Competitors with evidence"/>
          <p:cNvSpPr txBox="1"/>
          <p:nvPr/>
        </p:nvSpPr>
        <p:spPr>
          <a:xfrm>
            <a:off x="8513063" y="2928620"/>
            <a:ext cx="3084271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Competitors with evidence: 2 of 3 required</a:t>
            </a:r>
          </a:p>
        </p:txBody>
      </p:sp>
      <p:sp>
        <p:nvSpPr>
          <p:cNvPr id="43" name="Gauge: Competitors with evidence track"/>
          <p:cNvSpPr/>
          <p:nvPr/>
        </p:nvSpPr>
        <p:spPr>
          <a:xfrm>
            <a:off x="8513063" y="3202940"/>
            <a:ext cx="3084271" cy="128016"/>
          </a:xfrm>
          <a:prstGeom prst="roundRect">
            <a:avLst>
              <a:gd name="adj" fmla="val 40000"/>
            </a:avLst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auge: Competitors with evidence fill"/>
          <p:cNvSpPr/>
          <p:nvPr/>
        </p:nvSpPr>
        <p:spPr>
          <a:xfrm>
            <a:off x="8513063" y="3202940"/>
            <a:ext cx="2056180" cy="128016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auge label: Verified competitor prices"/>
          <p:cNvSpPr txBox="1"/>
          <p:nvPr/>
        </p:nvSpPr>
        <p:spPr>
          <a:xfrm>
            <a:off x="8513063" y="3440684"/>
            <a:ext cx="3084271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Verified competitor prices: 0 of 3 required</a:t>
            </a:r>
          </a:p>
        </p:txBody>
      </p:sp>
      <p:sp>
        <p:nvSpPr>
          <p:cNvPr id="46" name="Gauge: Verified competitor prices track"/>
          <p:cNvSpPr/>
          <p:nvPr/>
        </p:nvSpPr>
        <p:spPr>
          <a:xfrm>
            <a:off x="8513063" y="3715004"/>
            <a:ext cx="3084271" cy="128016"/>
          </a:xfrm>
          <a:prstGeom prst="roundRect">
            <a:avLst>
              <a:gd name="adj" fmla="val 40000"/>
            </a:avLst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Partial heading"/>
          <p:cNvSpPr txBox="1"/>
          <p:nvPr/>
        </p:nvSpPr>
        <p:spPr>
          <a:xfrm>
            <a:off x="8513063" y="3952748"/>
            <a:ext cx="3084271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WHY THE REPORT IS PARTIAL</a:t>
            </a:r>
          </a:p>
        </p:txBody>
      </p:sp>
      <p:sp>
        <p:nvSpPr>
          <p:cNvPr id="48" name="Acceptance gaps"/>
          <p:cNvSpPr txBox="1"/>
          <p:nvPr/>
        </p:nvSpPr>
        <p:spPr>
          <a:xfrm>
            <a:off x="8513063" y="4208780"/>
            <a:ext cx="3084271" cy="166166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only 2 competitor(s) have a name, URL and evidence URL (3 required)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only 0 competitor(s) have a verified price with evidence (3 required)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R2 At least 3 competitor rows: 2 competitor row(s) in the Key Competitors table (3 required).</a:t>
            </a:r>
          </a:p>
        </p:txBody>
      </p:sp>
      <p:cxnSp>
        <p:nvCxnSpPr>
          <p:cNvPr id="49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ooter"/>
          <p:cNvSpPr txBox="1"/>
          <p:nvPr/>
        </p:nvSpPr>
        <p:spPr>
          <a:xfrm>
            <a:off x="411480" y="6473952"/>
            <a:ext cx="102714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Problem &amp; Opportunity | Cold-pressed juice subscription, Pune | Partial evidence | run 20261014-201109-cold-pressed-juice-subscriptio-c0fe</a:t>
            </a:r>
          </a:p>
        </p:txBody>
      </p:sp>
      <p:sp>
        <p:nvSpPr>
          <p:cNvPr id="51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201168"/>
            <a:ext cx="3017520" cy="694944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83464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" y="338328"/>
            <a:ext cx="466535" cy="420624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61288" y="228600"/>
            <a:ext cx="2194560" cy="3383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61288" y="57607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29184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703320" y="182880"/>
            <a:ext cx="7315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9C7225"/>
                </a:solidFill>
                <a:latin typeface="Georgia"/>
              </a:rPr>
              <a:t>02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434840" y="182880"/>
            <a:ext cx="52615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B1E3A"/>
                </a:solidFill>
                <a:latin typeface="Georgia"/>
              </a:rPr>
              <a:t>Market Landscape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434840" y="640080"/>
            <a:ext cx="52615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A"/>
                </a:solidFill>
                <a:latin typeface="Calibri"/>
              </a:rPr>
              <a:t>Competitor Landscape · Cold-pressed juice subscription · Pune</a:t>
            </a:r>
          </a:p>
        </p:txBody>
      </p:sp>
      <p:sp>
        <p:nvSpPr>
          <p:cNvPr id="11" name="Header rule"/>
          <p:cNvSpPr/>
          <p:nvPr/>
        </p:nvSpPr>
        <p:spPr>
          <a:xfrm>
            <a:off x="411480" y="950976"/>
            <a:ext cx="11368735" cy="22860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els"/>
          <p:cNvSpPr/>
          <p:nvPr/>
        </p:nvSpPr>
        <p:spPr>
          <a:xfrm>
            <a:off x="411480" y="1078992"/>
            <a:ext cx="11368735" cy="339852"/>
          </a:xfrm>
          <a:prstGeom prst="roundRect">
            <a:avLst>
              <a:gd name="adj" fmla="val 21524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PARTIAL EVIDENCE: the source report failed acceptance   ·   Price unknown / not verified: iBites, Earth Organic Juices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411480" y="6053328"/>
            <a:ext cx="11368735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ibites.in · instagram.com · facebook.com</a:t>
            </a:r>
          </a:p>
        </p:txBody>
      </p:sp>
      <p:sp>
        <p:nvSpPr>
          <p:cNvPr id="14" name="Matrix card"/>
          <p:cNvSpPr/>
          <p:nvPr/>
        </p:nvSpPr>
        <p:spPr>
          <a:xfrm>
            <a:off x="411480" y="1528572"/>
            <a:ext cx="7589520" cy="4451604"/>
          </a:xfrm>
          <a:prstGeom prst="roundRect">
            <a:avLst>
              <a:gd name="adj" fmla="val 1643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atrix head: Competitor"/>
          <p:cNvSpPr txBox="1"/>
          <p:nvPr/>
        </p:nvSpPr>
        <p:spPr>
          <a:xfrm>
            <a:off x="521208" y="1601724"/>
            <a:ext cx="126187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COMPETITOR</a:t>
            </a:r>
          </a:p>
        </p:txBody>
      </p:sp>
      <p:sp>
        <p:nvSpPr>
          <p:cNvPr id="16" name="Matrix head: Offer &amp; Positioning"/>
          <p:cNvSpPr txBox="1"/>
          <p:nvPr/>
        </p:nvSpPr>
        <p:spPr>
          <a:xfrm>
            <a:off x="1892807" y="1601724"/>
            <a:ext cx="245059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OFFER &amp; POSITIONING</a:t>
            </a:r>
          </a:p>
        </p:txBody>
      </p:sp>
      <p:sp>
        <p:nvSpPr>
          <p:cNvPr id="17" name="Matrix head: Channels"/>
          <p:cNvSpPr txBox="1"/>
          <p:nvPr/>
        </p:nvSpPr>
        <p:spPr>
          <a:xfrm>
            <a:off x="4453128" y="1601724"/>
            <a:ext cx="139903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CHANNELS</a:t>
            </a:r>
          </a:p>
        </p:txBody>
      </p:sp>
      <p:sp>
        <p:nvSpPr>
          <p:cNvPr id="18" name="Matrix head: Price"/>
          <p:cNvSpPr txBox="1"/>
          <p:nvPr/>
        </p:nvSpPr>
        <p:spPr>
          <a:xfrm>
            <a:off x="5961888" y="1601724"/>
            <a:ext cx="203911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PRICE</a:t>
            </a:r>
          </a:p>
        </p:txBody>
      </p:sp>
      <p:sp>
        <p:nvSpPr>
          <p:cNvPr id="19" name="Competitor: iBites"/>
          <p:cNvSpPr/>
          <p:nvPr/>
        </p:nvSpPr>
        <p:spPr>
          <a:xfrm>
            <a:off x="502920" y="1949196"/>
            <a:ext cx="7406640" cy="1924050"/>
          </a:xfrm>
          <a:prstGeom prst="roundRect">
            <a:avLst>
              <a:gd name="adj" fmla="val 3801"/>
            </a:avLst>
          </a:prstGeom>
          <a:solidFill>
            <a:srgbClr val="FAF6EC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ame: iBites"/>
          <p:cNvSpPr txBox="1"/>
          <p:nvPr/>
        </p:nvSpPr>
        <p:spPr>
          <a:xfrm>
            <a:off x="576072" y="2004060"/>
            <a:ext cx="1170432" cy="18143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14233F"/>
                </a:solidFill>
                <a:latin typeface="Calibri"/>
              </a:rPr>
              <a:t>iBites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ibites.in</a:t>
            </a:r>
          </a:p>
        </p:txBody>
      </p:sp>
      <p:sp>
        <p:nvSpPr>
          <p:cNvPr id="21" name="Offer: iBites"/>
          <p:cNvSpPr txBox="1"/>
          <p:nvPr/>
        </p:nvSpPr>
        <p:spPr>
          <a:xfrm>
            <a:off x="1856231" y="2004060"/>
            <a:ext cx="2414015" cy="18143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Cold-pressed juices, wellness shots and smoothies, pressed after ordering; the page says a daily subscription is available, with the same juice delivered each morning.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Local relevance: The page describes juice delivery across Pune and lists areas including Baner, Kothrud, Viman Nagar, Hinjawadi and Pune Camp.</a:t>
            </a:r>
          </a:p>
        </p:txBody>
      </p:sp>
      <p:sp>
        <p:nvSpPr>
          <p:cNvPr id="22" name="Channels: iBites"/>
          <p:cNvSpPr txBox="1"/>
          <p:nvPr/>
        </p:nvSpPr>
        <p:spPr>
          <a:xfrm>
            <a:off x="4416552" y="2004060"/>
            <a:ext cx="1399031" cy="18143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200" b="0" i="0">
                <a:solidFill>
                  <a:srgbClr val="14233F"/>
                </a:solidFill>
                <a:latin typeface="Calibri"/>
              </a:rPr>
              <a:t>Website ordering/menu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200" b="0" i="0">
                <a:solidFill>
                  <a:srgbClr val="14233F"/>
                </a:solidFill>
                <a:latin typeface="Calibri"/>
              </a:rPr>
              <a:t>WhatsApp ordering</a:t>
            </a:r>
          </a:p>
        </p:txBody>
      </p:sp>
      <p:sp>
        <p:nvSpPr>
          <p:cNvPr id="23" name="Price: iBites"/>
          <p:cNvSpPr/>
          <p:nvPr/>
        </p:nvSpPr>
        <p:spPr>
          <a:xfrm>
            <a:off x="5925312" y="2040636"/>
            <a:ext cx="1582801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PRICE UNKNOWN</a:t>
            </a:r>
          </a:p>
        </p:txBody>
      </p:sp>
      <p:sp>
        <p:nvSpPr>
          <p:cNvPr id="24" name="Price note: iBites"/>
          <p:cNvSpPr txBox="1"/>
          <p:nvPr/>
        </p:nvSpPr>
        <p:spPr>
          <a:xfrm>
            <a:off x="5925312" y="2406396"/>
            <a:ext cx="1911095" cy="141198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B677A"/>
                </a:solidFill>
                <a:latin typeface="Calibri"/>
              </a:rPr>
              <a:t>Not verified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2 source URL(s)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Unknown: A price is mentioned on the cold-pressed juice page as starting at ₹25, but no unit or pack size is stated, so it is not recorded as a verified unit price.</a:t>
            </a:r>
          </a:p>
        </p:txBody>
      </p:sp>
      <p:sp>
        <p:nvSpPr>
          <p:cNvPr id="25" name="Competitor: Earth Organic Juices"/>
          <p:cNvSpPr/>
          <p:nvPr/>
        </p:nvSpPr>
        <p:spPr>
          <a:xfrm>
            <a:off x="502920" y="3964686"/>
            <a:ext cx="7406640" cy="1924050"/>
          </a:xfrm>
          <a:prstGeom prst="roundRect">
            <a:avLst>
              <a:gd name="adj" fmla="val 3801"/>
            </a:avLst>
          </a:prstGeom>
          <a:solidFill>
            <a:srgbClr val="FAF6EC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Name: Earth Organic Juices"/>
          <p:cNvSpPr txBox="1"/>
          <p:nvPr/>
        </p:nvSpPr>
        <p:spPr>
          <a:xfrm>
            <a:off x="576072" y="4019549"/>
            <a:ext cx="1170432" cy="18143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14233F"/>
                </a:solidFill>
                <a:latin typeface="Calibri"/>
              </a:rPr>
              <a:t>Earth Organic Juices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instagram.com</a:t>
            </a:r>
          </a:p>
        </p:txBody>
      </p:sp>
      <p:sp>
        <p:nvSpPr>
          <p:cNvPr id="27" name="Offer: Earth Organic Juices"/>
          <p:cNvSpPr txBox="1"/>
          <p:nvPr/>
        </p:nvSpPr>
        <p:spPr>
          <a:xfrm>
            <a:off x="1856231" y="4019549"/>
            <a:ext cx="2414015" cy="18143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Search result describes cold-pressed juices and weekly subscriptions; another public result advertises early-morning delivery and a three-day trial.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Local relevance: Search result describes it as a Pune cold-pressed juice delivery business; a public listing says delivery across Pune and PCMC. The Instagram page itself…</a:t>
            </a:r>
          </a:p>
        </p:txBody>
      </p:sp>
      <p:sp>
        <p:nvSpPr>
          <p:cNvPr id="28" name="Channels: Earth Organic Juices"/>
          <p:cNvSpPr txBox="1"/>
          <p:nvPr/>
        </p:nvSpPr>
        <p:spPr>
          <a:xfrm>
            <a:off x="4416552" y="4019549"/>
            <a:ext cx="1399031" cy="18143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200" b="0" i="0">
                <a:solidFill>
                  <a:srgbClr val="14233F"/>
                </a:solidFill>
                <a:latin typeface="Calibri"/>
              </a:rPr>
              <a:t>Instagram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200" b="0" i="0">
                <a:solidFill>
                  <a:srgbClr val="14233F"/>
                </a:solidFill>
                <a:latin typeface="Calibri"/>
              </a:rPr>
              <a:t>WhatsApp (advertised in search result)</a:t>
            </a:r>
          </a:p>
        </p:txBody>
      </p:sp>
      <p:sp>
        <p:nvSpPr>
          <p:cNvPr id="29" name="Price: Earth Organic Juices"/>
          <p:cNvSpPr/>
          <p:nvPr/>
        </p:nvSpPr>
        <p:spPr>
          <a:xfrm>
            <a:off x="5925312" y="4056125"/>
            <a:ext cx="1582801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PRICE UNKNOWN</a:t>
            </a:r>
          </a:p>
        </p:txBody>
      </p:sp>
      <p:sp>
        <p:nvSpPr>
          <p:cNvPr id="30" name="Price note: Earth Organic Juices"/>
          <p:cNvSpPr txBox="1"/>
          <p:nvPr/>
        </p:nvSpPr>
        <p:spPr>
          <a:xfrm>
            <a:off x="5925312" y="4421886"/>
            <a:ext cx="1911095" cy="141198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B677A"/>
                </a:solidFill>
                <a:latin typeface="Calibri"/>
              </a:rPr>
              <a:t>Not verified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2 source URL(s)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Unknown: A search-result snippet advertises ₹297 for a three-day trial, but the underlying Facebook page could not be retrieved, so price is unverified.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65592" y="1528572"/>
            <a:ext cx="3614623" cy="2492898"/>
          </a:xfrm>
          <a:prstGeom prst="roundRect">
            <a:avLst>
              <a:gd name="adj" fmla="val 2934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"/>
          <p:cNvSpPr/>
          <p:nvPr/>
        </p:nvSpPr>
        <p:spPr>
          <a:xfrm>
            <a:off x="8165592" y="1638300"/>
            <a:ext cx="54864" cy="2273442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anel heading"/>
          <p:cNvSpPr txBox="1"/>
          <p:nvPr/>
        </p:nvSpPr>
        <p:spPr>
          <a:xfrm>
            <a:off x="8330183" y="1601724"/>
            <a:ext cx="3340303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COMPETITIVE FINDINGS</a:t>
            </a:r>
          </a:p>
        </p:txBody>
      </p:sp>
      <p:sp>
        <p:nvSpPr>
          <p:cNvPr id="34" name="Findings"/>
          <p:cNvSpPr txBox="1"/>
          <p:nvPr/>
        </p:nvSpPr>
        <p:spPr>
          <a:xfrm>
            <a:off x="8348471" y="1930908"/>
            <a:ext cx="3294583" cy="199912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iBites: Cold-pressed juices, wellness shots and smoothies, pressed after ordering; its surfaced…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iBites: Price unknown (not verified); website/menu and WhatsApp ordering.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Juices: Search results describe cold-pressed juices, weekly subscriptions…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Juices: Price unknown (not verified); Instagram and WhatsApp advertised in a search result.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65592" y="4186062"/>
            <a:ext cx="3614623" cy="1794113"/>
          </a:xfrm>
          <a:prstGeom prst="roundRect">
            <a:avLst>
              <a:gd name="adj" fmla="val 407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"/>
          <p:cNvSpPr/>
          <p:nvPr/>
        </p:nvSpPr>
        <p:spPr>
          <a:xfrm>
            <a:off x="8165592" y="4295790"/>
            <a:ext cx="54864" cy="1574657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anel heading"/>
          <p:cNvSpPr txBox="1"/>
          <p:nvPr/>
        </p:nvSpPr>
        <p:spPr>
          <a:xfrm>
            <a:off x="8330183" y="4259214"/>
            <a:ext cx="3340303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7C7A"/>
                </a:solidFill>
                <a:latin typeface="Calibri"/>
              </a:rPr>
              <a:t>EVIDENCE COVERAGE</a:t>
            </a:r>
          </a:p>
        </p:txBody>
      </p:sp>
      <p:sp>
        <p:nvSpPr>
          <p:cNvPr id="38" name="Coverage label: iBites"/>
          <p:cNvSpPr txBox="1"/>
          <p:nvPr/>
        </p:nvSpPr>
        <p:spPr>
          <a:xfrm>
            <a:off x="8348471" y="4588398"/>
            <a:ext cx="324886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iBites: 2 source URL(s)</a:t>
            </a:r>
          </a:p>
        </p:txBody>
      </p:sp>
      <p:sp>
        <p:nvSpPr>
          <p:cNvPr id="39" name="Coverage: iBites track"/>
          <p:cNvSpPr/>
          <p:nvPr/>
        </p:nvSpPr>
        <p:spPr>
          <a:xfrm>
            <a:off x="8348471" y="4862718"/>
            <a:ext cx="3248863" cy="128016"/>
          </a:xfrm>
          <a:prstGeom prst="roundRect">
            <a:avLst>
              <a:gd name="adj" fmla="val 40000"/>
            </a:avLst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overage: iBites fill"/>
          <p:cNvSpPr/>
          <p:nvPr/>
        </p:nvSpPr>
        <p:spPr>
          <a:xfrm>
            <a:off x="8348471" y="4862718"/>
            <a:ext cx="3248863" cy="128016"/>
          </a:xfrm>
          <a:prstGeom prst="roundRect">
            <a:avLst>
              <a:gd name="adj" fmla="val 40000"/>
            </a:avLst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overage label: Earth Organic Juices"/>
          <p:cNvSpPr txBox="1"/>
          <p:nvPr/>
        </p:nvSpPr>
        <p:spPr>
          <a:xfrm>
            <a:off x="8348471" y="5155326"/>
            <a:ext cx="324886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Earth Organic Juices: 2 source URL(s)</a:t>
            </a:r>
          </a:p>
        </p:txBody>
      </p:sp>
      <p:sp>
        <p:nvSpPr>
          <p:cNvPr id="42" name="Coverage: Earth Organic Juices track"/>
          <p:cNvSpPr/>
          <p:nvPr/>
        </p:nvSpPr>
        <p:spPr>
          <a:xfrm>
            <a:off x="8348471" y="5429646"/>
            <a:ext cx="3248863" cy="128016"/>
          </a:xfrm>
          <a:prstGeom prst="roundRect">
            <a:avLst>
              <a:gd name="adj" fmla="val 40000"/>
            </a:avLst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overage: Earth Organic Juices fill"/>
          <p:cNvSpPr/>
          <p:nvPr/>
        </p:nvSpPr>
        <p:spPr>
          <a:xfrm>
            <a:off x="8348471" y="5429646"/>
            <a:ext cx="3248863" cy="128016"/>
          </a:xfrm>
          <a:prstGeom prst="roundRect">
            <a:avLst>
              <a:gd name="adj" fmla="val 40000"/>
            </a:avLst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ooter"/>
          <p:cNvSpPr txBox="1"/>
          <p:nvPr/>
        </p:nvSpPr>
        <p:spPr>
          <a:xfrm>
            <a:off x="411480" y="6473952"/>
            <a:ext cx="102714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Market Landscape | Cold-pressed juice subscription, Pune | Partial evidence | run 20261014-201109-cold-pressed-juice-subscriptio-c0fe</a:t>
            </a:r>
          </a:p>
        </p:txBody>
      </p:sp>
      <p:sp>
        <p:nvSpPr>
          <p:cNvPr id="46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201168"/>
            <a:ext cx="3017520" cy="694944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83464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" y="338328"/>
            <a:ext cx="466535" cy="420624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61288" y="228600"/>
            <a:ext cx="2194560" cy="3383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61288" y="57607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29184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703320" y="182880"/>
            <a:ext cx="7315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9C7225"/>
                </a:solidFill>
                <a:latin typeface="Georgia"/>
              </a:rPr>
              <a:t>03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434840" y="182880"/>
            <a:ext cx="52615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B1E3A"/>
                </a:solidFill>
                <a:latin typeface="Georgia"/>
              </a:rPr>
              <a:t>Customer Insights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434840" y="640080"/>
            <a:ext cx="52615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A"/>
                </a:solidFill>
                <a:latin typeface="Calibri"/>
              </a:rPr>
              <a:t>Customer Pain Points · Cold-pressed juice subscription · Pune</a:t>
            </a:r>
          </a:p>
        </p:txBody>
      </p:sp>
      <p:sp>
        <p:nvSpPr>
          <p:cNvPr id="11" name="Header rule"/>
          <p:cNvSpPr/>
          <p:nvPr/>
        </p:nvSpPr>
        <p:spPr>
          <a:xfrm>
            <a:off x="411480" y="950976"/>
            <a:ext cx="11368735" cy="22860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els"/>
          <p:cNvSpPr/>
          <p:nvPr/>
        </p:nvSpPr>
        <p:spPr>
          <a:xfrm>
            <a:off x="411480" y="1078992"/>
            <a:ext cx="11368735" cy="339852"/>
          </a:xfrm>
          <a:prstGeom prst="roundRect">
            <a:avLst>
              <a:gd name="adj" fmla="val 21524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PARTIAL EVIDENCE: the source report failed acceptance   ·   Customer comments are attributed per source; unverified where noted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411480" y="6053328"/>
            <a:ext cx="11368735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ibites.in · earthorganicjuices.com · instagram.com · facebook.com</a:t>
            </a:r>
          </a:p>
        </p:txBody>
      </p:sp>
      <p:sp>
        <p:nvSpPr>
          <p:cNvPr id="14" name="Insight card 1"/>
          <p:cNvSpPr/>
          <p:nvPr/>
        </p:nvSpPr>
        <p:spPr>
          <a:xfrm>
            <a:off x="411480" y="1528572"/>
            <a:ext cx="2718739" cy="2448382"/>
          </a:xfrm>
          <a:prstGeom prst="roundRect">
            <a:avLst>
              <a:gd name="adj" fmla="val 298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cent"/>
          <p:cNvSpPr/>
          <p:nvPr/>
        </p:nvSpPr>
        <p:spPr>
          <a:xfrm>
            <a:off x="411480" y="1620012"/>
            <a:ext cx="54864" cy="2265502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ource: iBites"/>
          <p:cNvSpPr/>
          <p:nvPr/>
        </p:nvSpPr>
        <p:spPr>
          <a:xfrm>
            <a:off x="594360" y="1638300"/>
            <a:ext cx="922401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IBITES</a:t>
            </a:r>
          </a:p>
        </p:txBody>
      </p:sp>
      <p:sp>
        <p:nvSpPr>
          <p:cNvPr id="17" name="Provenance 1"/>
          <p:cNvSpPr txBox="1"/>
          <p:nvPr/>
        </p:nvSpPr>
        <p:spPr>
          <a:xfrm>
            <a:off x="594360" y="1985772"/>
            <a:ext cx="2398699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Quoted · ibites.in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Praise · not independently verified</a:t>
            </a:r>
          </a:p>
        </p:txBody>
      </p:sp>
      <p:sp>
        <p:nvSpPr>
          <p:cNvPr id="18" name="Quote 1"/>
          <p:cNvSpPr txBox="1"/>
          <p:nvPr/>
        </p:nvSpPr>
        <p:spPr>
          <a:xfrm>
            <a:off x="594360" y="2442972"/>
            <a:ext cx="2398699" cy="142425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14233F"/>
                </a:solidFill>
                <a:latin typeface="Calibri"/>
              </a:rPr>
              <a:t>“The flavor is incredibly refreshing and blends perfectly. I've noticed a significant boost in my energy since I started using it!” — attributed on iBites’ website to Priya S.</a:t>
            </a:r>
          </a:p>
        </p:txBody>
      </p:sp>
      <p:sp>
        <p:nvSpPr>
          <p:cNvPr id="19" name="Insight card 2"/>
          <p:cNvSpPr/>
          <p:nvPr/>
        </p:nvSpPr>
        <p:spPr>
          <a:xfrm>
            <a:off x="3294811" y="1528572"/>
            <a:ext cx="2718739" cy="2448382"/>
          </a:xfrm>
          <a:prstGeom prst="roundRect">
            <a:avLst>
              <a:gd name="adj" fmla="val 298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"/>
          <p:cNvSpPr/>
          <p:nvPr/>
        </p:nvSpPr>
        <p:spPr>
          <a:xfrm>
            <a:off x="3294811" y="1620012"/>
            <a:ext cx="54864" cy="2265502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ource: Earth Organic Juices"/>
          <p:cNvSpPr/>
          <p:nvPr/>
        </p:nvSpPr>
        <p:spPr>
          <a:xfrm>
            <a:off x="3477691" y="1638300"/>
            <a:ext cx="2135886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EARTH ORGANIC JUICES</a:t>
            </a:r>
          </a:p>
        </p:txBody>
      </p:sp>
      <p:sp>
        <p:nvSpPr>
          <p:cNvPr id="22" name="Provenance 2"/>
          <p:cNvSpPr txBox="1"/>
          <p:nvPr/>
        </p:nvSpPr>
        <p:spPr>
          <a:xfrm>
            <a:off x="3477691" y="1985772"/>
            <a:ext cx="2398699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Quoted · earthorganicjuices.com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Praise · not independently verified</a:t>
            </a:r>
          </a:p>
        </p:txBody>
      </p:sp>
      <p:sp>
        <p:nvSpPr>
          <p:cNvPr id="23" name="Quote 2"/>
          <p:cNvSpPr txBox="1"/>
          <p:nvPr/>
        </p:nvSpPr>
        <p:spPr>
          <a:xfrm>
            <a:off x="3477691" y="2442972"/>
            <a:ext cx="2398699" cy="142425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4233F"/>
                </a:solidFill>
                <a:latin typeface="Calibri"/>
              </a:rPr>
              <a:t>“The flavor was incredibly fresh and natural, with the perfect balance of sweetness and tartness. You can really taste the quality ingredients…” — attributed on the company website to Preeti Dhanve, who says she tried the juices.</a:t>
            </a:r>
          </a:p>
        </p:txBody>
      </p:sp>
      <p:sp>
        <p:nvSpPr>
          <p:cNvPr id="24" name="Insight card 3"/>
          <p:cNvSpPr/>
          <p:nvPr/>
        </p:nvSpPr>
        <p:spPr>
          <a:xfrm>
            <a:off x="6178143" y="1528572"/>
            <a:ext cx="2718739" cy="2448382"/>
          </a:xfrm>
          <a:prstGeom prst="roundRect">
            <a:avLst>
              <a:gd name="adj" fmla="val 298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cent"/>
          <p:cNvSpPr/>
          <p:nvPr/>
        </p:nvSpPr>
        <p:spPr>
          <a:xfrm>
            <a:off x="6178143" y="1620012"/>
            <a:ext cx="54864" cy="2265502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ource: iBites"/>
          <p:cNvSpPr/>
          <p:nvPr/>
        </p:nvSpPr>
        <p:spPr>
          <a:xfrm>
            <a:off x="6361023" y="1638300"/>
            <a:ext cx="922401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IBITES</a:t>
            </a:r>
          </a:p>
        </p:txBody>
      </p:sp>
      <p:sp>
        <p:nvSpPr>
          <p:cNvPr id="27" name="Provenance 3"/>
          <p:cNvSpPr txBox="1"/>
          <p:nvPr/>
        </p:nvSpPr>
        <p:spPr>
          <a:xfrm>
            <a:off x="6361023" y="1985772"/>
            <a:ext cx="2398699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Quoted · ibites.in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Praise · not independently verified</a:t>
            </a:r>
          </a:p>
        </p:txBody>
      </p:sp>
      <p:sp>
        <p:nvSpPr>
          <p:cNvPr id="28" name="Quote 3"/>
          <p:cNvSpPr txBox="1"/>
          <p:nvPr/>
        </p:nvSpPr>
        <p:spPr>
          <a:xfrm>
            <a:off x="6361023" y="2442972"/>
            <a:ext cx="2398699" cy="142425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14233F"/>
                </a:solidFill>
                <a:latin typeface="Calibri"/>
              </a:rPr>
              <a:t>“The crisp citrus flavor is exactly what I need. Perfectly balanced, not too sweet, and gives me clean, natural energy without crashes.” — attributed on iBites’ website to Rahul M.</a:t>
            </a:r>
          </a:p>
        </p:txBody>
      </p:sp>
      <p:sp>
        <p:nvSpPr>
          <p:cNvPr id="29" name="Insight card 4"/>
          <p:cNvSpPr/>
          <p:nvPr/>
        </p:nvSpPr>
        <p:spPr>
          <a:xfrm>
            <a:off x="9061475" y="1528572"/>
            <a:ext cx="2718739" cy="2448382"/>
          </a:xfrm>
          <a:prstGeom prst="roundRect">
            <a:avLst>
              <a:gd name="adj" fmla="val 298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"/>
          <p:cNvSpPr/>
          <p:nvPr/>
        </p:nvSpPr>
        <p:spPr>
          <a:xfrm>
            <a:off x="9061475" y="1620012"/>
            <a:ext cx="54864" cy="2265502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ource: Earth Organic Juices"/>
          <p:cNvSpPr/>
          <p:nvPr/>
        </p:nvSpPr>
        <p:spPr>
          <a:xfrm>
            <a:off x="9244355" y="1638300"/>
            <a:ext cx="2135886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EARTH ORGANIC JUICES</a:t>
            </a:r>
          </a:p>
        </p:txBody>
      </p:sp>
      <p:sp>
        <p:nvSpPr>
          <p:cNvPr id="32" name="Provenance 4"/>
          <p:cNvSpPr txBox="1"/>
          <p:nvPr/>
        </p:nvSpPr>
        <p:spPr>
          <a:xfrm>
            <a:off x="9244355" y="1985772"/>
            <a:ext cx="2398699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Reported · earthorganicjuices.com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Praise · not independently verified</a:t>
            </a:r>
          </a:p>
        </p:txBody>
      </p:sp>
      <p:sp>
        <p:nvSpPr>
          <p:cNvPr id="33" name="Quote 4"/>
          <p:cNvSpPr txBox="1"/>
          <p:nvPr/>
        </p:nvSpPr>
        <p:spPr>
          <a:xfrm>
            <a:off x="9244355" y="2442972"/>
            <a:ext cx="2398699" cy="142425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14233F"/>
                </a:solidFill>
                <a:latin typeface="Calibri"/>
              </a:rPr>
              <a:t>The company website features a testimonial attributed to Shivlal Chavan praising the juices as free of preservatives and saying this gives him peace of mind about consuming a natural product.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141546"/>
            <a:ext cx="3291840" cy="1838629"/>
          </a:xfrm>
          <a:prstGeom prst="roundRect">
            <a:avLst>
              <a:gd name="adj" fmla="val 397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ccent"/>
          <p:cNvSpPr/>
          <p:nvPr/>
        </p:nvSpPr>
        <p:spPr>
          <a:xfrm>
            <a:off x="411480" y="4251274"/>
            <a:ext cx="54864" cy="1619173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anel heading"/>
          <p:cNvSpPr txBox="1"/>
          <p:nvPr/>
        </p:nvSpPr>
        <p:spPr>
          <a:xfrm>
            <a:off x="576072" y="4214698"/>
            <a:ext cx="30175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7C7A"/>
                </a:solidFill>
                <a:latin typeface="Calibri"/>
              </a:rPr>
              <a:t>FINDINGS RETRIEVED</a:t>
            </a:r>
          </a:p>
        </p:txBody>
      </p:sp>
      <p:sp>
        <p:nvSpPr>
          <p:cNvPr id="37" name="Count label: Praise"/>
          <p:cNvSpPr txBox="1"/>
          <p:nvPr/>
        </p:nvSpPr>
        <p:spPr>
          <a:xfrm>
            <a:off x="594360" y="4543882"/>
            <a:ext cx="292608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233F"/>
                </a:solidFill>
                <a:latin typeface="Calibri"/>
              </a:rPr>
              <a:t>Praise: 8</a:t>
            </a:r>
          </a:p>
        </p:txBody>
      </p:sp>
      <p:sp>
        <p:nvSpPr>
          <p:cNvPr id="38" name="Count: Praise track"/>
          <p:cNvSpPr/>
          <p:nvPr/>
        </p:nvSpPr>
        <p:spPr>
          <a:xfrm>
            <a:off x="594360" y="4818202"/>
            <a:ext cx="2926080" cy="137160"/>
          </a:xfrm>
          <a:prstGeom prst="roundRect">
            <a:avLst>
              <a:gd name="adj" fmla="val 40000"/>
            </a:avLst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ount: Praise fill"/>
          <p:cNvSpPr/>
          <p:nvPr/>
        </p:nvSpPr>
        <p:spPr>
          <a:xfrm>
            <a:off x="594360" y="4818202"/>
            <a:ext cx="2926080" cy="137160"/>
          </a:xfrm>
          <a:prstGeom prst="roundRect">
            <a:avLst>
              <a:gd name="adj" fmla="val 40000"/>
            </a:avLst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ount label: Complaints"/>
          <p:cNvSpPr txBox="1"/>
          <p:nvPr/>
        </p:nvSpPr>
        <p:spPr>
          <a:xfrm>
            <a:off x="594360" y="5055946"/>
            <a:ext cx="292608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233F"/>
                </a:solidFill>
                <a:latin typeface="Calibri"/>
              </a:rPr>
              <a:t>Complaints: 0</a:t>
            </a:r>
          </a:p>
        </p:txBody>
      </p:sp>
      <p:sp>
        <p:nvSpPr>
          <p:cNvPr id="41" name="Count: Complaints track"/>
          <p:cNvSpPr/>
          <p:nvPr/>
        </p:nvSpPr>
        <p:spPr>
          <a:xfrm>
            <a:off x="594360" y="5330266"/>
            <a:ext cx="2926080" cy="137160"/>
          </a:xfrm>
          <a:prstGeom prst="roundRect">
            <a:avLst>
              <a:gd name="adj" fmla="val 40000"/>
            </a:avLst>
          </a:prstGeom>
          <a:solidFill>
            <a:srgbClr val="E0D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867911" y="4141546"/>
            <a:ext cx="3873855" cy="1838629"/>
          </a:xfrm>
          <a:prstGeom prst="roundRect">
            <a:avLst>
              <a:gd name="adj" fmla="val 397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ccent"/>
          <p:cNvSpPr/>
          <p:nvPr/>
        </p:nvSpPr>
        <p:spPr>
          <a:xfrm>
            <a:off x="3867911" y="4251274"/>
            <a:ext cx="54864" cy="1619173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anel heading"/>
          <p:cNvSpPr txBox="1"/>
          <p:nvPr/>
        </p:nvSpPr>
        <p:spPr>
          <a:xfrm>
            <a:off x="4032503" y="4214698"/>
            <a:ext cx="3599535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PAIN POINTS &amp; OPPORTUNITIES</a:t>
            </a:r>
          </a:p>
        </p:txBody>
      </p:sp>
      <p:sp>
        <p:nvSpPr>
          <p:cNvPr id="45" name="Pain points"/>
          <p:cNvSpPr txBox="1"/>
          <p:nvPr/>
        </p:nvSpPr>
        <p:spPr>
          <a:xfrm>
            <a:off x="4050791" y="4543882"/>
            <a:ext cx="3553815" cy="134485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iBites: No verifiable customer complaints were retrieved; independent review or ratings-page sentiment is unknown.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Juices: No verifiable customer complaints were retrieved; independent sentiment is unknown, and Instagram content was not readable.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06359" y="4141546"/>
            <a:ext cx="3873855" cy="1838629"/>
          </a:xfrm>
          <a:prstGeom prst="roundRect">
            <a:avLst>
              <a:gd name="adj" fmla="val 397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ccent"/>
          <p:cNvSpPr/>
          <p:nvPr/>
        </p:nvSpPr>
        <p:spPr>
          <a:xfrm>
            <a:off x="7906359" y="4251274"/>
            <a:ext cx="54864" cy="1619173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anel heading"/>
          <p:cNvSpPr txBox="1"/>
          <p:nvPr/>
        </p:nvSpPr>
        <p:spPr>
          <a:xfrm>
            <a:off x="8070951" y="4214698"/>
            <a:ext cx="3599535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9C7225"/>
                </a:solidFill>
                <a:latin typeface="Calibri"/>
              </a:rPr>
              <a:t>LIMITS OF THE CUSTOMER DATA</a:t>
            </a:r>
          </a:p>
        </p:txBody>
      </p:sp>
      <p:sp>
        <p:nvSpPr>
          <p:cNvPr id="49" name="Limitations"/>
          <p:cNvSpPr txBox="1"/>
          <p:nvPr/>
        </p:nvSpPr>
        <p:spPr>
          <a:xfrm>
            <a:off x="8089239" y="4543882"/>
            <a:ext cx="3553815" cy="134485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No verifiable customer complaints were retrieved for either competitor.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 praise found in this research is on the company’s own website; independent…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 praise found in this research is on the company’s own website; independent…</a:t>
            </a:r>
          </a:p>
        </p:txBody>
      </p:sp>
      <p:cxnSp>
        <p:nvCxnSpPr>
          <p:cNvPr id="50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ooter"/>
          <p:cNvSpPr txBox="1"/>
          <p:nvPr/>
        </p:nvSpPr>
        <p:spPr>
          <a:xfrm>
            <a:off x="411480" y="6473952"/>
            <a:ext cx="102714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Customer Insights | Cold-pressed juice subscription, Pune | Partial evidence | run 20261014-201109-cold-pressed-juice-subscriptio-c0fe</a:t>
            </a:r>
          </a:p>
        </p:txBody>
      </p:sp>
      <p:sp>
        <p:nvSpPr>
          <p:cNvPr id="52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201168"/>
            <a:ext cx="3017520" cy="694944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83464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" y="338328"/>
            <a:ext cx="466535" cy="420624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61288" y="228600"/>
            <a:ext cx="2194560" cy="3383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61288" y="57607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29184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703320" y="182880"/>
            <a:ext cx="7315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9C7225"/>
                </a:solidFill>
                <a:latin typeface="Georgia"/>
              </a:rPr>
              <a:t>04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434840" y="182880"/>
            <a:ext cx="52615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B1E3A"/>
                </a:solidFill>
                <a:latin typeface="Georgia"/>
              </a:rPr>
              <a:t>Solution &amp; Differentiation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434840" y="640080"/>
            <a:ext cx="52615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A"/>
                </a:solidFill>
                <a:latin typeface="Calibri"/>
              </a:rPr>
              <a:t>Market Gap · Cold-pressed juice subscription · Pune</a:t>
            </a:r>
          </a:p>
        </p:txBody>
      </p:sp>
      <p:sp>
        <p:nvSpPr>
          <p:cNvPr id="11" name="Header rule"/>
          <p:cNvSpPr/>
          <p:nvPr/>
        </p:nvSpPr>
        <p:spPr>
          <a:xfrm>
            <a:off x="411480" y="950976"/>
            <a:ext cx="11368735" cy="22860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els"/>
          <p:cNvSpPr/>
          <p:nvPr/>
        </p:nvSpPr>
        <p:spPr>
          <a:xfrm>
            <a:off x="411480" y="1078992"/>
            <a:ext cx="11368735" cy="339852"/>
          </a:xfrm>
          <a:prstGeom prst="roundRect">
            <a:avLst>
              <a:gd name="adj" fmla="val 21524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PARTIAL EVIDENCE: the source report failed acceptance   ·   Assumption: the gap is an inference from this research, not a market size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411480" y="6053328"/>
            <a:ext cx="11368735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Strategy: recommendation · ibites.in · instagram.com</a:t>
            </a:r>
          </a:p>
        </p:txBody>
      </p:sp>
      <p:sp>
        <p:nvSpPr>
          <p:cNvPr id="14" name="Value proposition"/>
          <p:cNvSpPr/>
          <p:nvPr/>
        </p:nvSpPr>
        <p:spPr>
          <a:xfrm>
            <a:off x="411480" y="1528572"/>
            <a:ext cx="11368735" cy="868680"/>
          </a:xfrm>
          <a:prstGeom prst="roundRect">
            <a:avLst>
              <a:gd name="adj" fmla="val 8421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ositioning tag"/>
          <p:cNvSpPr/>
          <p:nvPr/>
        </p:nvSpPr>
        <p:spPr>
          <a:xfrm>
            <a:off x="594360" y="1816608"/>
            <a:ext cx="167360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RECOMMENDATION</a:t>
            </a:r>
          </a:p>
        </p:txBody>
      </p:sp>
      <p:sp>
        <p:nvSpPr>
          <p:cNvPr id="16" name="Value proposition text"/>
          <p:cNvSpPr txBox="1"/>
          <p:nvPr/>
        </p:nvSpPr>
        <p:spPr>
          <a:xfrm>
            <a:off x="2496566" y="1601724"/>
            <a:ext cx="9100769" cy="72237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1">
                <a:solidFill>
                  <a:srgbClr val="14233F"/>
                </a:solidFill>
                <a:latin typeface="Georgia"/>
              </a:rPr>
              <a:t>A Pune cold-pressed juice subscription with clear per-juice pricing and a week of choice or planned variety.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561844"/>
            <a:ext cx="3679850" cy="2339339"/>
          </a:xfrm>
          <a:prstGeom prst="roundRect">
            <a:avLst>
              <a:gd name="adj" fmla="val 312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"/>
          <p:cNvSpPr/>
          <p:nvPr/>
        </p:nvSpPr>
        <p:spPr>
          <a:xfrm>
            <a:off x="411480" y="2671572"/>
            <a:ext cx="54864" cy="2119883"/>
          </a:xfrm>
          <a:prstGeom prst="rect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nel heading"/>
          <p:cNvSpPr txBox="1"/>
          <p:nvPr/>
        </p:nvSpPr>
        <p:spPr>
          <a:xfrm>
            <a:off x="576072" y="2634996"/>
            <a:ext cx="340553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4699A"/>
                </a:solidFill>
                <a:latin typeface="Calibri"/>
              </a:rPr>
              <a:t>WHAT THE RESEARCH SHOWS</a:t>
            </a:r>
          </a:p>
        </p:txBody>
      </p:sp>
      <p:sp>
        <p:nvSpPr>
          <p:cNvPr id="20" name="Observed"/>
          <p:cNvSpPr txBox="1"/>
          <p:nvPr/>
        </p:nvSpPr>
        <p:spPr>
          <a:xfrm>
            <a:off x="594360" y="2964180"/>
            <a:ext cx="3359810" cy="184556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iBites: Describes Pune delivery, including Baner, Kothrud, Viman Nagar, Hinjawadi and Pune Camp; offers cold-pressed juices, wellness shots and smoothies pressed after ordering. Its daily subscription is described as…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Juices: Supplied search results describe Pune and PCMC delivery, cold-pressed juices, weekly subscriptions and early-morning delivery. Four testimonials on the company website praise freshness or natural flavor…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5922" y="2561844"/>
            <a:ext cx="3679850" cy="2339339"/>
          </a:xfrm>
          <a:prstGeom prst="roundRect">
            <a:avLst>
              <a:gd name="adj" fmla="val 312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"/>
          <p:cNvSpPr/>
          <p:nvPr/>
        </p:nvSpPr>
        <p:spPr>
          <a:xfrm>
            <a:off x="4255922" y="2671572"/>
            <a:ext cx="54864" cy="2119883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nel heading"/>
          <p:cNvSpPr txBox="1"/>
          <p:nvPr/>
        </p:nvSpPr>
        <p:spPr>
          <a:xfrm>
            <a:off x="4420514" y="2634996"/>
            <a:ext cx="340553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7C7A"/>
                </a:solidFill>
                <a:latin typeface="Calibri"/>
              </a:rPr>
              <a:t>DIFFERENTIATION OPPORTUNITIES</a:t>
            </a:r>
          </a:p>
        </p:txBody>
      </p:sp>
      <p:sp>
        <p:nvSpPr>
          <p:cNvPr id="24" name="Opportunities"/>
          <p:cNvSpPr txBox="1"/>
          <p:nvPr/>
        </p:nvSpPr>
        <p:spPr>
          <a:xfrm>
            <a:off x="4438802" y="2964180"/>
            <a:ext cx="3359810" cy="184556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350" b="0" i="0">
                <a:solidFill>
                  <a:srgbClr val="14233F"/>
                </a:solidFill>
                <a:latin typeface="Calibri"/>
              </a:rPr>
              <a:t>Research-visible opportunity, not a claim of exclusivity: clearly state the per-juice price and pack size.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350" b="0" i="0">
                <a:solidFill>
                  <a:srgbClr val="14233F"/>
                </a:solidFill>
                <a:latin typeface="Calibri"/>
              </a:rPr>
              <a:t>Make weekly choice or rotation terms explicit; iBites' surfaced daily plan describes the same juice each morning.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350" b="0" i="0">
                <a:solidFill>
                  <a:srgbClr val="14233F"/>
                </a:solidFill>
                <a:latin typeface="Calibri"/>
              </a:rPr>
              <a:t>Earth Organic Juices' weekly-plan variety terms are unknown.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0364" y="2561844"/>
            <a:ext cx="3679850" cy="2339339"/>
          </a:xfrm>
          <a:prstGeom prst="roundRect">
            <a:avLst>
              <a:gd name="adj" fmla="val 3127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"/>
          <p:cNvSpPr/>
          <p:nvPr/>
        </p:nvSpPr>
        <p:spPr>
          <a:xfrm>
            <a:off x="8100364" y="2671572"/>
            <a:ext cx="54864" cy="2119883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nel heading"/>
          <p:cNvSpPr txBox="1"/>
          <p:nvPr/>
        </p:nvSpPr>
        <p:spPr>
          <a:xfrm>
            <a:off x="8264956" y="2634996"/>
            <a:ext cx="340553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RECOMMENDED OFFER</a:t>
            </a:r>
          </a:p>
        </p:txBody>
      </p:sp>
      <p:sp>
        <p:nvSpPr>
          <p:cNvPr id="28" name="Recommended offer"/>
          <p:cNvSpPr txBox="1"/>
          <p:nvPr/>
        </p:nvSpPr>
        <p:spPr>
          <a:xfrm>
            <a:off x="8283244" y="2964180"/>
            <a:ext cx="3359810" cy="1845563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14233F"/>
                </a:solidFill>
                <a:latin typeface="Calibri"/>
              </a:rPr>
              <a:t>A seven-day Pune cold-pressed juice subscription with one juice per day, a clearly disclosed per-juice price and pack size, and explicit customer choice or rotation terms. Confirm serviceable delivery areas and…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Why: The recommendation addresses a visible information gap in the supplied research: neither competitor has a verified unit price and pack size in the available evidence, and iBites’ surfaced daily subscription description specifies the…</a:t>
            </a:r>
          </a:p>
        </p:txBody>
      </p:sp>
      <p:sp>
        <p:nvSpPr>
          <p:cNvPr id="29" name="Status card 1"/>
          <p:cNvSpPr/>
          <p:nvPr/>
        </p:nvSpPr>
        <p:spPr>
          <a:xfrm>
            <a:off x="411480" y="5065775"/>
            <a:ext cx="3679850" cy="914400"/>
          </a:xfrm>
          <a:prstGeom prst="roundRect">
            <a:avLst>
              <a:gd name="adj" fmla="val 8000"/>
            </a:avLst>
          </a:prstGeom>
          <a:solidFill>
            <a:srgbClr val="DCEFEC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tus text 1"/>
          <p:cNvSpPr txBox="1"/>
          <p:nvPr/>
        </p:nvSpPr>
        <p:spPr>
          <a:xfrm>
            <a:off x="548640" y="5111495"/>
            <a:ext cx="3405530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VERIFIED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2 of 2 competitors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have public evidence URLs for their offer and channels.</a:t>
            </a:r>
          </a:p>
        </p:txBody>
      </p:sp>
      <p:sp>
        <p:nvSpPr>
          <p:cNvPr id="31" name="Status card 2"/>
          <p:cNvSpPr/>
          <p:nvPr/>
        </p:nvSpPr>
        <p:spPr>
          <a:xfrm>
            <a:off x="4255922" y="5065775"/>
            <a:ext cx="3679850" cy="914400"/>
          </a:xfrm>
          <a:prstGeom prst="roundRect">
            <a:avLst>
              <a:gd name="adj" fmla="val 8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tatus text 2"/>
          <p:cNvSpPr txBox="1"/>
          <p:nvPr/>
        </p:nvSpPr>
        <p:spPr>
          <a:xfrm>
            <a:off x="4393082" y="5111495"/>
            <a:ext cx="3405530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UNVERIFIED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2 competitor price(s)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are unknown or not verified: iBites, Earth Organic Juices.</a:t>
            </a:r>
          </a:p>
        </p:txBody>
      </p:sp>
      <p:sp>
        <p:nvSpPr>
          <p:cNvPr id="33" name="Status card 3"/>
          <p:cNvSpPr/>
          <p:nvPr/>
        </p:nvSpPr>
        <p:spPr>
          <a:xfrm>
            <a:off x="8100364" y="5065775"/>
            <a:ext cx="3679850" cy="914400"/>
          </a:xfrm>
          <a:prstGeom prst="roundRect">
            <a:avLst>
              <a:gd name="adj" fmla="val 8000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atus text 3"/>
          <p:cNvSpPr txBox="1"/>
          <p:nvPr/>
        </p:nvSpPr>
        <p:spPr>
          <a:xfrm>
            <a:off x="8237524" y="5111495"/>
            <a:ext cx="3405530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7B1E3A"/>
                </a:solidFill>
                <a:latin typeface="Calibri"/>
              </a:rPr>
              <a:t>ASSUMPTION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The gap is an inference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drawn from this research; it is not a market size or a claim of exclusivity.</a:t>
            </a:r>
          </a:p>
        </p:txBody>
      </p:sp>
      <p:cxnSp>
        <p:nvCxnSpPr>
          <p:cNvPr id="35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ooter"/>
          <p:cNvSpPr txBox="1"/>
          <p:nvPr/>
        </p:nvSpPr>
        <p:spPr>
          <a:xfrm>
            <a:off x="411480" y="6473952"/>
            <a:ext cx="102714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Solution &amp; Differentiation | Cold-pressed juice subscription, Pune | Partial evidence | run 20261014-201109-cold-pressed-juice-subscriptio-c0fe</a:t>
            </a:r>
          </a:p>
        </p:txBody>
      </p:sp>
      <p:sp>
        <p:nvSpPr>
          <p:cNvPr id="37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201168"/>
            <a:ext cx="3017520" cy="694944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83464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" y="338328"/>
            <a:ext cx="466535" cy="420624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61288" y="228600"/>
            <a:ext cx="2194560" cy="3383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61288" y="57607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29184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703320" y="182880"/>
            <a:ext cx="7315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9C7225"/>
                </a:solidFill>
                <a:latin typeface="Georgia"/>
              </a:rPr>
              <a:t>05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434840" y="182880"/>
            <a:ext cx="52615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B1E3A"/>
                </a:solidFill>
                <a:latin typeface="Georgia"/>
              </a:rPr>
              <a:t>Go-to-Market Strategy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434840" y="640080"/>
            <a:ext cx="52615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A"/>
                </a:solidFill>
                <a:latin typeface="Calibri"/>
              </a:rPr>
              <a:t>Positioning &amp; Price · Cold-pressed juice subscription · Pune</a:t>
            </a:r>
          </a:p>
        </p:txBody>
      </p:sp>
      <p:sp>
        <p:nvSpPr>
          <p:cNvPr id="11" name="Header rule"/>
          <p:cNvSpPr/>
          <p:nvPr/>
        </p:nvSpPr>
        <p:spPr>
          <a:xfrm>
            <a:off x="411480" y="950976"/>
            <a:ext cx="11368735" cy="22860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els"/>
          <p:cNvSpPr/>
          <p:nvPr/>
        </p:nvSpPr>
        <p:spPr>
          <a:xfrm>
            <a:off x="411480" y="1078992"/>
            <a:ext cx="11368735" cy="515112"/>
          </a:xfrm>
          <a:prstGeom prst="roundRect">
            <a:avLst>
              <a:gd name="adj" fmla="val 14201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PARTIAL EVIDENCE: the source report failed acceptance   ·   Recommendation (not a verified market price): ₹699 for a seven-day plan of one juice per day (about ₹100 per juice); proposed price only, with serving size and delivery terms to be specified before sale.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411480" y="6053328"/>
            <a:ext cx="11368735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Strategy: recommendation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703832"/>
            <a:ext cx="3566160" cy="4276344"/>
          </a:xfrm>
          <a:prstGeom prst="roundRect">
            <a:avLst>
              <a:gd name="adj" fmla="val 2051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cent"/>
          <p:cNvSpPr/>
          <p:nvPr/>
        </p:nvSpPr>
        <p:spPr>
          <a:xfrm>
            <a:off x="411480" y="1813560"/>
            <a:ext cx="54864" cy="4056888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 heading"/>
          <p:cNvSpPr txBox="1"/>
          <p:nvPr/>
        </p:nvSpPr>
        <p:spPr>
          <a:xfrm>
            <a:off x="576072" y="1776984"/>
            <a:ext cx="32918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TARGET SEGMENT &amp; POSITIONING</a:t>
            </a:r>
          </a:p>
        </p:txBody>
      </p:sp>
      <p:sp>
        <p:nvSpPr>
          <p:cNvPr id="17" name="Target segment"/>
          <p:cNvSpPr txBox="1"/>
          <p:nvPr/>
        </p:nvSpPr>
        <p:spPr>
          <a:xfrm>
            <a:off x="594360" y="2106168"/>
            <a:ext cx="320040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4233F"/>
                </a:solidFill>
                <a:latin typeface="Georgia"/>
              </a:rPr>
              <a:t>gym-goers aged 20-35</a:t>
            </a:r>
          </a:p>
        </p:txBody>
      </p:sp>
      <p:sp>
        <p:nvSpPr>
          <p:cNvPr id="18" name="Segment city"/>
          <p:cNvSpPr txBox="1"/>
          <p:nvPr/>
        </p:nvSpPr>
        <p:spPr>
          <a:xfrm>
            <a:off x="594360" y="2526792"/>
            <a:ext cx="3200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C7C7A"/>
                </a:solidFill>
                <a:latin typeface="Calibri"/>
              </a:rPr>
              <a:t>in Pune</a:t>
            </a:r>
          </a:p>
        </p:txBody>
      </p:sp>
      <p:sp>
        <p:nvSpPr>
          <p:cNvPr id="19" name="Positioning recommendation tag"/>
          <p:cNvSpPr/>
          <p:nvPr/>
        </p:nvSpPr>
        <p:spPr>
          <a:xfrm>
            <a:off x="594360" y="2910840"/>
            <a:ext cx="1673606" cy="310896"/>
          </a:xfrm>
          <a:prstGeom prst="roundRect">
            <a:avLst>
              <a:gd name="adj" fmla="val 50000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RECOMMENDATION</a:t>
            </a:r>
          </a:p>
        </p:txBody>
      </p:sp>
      <p:sp>
        <p:nvSpPr>
          <p:cNvPr id="20" name="Positioning recommendations"/>
          <p:cNvSpPr txBox="1"/>
          <p:nvPr/>
        </p:nvSpPr>
        <p:spPr>
          <a:xfrm>
            <a:off x="594360" y="3294888"/>
            <a:ext cx="3200400" cy="2575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300" b="0" i="0">
                <a:solidFill>
                  <a:srgbClr val="14233F"/>
                </a:solidFill>
                <a:latin typeface="Calibri"/>
              </a:rPr>
              <a:t>Recommendation: “A Pune cold-pressed juice subscription with clear per-juice pricing and a week of choice or planned variety.”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300" b="0" i="0">
                <a:solidFill>
                  <a:srgbClr val="14233F"/>
                </a:solidFill>
                <a:latin typeface="Calibri"/>
              </a:rPr>
              <a:t>Recommended price: ₹699 for a seven-day plan of one juice per day (about ₹100 per juice); this is a recommendation, not a verified price.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300" b="0" i="0">
                <a:solidFill>
                  <a:srgbClr val="14233F"/>
                </a:solidFill>
                <a:latin typeface="Calibri"/>
              </a:rPr>
              <a:t>Specify serving size and delivery terms before sale; confirm serviceable areas before advertising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42231" y="1703832"/>
            <a:ext cx="3931920" cy="4276344"/>
          </a:xfrm>
          <a:prstGeom prst="roundRect">
            <a:avLst>
              <a:gd name="adj" fmla="val 1860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"/>
          <p:cNvSpPr/>
          <p:nvPr/>
        </p:nvSpPr>
        <p:spPr>
          <a:xfrm>
            <a:off x="4142231" y="1813560"/>
            <a:ext cx="54864" cy="4056888"/>
          </a:xfrm>
          <a:prstGeom prst="rect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nel heading"/>
          <p:cNvSpPr txBox="1"/>
          <p:nvPr/>
        </p:nvSpPr>
        <p:spPr>
          <a:xfrm>
            <a:off x="4306823" y="1776984"/>
            <a:ext cx="36576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4699A"/>
                </a:solidFill>
                <a:latin typeface="Calibri"/>
              </a:rPr>
              <a:t>CHANNELS OBSERVED IN THE MARKET</a:t>
            </a:r>
          </a:p>
        </p:txBody>
      </p:sp>
      <p:sp>
        <p:nvSpPr>
          <p:cNvPr id="24" name="Channel: Website ordering/menu"/>
          <p:cNvSpPr/>
          <p:nvPr/>
        </p:nvSpPr>
        <p:spPr>
          <a:xfrm>
            <a:off x="4325112" y="2106168"/>
            <a:ext cx="3566160" cy="493776"/>
          </a:xfrm>
          <a:prstGeom prst="roundRect">
            <a:avLst>
              <a:gd name="adj" fmla="val 14814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nnel text: Website ordering/menu"/>
          <p:cNvSpPr txBox="1"/>
          <p:nvPr/>
        </p:nvSpPr>
        <p:spPr>
          <a:xfrm>
            <a:off x="4416551" y="2124456"/>
            <a:ext cx="338327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Website ordering/menu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Seen at iBites</a:t>
            </a:r>
          </a:p>
        </p:txBody>
      </p:sp>
      <p:sp>
        <p:nvSpPr>
          <p:cNvPr id="26" name="Channel: WhatsApp ordering"/>
          <p:cNvSpPr/>
          <p:nvPr/>
        </p:nvSpPr>
        <p:spPr>
          <a:xfrm>
            <a:off x="4325112" y="2673096"/>
            <a:ext cx="3566160" cy="493776"/>
          </a:xfrm>
          <a:prstGeom prst="roundRect">
            <a:avLst>
              <a:gd name="adj" fmla="val 14814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nnel text: WhatsApp ordering"/>
          <p:cNvSpPr txBox="1"/>
          <p:nvPr/>
        </p:nvSpPr>
        <p:spPr>
          <a:xfrm>
            <a:off x="4416551" y="2691384"/>
            <a:ext cx="338327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WhatsApp ordering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Seen at iBites</a:t>
            </a:r>
          </a:p>
        </p:txBody>
      </p:sp>
      <p:sp>
        <p:nvSpPr>
          <p:cNvPr id="28" name="Channel: Instagram"/>
          <p:cNvSpPr/>
          <p:nvPr/>
        </p:nvSpPr>
        <p:spPr>
          <a:xfrm>
            <a:off x="4325112" y="3240024"/>
            <a:ext cx="3566160" cy="493776"/>
          </a:xfrm>
          <a:prstGeom prst="roundRect">
            <a:avLst>
              <a:gd name="adj" fmla="val 14814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nnel text: Instagram"/>
          <p:cNvSpPr txBox="1"/>
          <p:nvPr/>
        </p:nvSpPr>
        <p:spPr>
          <a:xfrm>
            <a:off x="4416551" y="3258312"/>
            <a:ext cx="338327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Instagram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Seen at Earth Organic Juices</a:t>
            </a:r>
          </a:p>
        </p:txBody>
      </p:sp>
      <p:sp>
        <p:nvSpPr>
          <p:cNvPr id="30" name="Channel: WhatsApp (advertised in search result)"/>
          <p:cNvSpPr/>
          <p:nvPr/>
        </p:nvSpPr>
        <p:spPr>
          <a:xfrm>
            <a:off x="4325112" y="3806952"/>
            <a:ext cx="3566160" cy="493776"/>
          </a:xfrm>
          <a:prstGeom prst="roundRect">
            <a:avLst>
              <a:gd name="adj" fmla="val 14814"/>
            </a:avLst>
          </a:prstGeom>
          <a:solidFill>
            <a:srgbClr val="DDE9F3"/>
          </a:solidFill>
          <a:ln w="12700">
            <a:solidFill>
              <a:srgbClr val="346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nnel text: WhatsApp (advertised in search result)"/>
          <p:cNvSpPr txBox="1"/>
          <p:nvPr/>
        </p:nvSpPr>
        <p:spPr>
          <a:xfrm>
            <a:off x="4416551" y="3825240"/>
            <a:ext cx="338327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233F"/>
                </a:solidFill>
                <a:latin typeface="Calibri"/>
              </a:rPr>
              <a:t>WhatsApp (advertised in search result)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Seen at Earth Organic Juices</a:t>
            </a:r>
          </a:p>
        </p:txBody>
      </p:sp>
      <p:sp>
        <p:nvSpPr>
          <p:cNvPr id="32" name="Channel caveat"/>
          <p:cNvSpPr txBox="1"/>
          <p:nvPr/>
        </p:nvSpPr>
        <p:spPr>
          <a:xfrm>
            <a:off x="4325112" y="4410456"/>
            <a:ext cx="3566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677A"/>
                </a:solidFill>
                <a:latin typeface="Calibri"/>
              </a:rPr>
              <a:t>Observed among the researched competitors; not a verified channel plan.</a:t>
            </a:r>
          </a:p>
        </p:txBody>
      </p:sp>
      <p:sp>
        <p:nvSpPr>
          <p:cNvPr id="33" name="Prerequisites heading"/>
          <p:cNvSpPr txBox="1"/>
          <p:nvPr/>
        </p:nvSpPr>
        <p:spPr>
          <a:xfrm>
            <a:off x="4325112" y="4922520"/>
            <a:ext cx="35661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B677A"/>
                </a:solidFill>
                <a:latin typeface="Calibri"/>
              </a:rPr>
              <a:t>LAUNCH PREREQUISITES</a:t>
            </a:r>
          </a:p>
        </p:txBody>
      </p:sp>
      <p:sp>
        <p:nvSpPr>
          <p:cNvPr id="34" name="Prerequisites"/>
          <p:cNvSpPr txBox="1"/>
          <p:nvPr/>
        </p:nvSpPr>
        <p:spPr>
          <a:xfrm>
            <a:off x="4325112" y="5178552"/>
            <a:ext cx="3566160" cy="69189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250" b="0" i="0">
                <a:solidFill>
                  <a:srgbClr val="14233F"/>
                </a:solidFill>
                <a:latin typeface="Calibri"/>
              </a:rPr>
              <a:t>Confirm serviceable delivery areas and operational details before advertising them.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38743" y="1703832"/>
            <a:ext cx="3541471" cy="4276344"/>
          </a:xfrm>
          <a:prstGeom prst="roundRect">
            <a:avLst>
              <a:gd name="adj" fmla="val 2065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"/>
          <p:cNvSpPr/>
          <p:nvPr/>
        </p:nvSpPr>
        <p:spPr>
          <a:xfrm>
            <a:off x="8238743" y="1813560"/>
            <a:ext cx="54864" cy="4056888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anel heading"/>
          <p:cNvSpPr txBox="1"/>
          <p:nvPr/>
        </p:nvSpPr>
        <p:spPr>
          <a:xfrm>
            <a:off x="8403335" y="1776984"/>
            <a:ext cx="326715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7C7A"/>
                </a:solidFill>
                <a:latin typeface="Calibri"/>
              </a:rPr>
              <a:t>LAUNCH PHASES (RECOMMENDED ACTIONS)</a:t>
            </a:r>
          </a:p>
        </p:txBody>
      </p:sp>
      <p:sp>
        <p:nvSpPr>
          <p:cNvPr id="38" name="Phase badge 1"/>
          <p:cNvSpPr/>
          <p:nvPr/>
        </p:nvSpPr>
        <p:spPr>
          <a:xfrm>
            <a:off x="8421623" y="2142744"/>
            <a:ext cx="365760" cy="36576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9" name="Phase 1"/>
          <p:cNvSpPr txBox="1"/>
          <p:nvPr/>
        </p:nvSpPr>
        <p:spPr>
          <a:xfrm>
            <a:off x="8897111" y="2106168"/>
            <a:ext cx="2718511" cy="89077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1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Confirm feasibility, service areas, serving size and delivery terms</a:t>
            </a:r>
          </a:p>
        </p:txBody>
      </p:sp>
      <p:cxnSp>
        <p:nvCxnSpPr>
          <p:cNvPr id="40" name="Phase link 1"/>
          <p:cNvCxnSpPr/>
          <p:nvPr/>
        </p:nvCxnSpPr>
        <p:spPr>
          <a:xfrm>
            <a:off x="8604503" y="2526792"/>
            <a:ext cx="0" cy="543306"/>
          </a:xfrm>
          <a:prstGeom prst="line">
            <a:avLst/>
          </a:prstGeom>
          <a:ln w="19050">
            <a:solidFill>
              <a:srgbClr val="1C7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Phase badge 2"/>
          <p:cNvSpPr/>
          <p:nvPr/>
        </p:nvSpPr>
        <p:spPr>
          <a:xfrm>
            <a:off x="8421623" y="3088386"/>
            <a:ext cx="365760" cy="36576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2" name="Phase 2"/>
          <p:cNvSpPr txBox="1"/>
          <p:nvPr/>
        </p:nvSpPr>
        <p:spPr>
          <a:xfrm>
            <a:off x="8897111" y="3051810"/>
            <a:ext cx="2718511" cy="89077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2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Prepare an offer page with price, serving size, schedule, choice/rotation and service area</a:t>
            </a:r>
          </a:p>
        </p:txBody>
      </p:sp>
      <p:cxnSp>
        <p:nvCxnSpPr>
          <p:cNvPr id="43" name="Phase link 2"/>
          <p:cNvCxnSpPr/>
          <p:nvPr/>
        </p:nvCxnSpPr>
        <p:spPr>
          <a:xfrm>
            <a:off x="8604503" y="3472434"/>
            <a:ext cx="0" cy="543306"/>
          </a:xfrm>
          <a:prstGeom prst="line">
            <a:avLst/>
          </a:prstGeom>
          <a:ln w="19050">
            <a:solidFill>
              <a:srgbClr val="1C7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hase badge 3"/>
          <p:cNvSpPr/>
          <p:nvPr/>
        </p:nvSpPr>
        <p:spPr>
          <a:xfrm>
            <a:off x="8421623" y="4034028"/>
            <a:ext cx="365760" cy="36576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Phase 3"/>
          <p:cNvSpPr txBox="1"/>
          <p:nvPr/>
        </p:nvSpPr>
        <p:spPr>
          <a:xfrm>
            <a:off x="8897111" y="3997452"/>
            <a:ext cx="2718511" cy="89077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3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Run a limited pilot with consenting customers in confirmed areas</a:t>
            </a:r>
          </a:p>
        </p:txBody>
      </p:sp>
      <p:cxnSp>
        <p:nvCxnSpPr>
          <p:cNvPr id="46" name="Phase link 3"/>
          <p:cNvCxnSpPr/>
          <p:nvPr/>
        </p:nvCxnSpPr>
        <p:spPr>
          <a:xfrm>
            <a:off x="8604503" y="4418076"/>
            <a:ext cx="0" cy="543306"/>
          </a:xfrm>
          <a:prstGeom prst="line">
            <a:avLst/>
          </a:prstGeom>
          <a:ln w="19050">
            <a:solidFill>
              <a:srgbClr val="1C7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Phase badge 4"/>
          <p:cNvSpPr/>
          <p:nvPr/>
        </p:nvSpPr>
        <p:spPr>
          <a:xfrm>
            <a:off x="8421623" y="4979670"/>
            <a:ext cx="365760" cy="365760"/>
          </a:xfrm>
          <a:prstGeom prst="ellipse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8" name="Phase 4"/>
          <p:cNvSpPr txBox="1"/>
          <p:nvPr/>
        </p:nvSpPr>
        <p:spPr>
          <a:xfrm>
            <a:off x="8897111" y="4943094"/>
            <a:ext cx="2718511" cy="89077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4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4233F"/>
                </a:solidFill>
                <a:latin typeface="Calibri"/>
              </a:rPr>
              <a:t>Review pilot and test-price response</a:t>
            </a:r>
          </a:p>
        </p:txBody>
      </p:sp>
      <p:cxnSp>
        <p:nvCxnSpPr>
          <p:cNvPr id="49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ooter"/>
          <p:cNvSpPr txBox="1"/>
          <p:nvPr/>
        </p:nvSpPr>
        <p:spPr>
          <a:xfrm>
            <a:off x="411480" y="6473952"/>
            <a:ext cx="102714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Go-to-Market Strategy | Cold-pressed juice subscription, Pune | Partial evidence | run 20261014-201109-cold-pressed-juice-subscriptio-c0fe</a:t>
            </a:r>
          </a:p>
        </p:txBody>
      </p:sp>
      <p:sp>
        <p:nvSpPr>
          <p:cNvPr id="51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 block"/>
          <p:cNvSpPr/>
          <p:nvPr/>
        </p:nvSpPr>
        <p:spPr>
          <a:xfrm>
            <a:off x="411480" y="201168"/>
            <a:ext cx="3017520" cy="694944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S logo tile"/>
          <p:cNvSpPr/>
          <p:nvPr/>
        </p:nvSpPr>
        <p:spPr>
          <a:xfrm>
            <a:off x="502920" y="283464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828" y="338328"/>
            <a:ext cx="466535" cy="420624"/>
          </a:xfrm>
          <a:prstGeom prst="rect">
            <a:avLst/>
          </a:prstGeom>
        </p:spPr>
      </p:pic>
      <p:sp>
        <p:nvSpPr>
          <p:cNvPr id="5" name="Brand name"/>
          <p:cNvSpPr txBox="1"/>
          <p:nvPr/>
        </p:nvSpPr>
        <p:spPr>
          <a:xfrm>
            <a:off x="1161288" y="228600"/>
            <a:ext cx="2194560" cy="3383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LaunchScout</a:t>
            </a:r>
          </a:p>
        </p:txBody>
      </p:sp>
      <p:sp>
        <p:nvSpPr>
          <p:cNvPr id="6" name="Brand tagline"/>
          <p:cNvSpPr txBox="1"/>
          <p:nvPr/>
        </p:nvSpPr>
        <p:spPr>
          <a:xfrm>
            <a:off x="1161288" y="576072"/>
            <a:ext cx="21945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D6CF"/>
                </a:solidFill>
                <a:latin typeface="Calibri"/>
              </a:rPr>
              <a:t>Competitor Research Crew</a:t>
            </a:r>
          </a:p>
        </p:txBody>
      </p:sp>
      <p:sp>
        <p:nvSpPr>
          <p:cNvPr id="7" name="Evidence status"/>
          <p:cNvSpPr/>
          <p:nvPr/>
        </p:nvSpPr>
        <p:spPr>
          <a:xfrm>
            <a:off x="9924999" y="329184"/>
            <a:ext cx="1855216" cy="310896"/>
          </a:xfrm>
          <a:prstGeom prst="roundRect">
            <a:avLst>
              <a:gd name="adj" fmla="val 50000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PARTIAL EVIDENCE</a:t>
            </a:r>
          </a:p>
        </p:txBody>
      </p:sp>
      <p:sp>
        <p:nvSpPr>
          <p:cNvPr id="8" name="Slide index"/>
          <p:cNvSpPr txBox="1"/>
          <p:nvPr/>
        </p:nvSpPr>
        <p:spPr>
          <a:xfrm>
            <a:off x="3703320" y="182880"/>
            <a:ext cx="7315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9C7225"/>
                </a:solidFill>
                <a:latin typeface="Georgia"/>
              </a:rPr>
              <a:t>06</a:t>
            </a:r>
          </a:p>
        </p:txBody>
      </p:sp>
      <p:sp>
        <p:nvSpPr>
          <p:cNvPr id="9" name="Title"/>
          <p:cNvSpPr txBox="1"/>
          <p:nvPr/>
        </p:nvSpPr>
        <p:spPr>
          <a:xfrm>
            <a:off x="4434840" y="182880"/>
            <a:ext cx="52615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B1E3A"/>
                </a:solidFill>
                <a:latin typeface="Georgia"/>
              </a:rPr>
              <a:t>Financials &amp; Roadmap</a:t>
            </a:r>
          </a:p>
        </p:txBody>
      </p:sp>
      <p:sp>
        <p:nvSpPr>
          <p:cNvPr id="10" name="Subtitle"/>
          <p:cNvSpPr txBox="1"/>
          <p:nvPr/>
        </p:nvSpPr>
        <p:spPr>
          <a:xfrm>
            <a:off x="4434840" y="640080"/>
            <a:ext cx="5261559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77A"/>
                </a:solidFill>
                <a:latin typeface="Calibri"/>
              </a:rPr>
              <a:t>30-Day Launch Plan · Cold-pressed juice subscription · Pune</a:t>
            </a:r>
          </a:p>
        </p:txBody>
      </p:sp>
      <p:sp>
        <p:nvSpPr>
          <p:cNvPr id="11" name="Header rule"/>
          <p:cNvSpPr/>
          <p:nvPr/>
        </p:nvSpPr>
        <p:spPr>
          <a:xfrm>
            <a:off x="411480" y="950976"/>
            <a:ext cx="11368735" cy="22860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els"/>
          <p:cNvSpPr/>
          <p:nvPr/>
        </p:nvSpPr>
        <p:spPr>
          <a:xfrm>
            <a:off x="411480" y="1078992"/>
            <a:ext cx="11368735" cy="339852"/>
          </a:xfrm>
          <a:prstGeom prst="roundRect">
            <a:avLst>
              <a:gd name="adj" fmla="val 21524"/>
            </a:avLst>
          </a:prstGeom>
          <a:solidFill>
            <a:srgbClr val="F3E3E7"/>
          </a:solidFill>
          <a:ln w="12700">
            <a:solidFill>
              <a:srgbClr val="7B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PARTIAL EVIDENCE: the source report failed acceptance   ·   Recommended actions, not completed or verified facts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411480" y="6053328"/>
            <a:ext cx="11368735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77A"/>
                </a:solidFill>
                <a:latin typeface="Calibri"/>
              </a:rPr>
              <a:t>Sources: Report: launch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528572"/>
            <a:ext cx="3291840" cy="2670962"/>
          </a:xfrm>
          <a:prstGeom prst="roundRect">
            <a:avLst>
              <a:gd name="adj" fmla="val 273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cent"/>
          <p:cNvSpPr/>
          <p:nvPr/>
        </p:nvSpPr>
        <p:spPr>
          <a:xfrm>
            <a:off x="411480" y="1638300"/>
            <a:ext cx="54864" cy="2451506"/>
          </a:xfrm>
          <a:prstGeom prst="rect">
            <a:avLst/>
          </a:prstGeom>
          <a:solidFill>
            <a:srgbClr val="7B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 heading"/>
          <p:cNvSpPr txBox="1"/>
          <p:nvPr/>
        </p:nvSpPr>
        <p:spPr>
          <a:xfrm>
            <a:off x="576072" y="1601724"/>
            <a:ext cx="30175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B1E3A"/>
                </a:solidFill>
                <a:latin typeface="Calibri"/>
              </a:rPr>
              <a:t>RECOMMENDED TEST PRICE</a:t>
            </a:r>
          </a:p>
        </p:txBody>
      </p:sp>
      <p:sp>
        <p:nvSpPr>
          <p:cNvPr id="17" name="Price value"/>
          <p:cNvSpPr txBox="1"/>
          <p:nvPr/>
        </p:nvSpPr>
        <p:spPr>
          <a:xfrm>
            <a:off x="594360" y="1930908"/>
            <a:ext cx="292608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7B1E3A"/>
                </a:solidFill>
                <a:latin typeface="Georgia"/>
              </a:rPr>
              <a:t>₹699</a:t>
            </a:r>
          </a:p>
        </p:txBody>
      </p:sp>
      <p:sp>
        <p:nvSpPr>
          <p:cNvPr id="18" name="Price detail"/>
          <p:cNvSpPr txBox="1"/>
          <p:nvPr/>
        </p:nvSpPr>
        <p:spPr>
          <a:xfrm>
            <a:off x="594360" y="2607564"/>
            <a:ext cx="2926080" cy="94274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4233F"/>
                </a:solidFill>
                <a:latin typeface="Calibri"/>
              </a:rPr>
              <a:t>Seven-day plan of one juice per day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B677A"/>
                </a:solidFill>
                <a:latin typeface="Calibri"/>
              </a:rPr>
              <a:t>About ₹100 per juice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77A"/>
                </a:solidFill>
                <a:latin typeface="Calibri"/>
              </a:rPr>
              <a:t>Proposed price only, with serving size and delivery terms to be specified before sale.</a:t>
            </a:r>
          </a:p>
        </p:txBody>
      </p:sp>
      <p:sp>
        <p:nvSpPr>
          <p:cNvPr id="19" name="Price warning"/>
          <p:cNvSpPr/>
          <p:nvPr/>
        </p:nvSpPr>
        <p:spPr>
          <a:xfrm>
            <a:off x="594360" y="3605174"/>
            <a:ext cx="2926080" cy="484632"/>
          </a:xfrm>
          <a:prstGeom prst="roundRect">
            <a:avLst>
              <a:gd name="adj" fmla="val 15094"/>
            </a:avLst>
          </a:prstGeom>
          <a:solidFill>
            <a:srgbClr val="F5ECD3"/>
          </a:solidFill>
          <a:ln w="12700">
            <a:solidFill>
              <a:srgbClr val="9C72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C7225"/>
                </a:solidFill>
                <a:latin typeface="Calibri"/>
              </a:rPr>
              <a:t>RECOMMENDATION — NOT A VERIFIED MARKET PRICE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67911" y="1528572"/>
            <a:ext cx="4754880" cy="2670962"/>
          </a:xfrm>
          <a:prstGeom prst="roundRect">
            <a:avLst>
              <a:gd name="adj" fmla="val 273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ccent"/>
          <p:cNvSpPr/>
          <p:nvPr/>
        </p:nvSpPr>
        <p:spPr>
          <a:xfrm>
            <a:off x="3867911" y="1638300"/>
            <a:ext cx="54864" cy="2451506"/>
          </a:xfrm>
          <a:prstGeom prst="rect">
            <a:avLst/>
          </a:prstGeom>
          <a:solidFill>
            <a:srgbClr val="9C72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nel heading"/>
          <p:cNvSpPr txBox="1"/>
          <p:nvPr/>
        </p:nvSpPr>
        <p:spPr>
          <a:xfrm>
            <a:off x="4032503" y="1601724"/>
            <a:ext cx="44805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9C7225"/>
                </a:solidFill>
                <a:latin typeface="Calibri"/>
              </a:rPr>
              <a:t>ASSUMPTIONS &amp; UNKNOWNS</a:t>
            </a:r>
          </a:p>
        </p:txBody>
      </p:sp>
      <p:sp>
        <p:nvSpPr>
          <p:cNvPr id="23" name="Assumptions and unknowns"/>
          <p:cNvSpPr txBox="1"/>
          <p:nvPr/>
        </p:nvSpPr>
        <p:spPr>
          <a:xfrm>
            <a:off x="4050791" y="1930908"/>
            <a:ext cx="4434840" cy="217718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UNVERIFIED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iBites: price not verified (A price is mentioned on the…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 Organic Juices: price not verified (A search-result snippet…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9C7225"/>
                </a:solidFill>
                <a:latin typeface="Calibri"/>
              </a:rPr>
              <a:t>ASSUMPTIONS (FROM THE REPORT'S RATIONALE)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The recommendation addresses a visible information gap in the supplied…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Earth’s weekly-plan variety terms are unknown, so the proposed choice…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00" b="0" i="0">
                <a:solidFill>
                  <a:srgbClr val="14233F"/>
                </a:solidFill>
                <a:latin typeface="Calibri"/>
              </a:rPr>
              <a:t>₹699 is a proposed test price, not a researched market price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87384" y="1528572"/>
            <a:ext cx="2992831" cy="2670962"/>
          </a:xfrm>
          <a:prstGeom prst="roundRect">
            <a:avLst>
              <a:gd name="adj" fmla="val 2738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cent"/>
          <p:cNvSpPr/>
          <p:nvPr/>
        </p:nvSpPr>
        <p:spPr>
          <a:xfrm>
            <a:off x="8787384" y="1638300"/>
            <a:ext cx="54864" cy="2451506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anel heading"/>
          <p:cNvSpPr txBox="1"/>
          <p:nvPr/>
        </p:nvSpPr>
        <p:spPr>
          <a:xfrm>
            <a:off x="8951976" y="1601724"/>
            <a:ext cx="271851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7C7A"/>
                </a:solidFill>
                <a:latin typeface="Calibri"/>
              </a:rPr>
              <a:t>NEXT STEPS &amp; PRIORITIES</a:t>
            </a:r>
          </a:p>
        </p:txBody>
      </p:sp>
      <p:sp>
        <p:nvSpPr>
          <p:cNvPr id="27" name="Next steps"/>
          <p:cNvSpPr txBox="1"/>
          <p:nvPr/>
        </p:nvSpPr>
        <p:spPr>
          <a:xfrm>
            <a:off x="8970263" y="1930908"/>
            <a:ext cx="2672791" cy="217718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Start: Confirm feasibility, service areas, serving size and delivery terms; decide choice or rotation; validate the proposed ₹699 test price.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Close gap: only 2 competitor(s) have a name, URL and evidence URL (3 required)</a:t>
            </a:r>
          </a:p>
          <a:p>
            <a:pPr algn="l" marL="203200" indent="-203200">
              <a:spcAft>
                <a:spcPts val="400"/>
              </a:spcAft>
              <a:buChar char="•"/>
            </a:pPr>
            <a:r>
              <a:rPr sz="1150" b="0" i="0">
                <a:solidFill>
                  <a:srgbClr val="14233F"/>
                </a:solidFill>
                <a:latin typeface="Calibri"/>
              </a:rPr>
              <a:t>Close gap: only 0 competitor(s) have a verified price with evidence (3 required)</a:t>
            </a:r>
          </a:p>
        </p:txBody>
      </p:sp>
      <p:sp>
        <p:nvSpPr>
          <p:cNvPr id="28" name="Roadmap heading"/>
          <p:cNvSpPr txBox="1"/>
          <p:nvPr/>
        </p:nvSpPr>
        <p:spPr>
          <a:xfrm>
            <a:off x="411480" y="4364126"/>
            <a:ext cx="1136873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30-DAY ROADMAP · RECOMMENDED ACTIONS, NOT COMPLETED OR VERIFIED FACTS</a:t>
            </a:r>
          </a:p>
        </p:txBody>
      </p:sp>
      <p:sp>
        <p:nvSpPr>
          <p:cNvPr id="29" name="Milestone 1"/>
          <p:cNvSpPr/>
          <p:nvPr/>
        </p:nvSpPr>
        <p:spPr>
          <a:xfrm>
            <a:off x="411480" y="4675022"/>
            <a:ext cx="2718739" cy="1305153"/>
          </a:xfrm>
          <a:prstGeom prst="roundRect">
            <a:avLst>
              <a:gd name="adj" fmla="val 5604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"/>
          <p:cNvSpPr/>
          <p:nvPr/>
        </p:nvSpPr>
        <p:spPr>
          <a:xfrm>
            <a:off x="411480" y="4675022"/>
            <a:ext cx="2718739" cy="64008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ilestone tag 1"/>
          <p:cNvSpPr/>
          <p:nvPr/>
        </p:nvSpPr>
        <p:spPr>
          <a:xfrm>
            <a:off x="548640" y="4821326"/>
            <a:ext cx="922401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1</a:t>
            </a:r>
          </a:p>
        </p:txBody>
      </p:sp>
      <p:sp>
        <p:nvSpPr>
          <p:cNvPr id="32" name="Milestone text 1"/>
          <p:cNvSpPr txBox="1"/>
          <p:nvPr/>
        </p:nvSpPr>
        <p:spPr>
          <a:xfrm>
            <a:off x="548640" y="5187086"/>
            <a:ext cx="2444419" cy="71993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Confirm feasibility, service areas, serving size and delivery terms; decide choice or rotation; validate the proposed ₹699 test price.</a:t>
            </a:r>
          </a:p>
        </p:txBody>
      </p:sp>
      <p:cxnSp>
        <p:nvCxnSpPr>
          <p:cNvPr id="33" name="Timeline link 1"/>
          <p:cNvCxnSpPr/>
          <p:nvPr/>
        </p:nvCxnSpPr>
        <p:spPr>
          <a:xfrm>
            <a:off x="3130219" y="5327599"/>
            <a:ext cx="164592" cy="0"/>
          </a:xfrm>
          <a:prstGeom prst="line">
            <a:avLst/>
          </a:prstGeom>
          <a:ln w="25400">
            <a:solidFill>
              <a:srgbClr val="1C7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ilestone 2"/>
          <p:cNvSpPr/>
          <p:nvPr/>
        </p:nvSpPr>
        <p:spPr>
          <a:xfrm>
            <a:off x="3294811" y="4675022"/>
            <a:ext cx="2718739" cy="1305153"/>
          </a:xfrm>
          <a:prstGeom prst="roundRect">
            <a:avLst>
              <a:gd name="adj" fmla="val 5604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ccent"/>
          <p:cNvSpPr/>
          <p:nvPr/>
        </p:nvSpPr>
        <p:spPr>
          <a:xfrm>
            <a:off x="3294811" y="4675022"/>
            <a:ext cx="2718739" cy="64008"/>
          </a:xfrm>
          <a:prstGeom prst="rect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ilestone tag 2"/>
          <p:cNvSpPr/>
          <p:nvPr/>
        </p:nvSpPr>
        <p:spPr>
          <a:xfrm>
            <a:off x="3431971" y="4821326"/>
            <a:ext cx="922401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2</a:t>
            </a:r>
          </a:p>
        </p:txBody>
      </p:sp>
      <p:sp>
        <p:nvSpPr>
          <p:cNvPr id="37" name="Milestone text 2"/>
          <p:cNvSpPr txBox="1"/>
          <p:nvPr/>
        </p:nvSpPr>
        <p:spPr>
          <a:xfrm>
            <a:off x="3431971" y="5187086"/>
            <a:ext cx="2444419" cy="71993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Prepare an offer page with price, serving size, schedule, choice/rotation and service area; invite a small test group…</a:t>
            </a:r>
          </a:p>
        </p:txBody>
      </p:sp>
      <p:cxnSp>
        <p:nvCxnSpPr>
          <p:cNvPr id="38" name="Timeline link 2"/>
          <p:cNvCxnSpPr/>
          <p:nvPr/>
        </p:nvCxnSpPr>
        <p:spPr>
          <a:xfrm>
            <a:off x="6013551" y="5327599"/>
            <a:ext cx="164592" cy="0"/>
          </a:xfrm>
          <a:prstGeom prst="line">
            <a:avLst/>
          </a:prstGeom>
          <a:ln w="25400">
            <a:solidFill>
              <a:srgbClr val="1C7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Milestone 3"/>
          <p:cNvSpPr/>
          <p:nvPr/>
        </p:nvSpPr>
        <p:spPr>
          <a:xfrm>
            <a:off x="6178143" y="4675022"/>
            <a:ext cx="2718739" cy="1305153"/>
          </a:xfrm>
          <a:prstGeom prst="roundRect">
            <a:avLst>
              <a:gd name="adj" fmla="val 5604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ccent"/>
          <p:cNvSpPr/>
          <p:nvPr/>
        </p:nvSpPr>
        <p:spPr>
          <a:xfrm>
            <a:off x="6178143" y="4675022"/>
            <a:ext cx="2718739" cy="64008"/>
          </a:xfrm>
          <a:prstGeom prst="rect">
            <a:avLst/>
          </a:prstGeom>
          <a:solidFill>
            <a:srgbClr val="1C7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ilestone tag 3"/>
          <p:cNvSpPr/>
          <p:nvPr/>
        </p:nvSpPr>
        <p:spPr>
          <a:xfrm>
            <a:off x="6315303" y="4821326"/>
            <a:ext cx="922401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3</a:t>
            </a:r>
          </a:p>
        </p:txBody>
      </p:sp>
      <p:sp>
        <p:nvSpPr>
          <p:cNvPr id="42" name="Milestone text 3"/>
          <p:cNvSpPr txBox="1"/>
          <p:nvPr/>
        </p:nvSpPr>
        <p:spPr>
          <a:xfrm>
            <a:off x="6315303" y="5187086"/>
            <a:ext cx="2444419" cy="71993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Run a limited pilot with consenting customers in confirmed areas; track orders, repeat intent, delivery reliability and reported feedback.</a:t>
            </a:r>
          </a:p>
        </p:txBody>
      </p:sp>
      <p:cxnSp>
        <p:nvCxnSpPr>
          <p:cNvPr id="43" name="Timeline link 3"/>
          <p:cNvCxnSpPr/>
          <p:nvPr/>
        </p:nvCxnSpPr>
        <p:spPr>
          <a:xfrm>
            <a:off x="8896883" y="5327599"/>
            <a:ext cx="164592" cy="0"/>
          </a:xfrm>
          <a:prstGeom prst="line">
            <a:avLst/>
          </a:prstGeom>
          <a:ln w="25400">
            <a:solidFill>
              <a:srgbClr val="1C7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Milestone 4"/>
          <p:cNvSpPr/>
          <p:nvPr/>
        </p:nvSpPr>
        <p:spPr>
          <a:xfrm>
            <a:off x="9061475" y="4675022"/>
            <a:ext cx="2718739" cy="1305153"/>
          </a:xfrm>
          <a:prstGeom prst="roundRect">
            <a:avLst>
              <a:gd name="adj" fmla="val 5604"/>
            </a:avLst>
          </a:prstGeom>
          <a:solidFill>
            <a:srgbClr val="FFFDF8"/>
          </a:solidFill>
          <a:ln w="12700">
            <a:solidFill>
              <a:srgbClr val="E0D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ccent"/>
          <p:cNvSpPr/>
          <p:nvPr/>
        </p:nvSpPr>
        <p:spPr>
          <a:xfrm>
            <a:off x="9061475" y="4675022"/>
            <a:ext cx="2718739" cy="64008"/>
          </a:xfrm>
          <a:prstGeom prst="rect">
            <a:avLst/>
          </a:prstGeom>
          <a:solidFill>
            <a:srgbClr val="346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ilestone tag 4"/>
          <p:cNvSpPr/>
          <p:nvPr/>
        </p:nvSpPr>
        <p:spPr>
          <a:xfrm>
            <a:off x="9198635" y="4821326"/>
            <a:ext cx="922401" cy="292608"/>
          </a:xfrm>
          <a:prstGeom prst="roundRect">
            <a:avLst>
              <a:gd name="adj" fmla="val 50000"/>
            </a:avLst>
          </a:prstGeom>
          <a:solidFill>
            <a:srgbClr val="DCEFEC"/>
          </a:solidFill>
          <a:ln w="12700">
            <a:solidFill>
              <a:srgbClr val="1C7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C7C7A"/>
                </a:solidFill>
                <a:latin typeface="Calibri"/>
              </a:rPr>
              <a:t>WEEK 4</a:t>
            </a:r>
          </a:p>
        </p:txBody>
      </p:sp>
      <p:sp>
        <p:nvSpPr>
          <p:cNvPr id="47" name="Milestone text 4"/>
          <p:cNvSpPr txBox="1"/>
          <p:nvPr/>
        </p:nvSpPr>
        <p:spPr>
          <a:xfrm>
            <a:off x="9198635" y="5187086"/>
            <a:ext cx="2444419" cy="71993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233F"/>
                </a:solidFill>
                <a:latin typeface="Calibri"/>
              </a:rPr>
              <a:t>Review pilot and test-price response; revise the offer based on results and feasibility; expand promotion only where coverage…</a:t>
            </a:r>
          </a:p>
        </p:txBody>
      </p:sp>
      <p:cxnSp>
        <p:nvCxnSpPr>
          <p:cNvPr id="48" name="Footer rule"/>
          <p:cNvCxnSpPr/>
          <p:nvPr/>
        </p:nvCxnSpPr>
        <p:spPr>
          <a:xfrm>
            <a:off x="411480" y="6437376"/>
            <a:ext cx="11368735" cy="0"/>
          </a:xfrm>
          <a:prstGeom prst="line">
            <a:avLst/>
          </a:prstGeom>
          <a:ln w="12700">
            <a:solidFill>
              <a:srgbClr val="E0D5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ooter"/>
          <p:cNvSpPr txBox="1"/>
          <p:nvPr/>
        </p:nvSpPr>
        <p:spPr>
          <a:xfrm>
            <a:off x="411480" y="6473952"/>
            <a:ext cx="102714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77A"/>
                </a:solidFill>
                <a:latin typeface="Calibri"/>
              </a:rPr>
              <a:t>LaunchScout | Financials &amp; Roadmap | Cold-pressed juice subscription, Pune | Partial evidence | run 20261014-201109-cold-pressed-juice-subscriptio-c0fe</a:t>
            </a:r>
          </a:p>
        </p:txBody>
      </p:sp>
      <p:sp>
        <p:nvSpPr>
          <p:cNvPr id="50" name="Slide number"/>
          <p:cNvSpPr txBox="1"/>
          <p:nvPr/>
        </p:nvSpPr>
        <p:spPr>
          <a:xfrm>
            <a:off x="10774375" y="6464808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7B1E3A"/>
                </a:solidFill>
                <a:latin typeface="Calibri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LaunchScout pitch deck: Cold-pressed juice subscription</dc:title>
  <dc:subject/>
  <dc:creator>LaunchScout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